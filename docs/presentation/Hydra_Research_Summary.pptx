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c2c3d7bf4a147c0" /><Relationship Type="http://schemas.openxmlformats.org/officeDocument/2006/relationships/extended-properties" Target="/docProps/app.xml" Id="Rbebcf622cfce450a" /><Relationship Type="http://schemas.openxmlformats.org/officeDocument/2006/relationships/officeDocument" Target="/ppt/presentation.xml" Id="Rc9580114344246e1" /></Relationships>
</file>

<file path=ppt/presentation.xml><?xml version="1.0" encoding="utf-8"?>
<p:presentation xmlns:p="http://schemas.openxmlformats.org/presentationml/2006/main">
  <p:sldMasterIdLst>
    <p:sldMasterId xmlns:r="http://schemas.openxmlformats.org/officeDocument/2006/relationships" id="2147483648" r:id="R3681bc2d79854b8c"/>
  </p:sldMasterIdLst>
  <p:notesMasterIdLst>
    <p:notesMasterId xmlns:r="http://schemas.openxmlformats.org/officeDocument/2006/relationships" r:id="Rad525b44fdf04723"/>
  </p:notesMasterIdLst>
  <p:sldIdLst>
    <p:sldId xmlns:r="http://schemas.openxmlformats.org/officeDocument/2006/relationships" id="256" r:id="R37b7866e4212409d"/>
    <p:sldId xmlns:r="http://schemas.openxmlformats.org/officeDocument/2006/relationships" id="257" r:id="R379fe70c81a54da0"/>
    <p:sldId xmlns:r="http://schemas.openxmlformats.org/officeDocument/2006/relationships" id="258" r:id="R9e72d253c57241e8"/>
    <p:sldId xmlns:r="http://schemas.openxmlformats.org/officeDocument/2006/relationships" id="259" r:id="Rc8424978277a43cf"/>
    <p:sldId xmlns:r="http://schemas.openxmlformats.org/officeDocument/2006/relationships" id="260" r:id="R04993a2af67f4b22"/>
    <p:sldId xmlns:r="http://schemas.openxmlformats.org/officeDocument/2006/relationships" id="261" r:id="R3e213de102d34f04"/>
    <p:sldId xmlns:r="http://schemas.openxmlformats.org/officeDocument/2006/relationships" id="262" r:id="R69290da791074b57"/>
    <p:sldId xmlns:r="http://schemas.openxmlformats.org/officeDocument/2006/relationships" id="263" r:id="Rc0d7ba315a034771"/>
    <p:sldId xmlns:r="http://schemas.openxmlformats.org/officeDocument/2006/relationships" id="264" r:id="R6586a740c81e4655"/>
    <p:sldId xmlns:r="http://schemas.openxmlformats.org/officeDocument/2006/relationships" id="265" r:id="R8878766047494373"/>
    <p:sldId xmlns:r="http://schemas.openxmlformats.org/officeDocument/2006/relationships" id="266" r:id="Ra08782cd7ce04976"/>
    <p:sldId xmlns:r="http://schemas.openxmlformats.org/officeDocument/2006/relationships" id="267" r:id="R5e58e6d0a5424d19"/>
    <p:sldId xmlns:r="http://schemas.openxmlformats.org/officeDocument/2006/relationships" id="268" r:id="R5b215f9118c1416a"/>
    <p:sldId xmlns:r="http://schemas.openxmlformats.org/officeDocument/2006/relationships" id="269" r:id="R95a64d4d41514ab0"/>
    <p:sldId xmlns:r="http://schemas.openxmlformats.org/officeDocument/2006/relationships" id="270" r:id="R3b42fad1fa5249f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b9ed0faece744df" /><Relationship Type="http://schemas.openxmlformats.org/officeDocument/2006/relationships/slideMaster" Target="/ppt/slideMasters/slideMaster1.xml" Id="R3681bc2d79854b8c" /><Relationship Type="http://schemas.openxmlformats.org/officeDocument/2006/relationships/notesMaster" Target="/ppt/notesMasters/notesMaster1.xml" Id="Rad525b44fdf04723" /><Relationship Type="http://schemas.openxmlformats.org/officeDocument/2006/relationships/presProps" Target="/ppt/presProps.xml" Id="R733db9755a4c45fd" /><Relationship Type="http://schemas.openxmlformats.org/officeDocument/2006/relationships/tableStyles" Target="/ppt/tableStyles.xml" Id="R49db772dfbed4f5b" /><Relationship Type="http://schemas.openxmlformats.org/officeDocument/2006/relationships/slide" Target="/ppt/slides/slide1.xml" Id="R37b7866e4212409d" /><Relationship Type="http://schemas.openxmlformats.org/officeDocument/2006/relationships/slide" Target="/ppt/slides/slide2.xml" Id="R379fe70c81a54da0" /><Relationship Type="http://schemas.openxmlformats.org/officeDocument/2006/relationships/slide" Target="/ppt/slides/slide3.xml" Id="R9e72d253c57241e8" /><Relationship Type="http://schemas.openxmlformats.org/officeDocument/2006/relationships/slide" Target="/ppt/slides/slide4.xml" Id="Rc8424978277a43cf" /><Relationship Type="http://schemas.openxmlformats.org/officeDocument/2006/relationships/slide" Target="/ppt/slides/slide5.xml" Id="R04993a2af67f4b22" /><Relationship Type="http://schemas.openxmlformats.org/officeDocument/2006/relationships/slide" Target="/ppt/slides/slide6.xml" Id="R3e213de102d34f04" /><Relationship Type="http://schemas.openxmlformats.org/officeDocument/2006/relationships/slide" Target="/ppt/slides/slide7.xml" Id="R69290da791074b57" /><Relationship Type="http://schemas.openxmlformats.org/officeDocument/2006/relationships/slide" Target="/ppt/slides/slide8.xml" Id="Rc0d7ba315a034771" /><Relationship Type="http://schemas.openxmlformats.org/officeDocument/2006/relationships/slide" Target="/ppt/slides/slide9.xml" Id="R6586a740c81e4655" /><Relationship Type="http://schemas.openxmlformats.org/officeDocument/2006/relationships/slide" Target="/ppt/slides/slide10.xml" Id="R8878766047494373" /><Relationship Type="http://schemas.openxmlformats.org/officeDocument/2006/relationships/slide" Target="/ppt/slides/slide11.xml" Id="Ra08782cd7ce04976" /><Relationship Type="http://schemas.openxmlformats.org/officeDocument/2006/relationships/slide" Target="/ppt/slides/slide12.xml" Id="R5e58e6d0a5424d19" /><Relationship Type="http://schemas.openxmlformats.org/officeDocument/2006/relationships/slide" Target="/ppt/slides/slide13.xml" Id="R5b215f9118c1416a" /><Relationship Type="http://schemas.openxmlformats.org/officeDocument/2006/relationships/slide" Target="/ppt/slides/slide14.xml" Id="R95a64d4d41514ab0" /><Relationship Type="http://schemas.openxmlformats.org/officeDocument/2006/relationships/slide" Target="/ppt/slides/slide15.xml" Id="R3b42fad1fa5249f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879a3bb5b7d4e3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ded904107e4691" /><Relationship Type="http://schemas.openxmlformats.org/officeDocument/2006/relationships/notesMaster" Target="/ppt/notesMasters/notesMaster1.xml" Id="R380d32a524004fc1" /></Relationships>
</file>

<file path=ppt/notesSlides/_rels/notesSlide2.xml.rels>&#65279;<?xml version="1.0" encoding="utf-8"?><Relationships xmlns="http://schemas.openxmlformats.org/package/2006/relationships"><Relationship Type="http://schemas.openxmlformats.org/officeDocument/2006/relationships/slide" Target="/ppt/slides/slide2.xml" Id="R52ff6c70b31b4608" /><Relationship Type="http://schemas.openxmlformats.org/officeDocument/2006/relationships/notesMaster" Target="/ppt/notesMasters/notesMaster1.xml" Id="R59ef9163349d48d6" /></Relationships>
</file>

<file path=ppt/notesSlides/_rels/notesSlide3.xml.rels>&#65279;<?xml version="1.0" encoding="utf-8"?><Relationships xmlns="http://schemas.openxmlformats.org/package/2006/relationships"><Relationship Type="http://schemas.openxmlformats.org/officeDocument/2006/relationships/slide" Target="/ppt/slides/slide3.xml" Id="R7305915798854436" /><Relationship Type="http://schemas.openxmlformats.org/officeDocument/2006/relationships/notesMaster" Target="/ppt/notesMasters/notesMaster1.xml" Id="R61903cb836c34d0d" /></Relationships>
</file>

<file path=ppt/notesSlides/_rels/notesSlide4.xml.rels>&#65279;<?xml version="1.0" encoding="utf-8"?><Relationships xmlns="http://schemas.openxmlformats.org/package/2006/relationships"><Relationship Type="http://schemas.openxmlformats.org/officeDocument/2006/relationships/slide" Target="/ppt/slides/slide4.xml" Id="R2296bb179f234ade" /><Relationship Type="http://schemas.openxmlformats.org/officeDocument/2006/relationships/notesMaster" Target="/ppt/notesMasters/notesMaster1.xml" Id="R23c7941febb148db" /></Relationships>
</file>

<file path=ppt/notesSlides/_rels/notesSlide5.xml.rels>&#65279;<?xml version="1.0" encoding="utf-8"?><Relationships xmlns="http://schemas.openxmlformats.org/package/2006/relationships"><Relationship Type="http://schemas.openxmlformats.org/officeDocument/2006/relationships/slide" Target="/ppt/slides/slide5.xml" Id="R3cec8d234c4e49f4" /><Relationship Type="http://schemas.openxmlformats.org/officeDocument/2006/relationships/notesMaster" Target="/ppt/notesMasters/notesMaster1.xml" Id="Rc5e0563cf100485c" /></Relationships>
</file>

<file path=ppt/notesSlides/_rels/notesSlide6.xml.rels>&#65279;<?xml version="1.0" encoding="utf-8"?><Relationships xmlns="http://schemas.openxmlformats.org/package/2006/relationships"><Relationship Type="http://schemas.openxmlformats.org/officeDocument/2006/relationships/slide" Target="/ppt/slides/slide6.xml" Id="R2a2e0ff8515b4c3e" /><Relationship Type="http://schemas.openxmlformats.org/officeDocument/2006/relationships/notesMaster" Target="/ppt/notesMasters/notesMaster1.xml" Id="R60b9951735ae41cd" /></Relationships>
</file>

<file path=ppt/notesSlides/_rels/notesSlide7.xml.rels>&#65279;<?xml version="1.0" encoding="utf-8"?><Relationships xmlns="http://schemas.openxmlformats.org/package/2006/relationships"><Relationship Type="http://schemas.openxmlformats.org/officeDocument/2006/relationships/slide" Target="/ppt/slides/slide7.xml" Id="R7611fb8fb52444f6" /><Relationship Type="http://schemas.openxmlformats.org/officeDocument/2006/relationships/notesMaster" Target="/ppt/notesMasters/notesMaster1.xml" Id="R4b7187aad3ce4be6" /></Relationships>
</file>

<file path=ppt/notesSlides/_rels/notesSlide8.xml.rels>&#65279;<?xml version="1.0" encoding="utf-8"?><Relationships xmlns="http://schemas.openxmlformats.org/package/2006/relationships"><Relationship Type="http://schemas.openxmlformats.org/officeDocument/2006/relationships/slide" Target="/ppt/slides/slide8.xml" Id="R6199e93f53f84801" /><Relationship Type="http://schemas.openxmlformats.org/officeDocument/2006/relationships/notesMaster" Target="/ppt/notesMasters/notesMaster1.xml" Id="R00a5a8c2ec1f4977" /></Relationships>
</file>

<file path=ppt/notesSlides/_rels/notesSlide9.xml.rels>&#65279;<?xml version="1.0" encoding="utf-8"?><Relationships xmlns="http://schemas.openxmlformats.org/package/2006/relationships"><Relationship Type="http://schemas.openxmlformats.org/officeDocument/2006/relationships/slide" Target="/ppt/slides/slide9.xml" Id="R70a859e6796a4bdb" /><Relationship Type="http://schemas.openxmlformats.org/officeDocument/2006/relationships/notesMaster" Target="/ppt/notesMasters/notesMaster1.xml" Id="R24a0f9564e0c4a9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e381ccace4e4c3e" /><Relationship Type="http://schemas.openxmlformats.org/officeDocument/2006/relationships/notesMaster" Target="/ppt/notesMasters/notesMaster1.xml" Id="R28335cb075b34a2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d6f8e6642654ec9" /><Relationship Type="http://schemas.openxmlformats.org/officeDocument/2006/relationships/notesMaster" Target="/ppt/notesMasters/notesMaster1.xml" Id="R6572cad48f01464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a18f05ca4694dca" /><Relationship Type="http://schemas.openxmlformats.org/officeDocument/2006/relationships/notesMaster" Target="/ppt/notesMasters/notesMaster1.xml" Id="R7b6219d30908476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6e500f1953d4813" /><Relationship Type="http://schemas.openxmlformats.org/officeDocument/2006/relationships/notesMaster" Target="/ppt/notesMasters/notesMaster1.xml" Id="R29357d75b93c491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34fc14b053641ee" /><Relationship Type="http://schemas.openxmlformats.org/officeDocument/2006/relationships/notesMaster" Target="/ppt/notesMasters/notesMaster1.xml" Id="R9d587287547049f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38fd96f94f840ca" /><Relationship Type="http://schemas.openxmlformats.org/officeDocument/2006/relationships/notesMaster" Target="/ppt/notesMasters/notesMaster1.xml" Id="R0a4c89d49da9429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20 seconds.</a:t>
            </a:r>
          </a:p>
          <a:p xmlns:a="http://schemas.openxmlformats.org/drawingml/2006/main">
            <a:r>
              <a:t/>
            </a:r>
          </a:p>
          <a:p xmlns:a="http://schemas.openxmlformats.org/drawingml/2006/main">
            <a:r>
              <a:t>This project asks how migration costs compare on the same RISC-V microkernel. I built a bounded checkpoint-and-restore mechanism, measured two invocation paths, and retained the evidence so the comparison can be repeated. The project is a systems-engineering experiment.</a:t>
            </a:r>
          </a:p>
          <a:p xmlns:a="http://schemas.openxmlformats.org/drawingml/2006/main">
            <a:r>
              <a:t/>
            </a:r>
          </a:p>
          <a:p xmlns:a="http://schemas.openxmlformats.org/drawingml/2006/main">
            <a:r>
              <a:t>Sources: Final_Report.docx, cover and abstract. The full report title is Process Migration on a RISC-V Microkernel: An Empirical Comparison of Kernel-Resident and User-Space Designs.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50 seconds.</a:t>
            </a:r>
          </a:p>
          <a:p xmlns:a="http://schemas.openxmlformats.org/drawingml/2006/main">
            <a:r>
              <a:t/>
            </a:r>
          </a:p>
          <a:p xmlns:a="http://schemas.openxmlformats.org/drawingml/2006/main">
            <a:r>
              <a:t>The 1993 Mach experiment found a substantial penalty for its user-space design. This result concerned a particular kernel, platform and workload. Later IPC research, practical checkpointing demand and RISC-V adoption motivate new measurements. These developments motivate the experiment rather than predict its outcome. The refined research question concerns the cost actually observed for two Hydra call paths and the architectural conclusions that evidence permits.</a:t>
            </a:r>
          </a:p>
          <a:p xmlns:a="http://schemas.openxmlformats.org/drawingml/2006/main">
            <a:r>
              <a:t/>
            </a:r>
          </a:p>
          <a:p xmlns:a="http://schemas.openxmlformats.org/drawingml/2006/main">
            <a:r>
              <a:t>Sources: Report §§1.2, 1.6, 2.3.2. Milojičić et al. (1993, 1999), Gu et al. (2020), Chen et al. (2024).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35 seconds.</a:t>
            </a:r>
          </a:p>
          <a:p xmlns:a="http://schemas.openxmlformats.org/drawingml/2006/main">
            <a:r>
              <a:t/>
            </a:r>
          </a:p>
          <a:p xmlns:a="http://schemas.openxmlformats.org/drawingml/2006/main">
            <a:r>
              <a:t>The five objectives connect implementation to measurement, comparison, interpretation and reproducibility. I will show which artefact supports each objective. The fourth objective is a literature-based reassessment, so a successful terminal test alone cannot establish it.</a:t>
            </a:r>
          </a:p>
          <a:p xmlns:a="http://schemas.openxmlformats.org/drawingml/2006/main">
            <a:r>
              <a:t/>
            </a:r>
          </a:p>
          <a:p xmlns:a="http://schemas.openxmlformats.org/drawingml/2006/main">
            <a:r>
              <a:t>Sources: Report §1.3. Research objectives.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60 seconds.</a:t>
            </a:r>
          </a:p>
          <a:p xmlns:a="http://schemas.openxmlformats.org/drawingml/2006/main">
            <a:r>
              <a:t/>
            </a:r>
          </a:p>
          <a:p xmlns:a="http://schemas.openxmlformats.org/drawingml/2006/main">
            <a:r>
              <a:t>Hydra supplied the teaching-kernel scaffold, scheduler and application structure. I added checkpoint/restore primitives, mode selection, instrumentation, a working VirtIO-Net path and test applications. Two inherited bugs blocked repeatable benchmarking: task slots were never reused, and the startup counter stopped after raytracer launch. The fixes enabled the repeated sweep. Later work added acknowledgements and isolated task images. The current presentation rehearsal also corrected a scheduler-test time source and console input polling. Those later changes are engineering validation, separate from the original dataset. The historical migration-file count is 393 lines, not the size of the complete trusted kernel.</a:t>
            </a:r>
          </a:p>
          <a:p xmlns:a="http://schemas.openxmlformats.org/drawingml/2006/main">
            <a:r>
              <a:t/>
            </a:r>
          </a:p>
          <a:p xmlns:a="http://schemas.openxmlformats.org/drawingml/2006/main">
            <a:r>
              <a:t>Sources: Report §§5.2.1–5.2.9. Repository contribution log: docs/changes.md.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45 seconds.</a:t>
            </a:r>
          </a:p>
          <a:p xmlns:a="http://schemas.openxmlformats.org/drawingml/2006/main">
            <a:r>
              <a:t/>
            </a:r>
          </a:p>
          <a:p xmlns:a="http://schemas.openxmlformats.org/drawingml/2006/main">
            <a:r>
              <a:t>KERNEL calls migration_checkpoint and migration_restore directly. USERSPACE calls the C wrappers syscall_checkpoint and syscall_restore, then handle_syscall dispatches to the same primitives. In this historical comparison both paths execute in supervisor mode. There is no measured isolated-server transition, address-space switch or protection boundary. MIGRATION_MODE selects the path at build time. The saved diagram is Figure 5.3 from the report. The migration files total 319 plus 74 equals 393 lines, excluding other privileged components.</a:t>
            </a:r>
          </a:p>
          <a:p xmlns:a="http://schemas.openxmlformats.org/drawingml/2006/main">
            <a:r>
              <a:t/>
            </a:r>
          </a:p>
          <a:p xmlns:a="http://schemas.openxmlformats.org/drawingml/2006/main">
            <a:r>
              <a:t>Sources: Report Fig. 5.3, §§5.2.1, 5.2.4. Both historical paths execute in supervisor mode.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60 seconds.</a:t>
            </a:r>
          </a:p>
          <a:p xmlns:a="http://schemas.openxmlformats.org/drawingml/2006/main">
            <a:r>
              <a:t/>
            </a:r>
          </a:p>
          <a:p xmlns:a="http://schemas.openxmlformats.org/drawingml/2006/main">
            <a:r>
              <a:t>This is a factorial systems experiment, rather than a human survey. The experimental unit is one instrumented migration run. The sample contains two modes, four synthetic-extra sizes and fifteen repetitions per cell: 120 local observations. Both modes use the same Hydra, RISC-V64 QEMU virt platform and shared primitives. Nine cycle timestamps define five intervals. The approximate total-state labels add the eight-kilobyte stack. The local transport tags are consecutive timestamps, not network-transfer measurements. Total latency ends when the restored task becomes READY, not at its first resumed instruction. I report descriptive means and approximate 95% confidence intervals for separate means.</a:t>
            </a:r>
          </a:p>
          <a:p xmlns:a="http://schemas.openxmlformats.org/drawingml/2006/main">
            <a:r>
              <a:t/>
            </a:r>
          </a:p>
          <a:p xmlns:a="http://schemas.openxmlformats.org/drawingml/2006/main">
            <a:r>
              <a:t>Sources: Report Chapter 3, §§4.2.1–4.2.4. Experimental unit: one migration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65 seconds.</a:t>
            </a:r>
          </a:p>
          <a:p xmlns:a="http://schemas.openxmlformats.org/drawingml/2006/main">
            <a:r>
              <a:t/>
            </a:r>
          </a:p>
          <a:p xmlns:a="http://schemas.openxmlformats.org/drawingml/2006/main">
            <a:r>
              <a:t>The pooled mean total costs are 4,061,687 cycles for KERNEL and 4,061,801 for USERSPACE. Their ratio rounds to 1.00 to two decimal places. The editable chart shows the mean at each of the four approximate state sizes, with fifteen samples per mode at each size. It is a means-only summary; the original report Figure 4.2 includes per-size uncertainty, and the backup metrics slide gives pooled mean confidence intervals. The samples do not establish statistical equivalence. The finding is small observed wrapper cost within this supervisor-mode QEMU baseline, not a verdict on isolated user-space placement.</a:t>
            </a:r>
          </a:p>
          <a:p xmlns:a="http://schemas.openxmlformats.org/drawingml/2006/main">
            <a:r>
              <a:t/>
            </a:r>
          </a:p>
          <a:p xmlns:a="http://schemas.openxmlformats.org/drawingml/2006/main">
            <a:r>
              <a:t>Sources: Original dataset: bench/results/KERNEL.log and USERSPACE.log. Report §§4.2.1–4.2.4.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50 seconds.</a:t>
            </a:r>
          </a:p>
          <a:p xmlns:a="http://schemas.openxmlformats.org/drawingml/2006/main">
            <a:r>
              <a:t/>
            </a:r>
          </a:p>
          <a:p xmlns:a="http://schemas.openxmlformats.org/drawingml/2006/main">
            <a:r>
              <a:t>This screenshot-style view comes from the later actual QEMU terminal recording. Its window appearance is recreated, but its log text is unchanged. The original task PID is 166, the checkpoint writes 8,784 bytes, and restoration creates PID 167. After restore, the counter rises from 2,350 to 2,370, and the self-test reports that the restored task is running. This is observable continuation in the bounded local counter model. The local send and receive tags are placeholders. The current run includes sixty automatic restores plus this additional c command, and two fault-recovery passes. The optional 36-second video also shows r injecting a controlled task failure and recovery. These later functional counts do not replace the report timing sample.</a:t>
            </a:r>
          </a:p>
          <a:p xmlns:a="http://schemas.openxmlformats.org/drawingml/2006/main">
            <a:r>
              <a:t/>
            </a:r>
          </a:p>
          <a:p xmlns:a="http://schemas.openxmlformats.org/drawingml/2006/main">
            <a:r>
              <a:t>Sources: Later QEMU recording, 14 Oct 2026. Actual UART output with a recreated terminal appearance.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60 seconds.</a:t>
            </a:r>
          </a:p>
          <a:p xmlns:a="http://schemas.openxmlformats.org/drawingml/2006/main">
            <a:r>
              <a:t/>
            </a:r>
          </a:p>
          <a:p xmlns:a="http://schemas.openxmlformats.org/drawingml/2006/main">
            <a:r>
              <a:t>The original cross-node experiment completed eight of fifteen attempts over best-effort UDP multicast with no ACK or retransmission. Seven attempts timed out. This is an attempt failure proportion, not a per-fragment loss rate. Later code added migration identifiers, duplicate handling, acknowledgements and retry. A separate current functional validation completed fifteen supervisor migrations and one isolated task migration, with all sixteen acknowledgements and zero unexpected errors. The isolated task checked private data and heap contents. The two records use different protocol versions and must not be pooled into a timing distribution or described as a controlled reliability improvement percentage. One isolated completion is functional evidence only. Physical hardware and loss-injection evaluation remain future work.</a:t>
            </a:r>
          </a:p>
          <a:p xmlns:a="http://schemas.openxmlformats.org/drawingml/2006/main">
            <a:r>
              <a:t/>
            </a:r>
          </a:p>
          <a:p xmlns:a="http://schemas.openxmlformats.org/drawingml/2006/main">
            <a:r>
              <a:t>Sources: Report §4.2.5, §6.3.2. Original sample and later acceptance logs are separate.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55 seconds.</a:t>
            </a:r>
          </a:p>
          <a:p xmlns:a="http://schemas.openxmlformats.org/drawingml/2006/main">
            <a:r>
              <a:t/>
            </a:r>
          </a:p>
          <a:p xmlns:a="http://schemas.openxmlformats.org/drawingml/2006/main">
            <a:r>
              <a:t>This is a literature-based interpretation. Application demand and infrastructure barriers are weaker in selected deployment contexts. RPC can still be a simpler choice for stateless workloads, while preserving execution state can matter for others. Centrally managed ownership can reduce the old workstation-owner objection, but tenancy, privacy and security policy still matter. The Hydra counter task does not measure GPU state, confidential-computing contexts or automotive workloads. The conclusion supports renewed empirical work and does not claim that all barriers have disappeared or that the 1993 experiment has been refuted.</a:t>
            </a:r>
          </a:p>
          <a:p xmlns:a="http://schemas.openxmlformats.org/drawingml/2006/main">
            <a:r>
              <a:t/>
            </a:r>
          </a:p>
          <a:p xmlns:a="http://schemas.openxmlformats.org/drawingml/2006/main">
            <a:r>
              <a:t>Sources: Report §6.2.2 and Fig. 6.1. Milojičić et al. (1999, §7.3).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55 seconds.</a:t>
            </a:r>
          </a:p>
          <a:p xmlns:a="http://schemas.openxmlformats.org/drawingml/2006/main">
            <a:r>
              <a:t/>
            </a:r>
          </a:p>
          <a:p xmlns:a="http://schemas.openxmlformats.org/drawingml/2006/main">
            <a:r>
              <a:t>The original comparison has three central limits: both call paths execute in supervisor mode, the platform is QEMU, and the process model captures bounded context and stack with synthetic payload rather than a private heap and external resources. The original transport also lacks reliability mechanisms. The four next experiments follow directly from those limits. The later isolated task image and acknowledged transfer demonstrate engineering progress, but there is no new controlled privilege-boundary performance result. Future equivalence claims need a prespecified meaningful margin, independent sessions and uncertainty for differences or ratios. Include all transfer attempts, retry cost and tail latency. The historical four-byte checkpoint-size discrepancy remains disclosed in Section 5.2.2; present format sizes do not resolve it.</a:t>
            </a:r>
          </a:p>
          <a:p xmlns:a="http://schemas.openxmlformats.org/drawingml/2006/main">
            <a:r>
              <a:t/>
            </a:r>
          </a:p>
          <a:p xmlns:a="http://schemas.openxmlformats.org/drawingml/2006/main">
            <a:r>
              <a:t>Sources: Report §§1.7, 4.2.10, 6.2.4 and 6.3. Later hardening is separate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45 seconds.</a:t>
            </a:r>
          </a:p>
          <a:p xmlns:a="http://schemas.openxmlformats.org/drawingml/2006/main">
            <a:r>
              <a:t/>
            </a:r>
          </a:p>
          <a:p xmlns:a="http://schemas.openxmlformats.org/drawingml/2006/main">
            <a:r>
              <a:t>The project delivers an initial migration-cost baseline and a working reference implementation. Objective one has two selectable and tested call paths. Objective two has timestamp data, documented calls and code contribution records. Objective three has a matched 120-observation comparison and shared primitive requirements. Objective four has a contextual reassessment of the historical findings and barriers. Objective five has the source repository, retained data, harnesses and capture provenance. The architectural conclusion remains conditional because the timing comparison does not measure a real privilege boundary. Current demo assets and runtime corrections are still local at the time of this presentation build, so reproducing the latest functional capture also requires the included source patch. The original report dataset remains separate. The repository is https://github.com/sahanruwantha/Hydra-Microkernal.</a:t>
            </a:r>
          </a:p>
          <a:p xmlns:a="http://schemas.openxmlformats.org/drawingml/2006/main">
            <a:r>
              <a:t/>
            </a:r>
          </a:p>
          <a:p xmlns:a="http://schemas.openxmlformats.org/drawingml/2006/main">
            <a:r>
              <a:t>Sources: Report abstract and Chapter 6. Repository, retained datasets and demo evidence archive.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0 seconds.</a:t>
            </a:r>
          </a:p>
          <a:p xmlns:a="http://schemas.openxmlformats.org/drawingml/2006/main">
            <a:r>
              <a:t/>
            </a:r>
          </a:p>
          <a:p xmlns:a="http://schemas.openxmlformats.org/drawingml/2006/main">
            <a:r>
              <a:t>Each row shows a mean plus or minus the approximate 95% confidence-interval half-width, in guest cycle-counter units. There are sixty observations per mode. These are the five timestamp-derived historical metrics, pooled equally across the four extra-payload sizes. The local transport interval is defined by consecutive BENCH tags, not a real wire transfer. Separate mean confidence intervals do not constitute a ratio confidence interval or an equivalence test. Total latency is defined to the restored READY endpoint. The migration-file count of 393 lines is a scoped code metric, not the complete kernel TCB or a security measurement. The original report contrasts it with the much broader Mach DIPC and DMM modules, so the functions differ.</a:t>
            </a:r>
          </a:p>
          <a:p xmlns:a="http://schemas.openxmlformats.org/drawingml/2006/main">
            <a:r>
              <a:t/>
            </a:r>
          </a:p>
          <a:p xmlns:a="http://schemas.openxmlformats.org/drawingml/2006/main">
            <a:r>
              <a:t>Sources: bench/results/comparison.txt. Report Tables 4.1–4.2 and §§4.2.7, 5.2.1.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0 seconds.</a:t>
            </a:r>
          </a:p>
          <a:p xmlns:a="http://schemas.openxmlformats.org/drawingml/2006/main">
            <a:r>
              <a:t/>
            </a:r>
          </a:p>
          <a:p xmlns:a="http://schemas.openxmlformats.org/drawingml/2006/main">
            <a:r>
              <a:t>This is the r command from the same later QEMU recording used for the checkpoint demonstration. The task saves an 8,784-byte checkpoint, progresses to counter 59, and is deliberately terminated. The counter remains at 59 while it is stopped. Restore creates PID 169, after which the shared workload counter reaches 88, a delta of 29 from the stopped value. The test prints recovery PASS. The checkpoint buffer lives in BSS in the surviving kernel. This demonstrates controlled task-failure recovery; it does not demonstrate host crash, persistent storage or rollback of the shared global counter. Use the original recording and log for audit. The terminal window appearance is recreated while the text remains unchanged.</a:t>
            </a:r>
          </a:p>
          <a:p xmlns:a="http://schemas.openxmlformats.org/drawingml/2006/main">
            <a:r>
              <a:t/>
            </a:r>
          </a:p>
          <a:p xmlns:a="http://schemas.openxmlformats.org/drawingml/2006/main">
            <a:r>
              <a:t>Sources: Later QEMU r-command recording. Report §4.2.6 describes the bounded task-recovery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0 seconds.</a:t>
            </a:r>
          </a:p>
          <a:p xmlns:a="http://schemas.openxmlformats.org/drawingml/2006/main">
            <a:r>
              <a:t/>
            </a:r>
          </a:p>
          <a:p xmlns:a="http://schemas.openxmlformats.org/drawingml/2006/main">
            <a:r>
              <a:t>These references are selected from the dissertation bibliography and cover the historical comparison, adoption survey, modern communication mechanisms, practical migration motivation and ISA. Full citations and the remaining sources appear in the report. The slide summaries use the revised report and retained data rather than independently rechecking all publications.</a:t>
            </a:r>
          </a:p>
          <a:p xmlns:a="http://schemas.openxmlformats.org/drawingml/2006/main">
            <a:r>
              <a:t/>
            </a:r>
          </a:p>
          <a:p xmlns:a="http://schemas.openxmlformats.org/drawingml/2006/main">
            <a:r>
              <a:t>Sources: Full Harvard reference list: Final_Report.docx, References. Figure/data sources appear in slide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5c16e473d174d7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32fd101b0ad453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06cc728516f450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c95c8d124824b8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f3049fff3634fd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1b0e222478a42f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00C9C54-F3DF-415A-B8FF-A2249D29A41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1A654CA-29E7-4E0C-AF7C-C1804C165A9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7588C79-6135-40AB-BB07-33C7E8A2EEB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B9F9DA0-D178-4EB2-B0AB-153908A07EF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8621C0B-20E5-48AB-B2F6-56DE4FC5B18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463688E-A34D-40A1-A7D6-C3A228208EE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6A4698D-2EB0-4F50-8C47-B61C7CEE5B8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CB91AEE-7BD0-4AFC-A656-DB16AA95F3C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8B2A900-7A4E-424D-A114-521AC72898B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18D2329-CE5F-43EA-93F2-15E4B710475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a88f62439cc4bbe" /><Relationship Type="http://schemas.openxmlformats.org/officeDocument/2006/relationships/slideLayout" Target="/ppt/slideLayouts/slideLayout1.xml" Id="R782ac7853a8a4a23" /><Relationship Type="http://schemas.openxmlformats.org/officeDocument/2006/relationships/slideLayout" Target="/ppt/slideLayouts/slideLayout2.xml" Id="R440735557fba4628" /><Relationship Type="http://schemas.openxmlformats.org/officeDocument/2006/relationships/slideLayout" Target="/ppt/slideLayouts/slideLayout3.xml" Id="R5c3d4c55e4c54732" /><Relationship Type="http://schemas.openxmlformats.org/officeDocument/2006/relationships/slideLayout" Target="/ppt/slideLayouts/slideLayout4.xml" Id="Ra16fefb40f8e4251" /><Relationship Type="http://schemas.openxmlformats.org/officeDocument/2006/relationships/slideLayout" Target="/ppt/slideLayouts/slideLayout5.xml" Id="Ra224d80e4a0b4586" /><Relationship Type="http://schemas.openxmlformats.org/officeDocument/2006/relationships/slideLayout" Target="/ppt/slideLayouts/slideLayout6.xml" Id="Re46305a5fc6a4f7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82ac7853a8a4a23"/>
    <p:sldLayoutId xmlns:r="http://schemas.openxmlformats.org/officeDocument/2006/relationships" id="2147483650" r:id="R440735557fba4628"/>
    <p:sldLayoutId xmlns:r="http://schemas.openxmlformats.org/officeDocument/2006/relationships" id="2147483651" r:id="R5c3d4c55e4c54732"/>
    <p:sldLayoutId xmlns:r="http://schemas.openxmlformats.org/officeDocument/2006/relationships" id="2147483652" r:id="Ra16fefb40f8e4251"/>
    <p:sldLayoutId xmlns:r="http://schemas.openxmlformats.org/officeDocument/2006/relationships" id="2147483653" r:id="Ra224d80e4a0b4586"/>
    <p:sldLayoutId xmlns:r="http://schemas.openxmlformats.org/officeDocument/2006/relationships" id="2147483654" r:id="Re46305a5fc6a4f7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281565d7c834519" /><Relationship Type="http://schemas.openxmlformats.org/officeDocument/2006/relationships/notesSlide" Target="/ppt/notesSlides/notesSlide1.xml" Id="R1b8f7517e85a4a6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04883e24ed544a9" /><Relationship Type="http://schemas.openxmlformats.org/officeDocument/2006/relationships/notesSlide" Target="/ppt/notesSlides/notesSlide2.xml" Id="R5a4b8ee21bc841f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4c71fe902704f29" /><Relationship Type="http://schemas.openxmlformats.org/officeDocument/2006/relationships/notesSlide" Target="/ppt/notesSlides/notesSlide3.xml" Id="Rb93314ecf58b4ec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c145fda9cea4500" /><Relationship Type="http://schemas.openxmlformats.org/officeDocument/2006/relationships/notesSlide" Target="/ppt/notesSlides/notesSlide4.xml" Id="Rb93cfbab73ce48f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1212fd76e674474" /><Relationship Type="http://schemas.openxmlformats.org/officeDocument/2006/relationships/image" Target="/ppt/media/image.png" Id="R919b1b0c238d488c" /><Relationship Type="http://schemas.openxmlformats.org/officeDocument/2006/relationships/notesSlide" Target="/ppt/notesSlides/notesSlide5.xml" Id="R3dfe329e714742f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3c9761506954318" /><Relationship Type="http://schemas.openxmlformats.org/officeDocument/2006/relationships/notesSlide" Target="/ppt/notesSlides/notesSlide6.xml" Id="R702ec13edab5425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99fbf92ffd64740" /><Relationship Type="http://schemas.openxmlformats.org/officeDocument/2006/relationships/chart" Target="/ppt/slides/charts/chart1.xml" Id="Rf5f52305bdda42ca" /><Relationship Type="http://schemas.openxmlformats.org/officeDocument/2006/relationships/notesSlide" Target="/ppt/notesSlides/notesSlide7.xml" Id="R9cb6d1a0fea84c3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fc19e3dfc784096" /><Relationship Type="http://schemas.openxmlformats.org/officeDocument/2006/relationships/image" Target="/ppt/media/image2.png" Id="Re753bf577d454130" /><Relationship Type="http://schemas.openxmlformats.org/officeDocument/2006/relationships/hyperlink" Target="hydra_qemu_checkpoint_recovery.mp4" TargetMode="External" Id="Ref198eeb39734527" /><Relationship Type="http://schemas.openxmlformats.org/officeDocument/2006/relationships/notesSlide" Target="/ppt/notesSlides/notesSlide8.xml" Id="Rbfc96f03e1b747d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273f86d7d4f4f30" /><Relationship Type="http://schemas.openxmlformats.org/officeDocument/2006/relationships/notesSlide" Target="/ppt/notesSlides/notesSlide9.xml" Id="R03b2724d77c44eb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fdfdd22bc104dec" /><Relationship Type="http://schemas.openxmlformats.org/officeDocument/2006/relationships/notesSlide" Target="/ppt/notesSlides/notesSlide10.xml" Id="Re95cb93528cc4d3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5b25af42b2346e4" /><Relationship Type="http://schemas.openxmlformats.org/officeDocument/2006/relationships/notesSlide" Target="/ppt/notesSlides/notesSlide11.xml" Id="R1399a5cbbf224a8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b892cb40f414da1" /><Relationship Type="http://schemas.openxmlformats.org/officeDocument/2006/relationships/hyperlink" Target="https://github.com/sahanruwantha/Hydra-Microkernal" TargetMode="External" Id="Ra66ad7b8f239478d" /><Relationship Type="http://schemas.openxmlformats.org/officeDocument/2006/relationships/notesSlide" Target="/ppt/notesSlides/notesSlide12.xml" Id="R30d0633efc854d9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828ff154d89406d" /><Relationship Type="http://schemas.openxmlformats.org/officeDocument/2006/relationships/notesSlide" Target="/ppt/notesSlides/notesSlide13.xml" Id="Rd1d5e7d9f0ea441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79f8999078646d0" /><Relationship Type="http://schemas.openxmlformats.org/officeDocument/2006/relationships/image" Target="/ppt/media/image3.png" Id="R298551803f554901" /><Relationship Type="http://schemas.openxmlformats.org/officeDocument/2006/relationships/notesSlide" Target="/ppt/notesSlides/notesSlide14.xml" Id="Rf835c5195a8e4c1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4cf2e6fb0164303" /><Relationship Type="http://schemas.openxmlformats.org/officeDocument/2006/relationships/notesSlide" Target="/ppt/notesSlides/notesSlide15.xml" Id="Rd24046aa364345e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KERNEL direct</c:v>
          </c:tx>
          <c:spPr>
            <a:solidFill xmlns:a="http://schemas.openxmlformats.org/drawingml/2006/main">
              <a:srgbClr val="56334C"/>
            </a:solidFill>
          </c:spPr>
          <c:invertIfNegative val="0"/>
          <c:cat>
            <c:strRef>
              <c:f>'Chart Data'!$A$2:$A$5</c:f>
              <c:strCache>
                <c:ptCount val="4"/>
                <c:pt idx="0">
                  <c:v>8 KB</c:v>
                </c:pt>
                <c:pt idx="1">
                  <c:v>12 KB</c:v>
                </c:pt>
                <c:pt idx="2">
                  <c:v>24 KB</c:v>
                </c:pt>
                <c:pt idx="3">
                  <c:v>72 KB</c:v>
                </c:pt>
              </c:strCache>
            </c:strRef>
          </c:cat>
          <c:val>
            <c:numRef>
              <c:f>'Chart Data'!$B$2:$B$5</c:f>
              <c:numCache>
                <c:formatCode>0.0</c:formatCode>
                <c:ptCount val="4"/>
                <c:pt idx="0">
                  <c:v>3.676412</c:v>
                </c:pt>
                <c:pt idx="1">
                  <c:v>3.775194</c:v>
                </c:pt>
                <c:pt idx="2">
                  <c:v>3.938715</c:v>
                </c:pt>
                <c:pt idx="3">
                  <c:v>4.856425</c:v>
                </c:pt>
              </c:numCache>
            </c:numRef>
          </c:val>
        </c:ser>
        <c:ser>
          <c:idx val="1"/>
          <c:order val="1"/>
          <c:tx>
            <c:v>USERSPACE wrapper</c:v>
          </c:tx>
          <c:spPr>
            <a:solidFill xmlns:a="http://schemas.openxmlformats.org/drawingml/2006/main">
              <a:srgbClr val="C85230"/>
            </a:solidFill>
          </c:spPr>
          <c:invertIfNegative val="0"/>
          <c:cat>
            <c:strRef>
              <c:f>'Chart Data'!$C$2:$C$5</c:f>
              <c:strCache>
                <c:ptCount val="4"/>
                <c:pt idx="0">
                  <c:v>8 KB</c:v>
                </c:pt>
                <c:pt idx="1">
                  <c:v>12 KB</c:v>
                </c:pt>
                <c:pt idx="2">
                  <c:v>24 KB</c:v>
                </c:pt>
                <c:pt idx="3">
                  <c:v>72 KB</c:v>
                </c:pt>
              </c:strCache>
            </c:strRef>
          </c:cat>
          <c:val>
            <c:numRef>
              <c:f>'Chart Data'!$D$2:$D$5</c:f>
              <c:numCache>
                <c:formatCode>0.0</c:formatCode>
                <c:ptCount val="4"/>
                <c:pt idx="0">
                  <c:v>3.717464</c:v>
                </c:pt>
                <c:pt idx="1">
                  <c:v>3.889996</c:v>
                </c:pt>
                <c:pt idx="2">
                  <c:v>3.955344</c:v>
                </c:pt>
                <c:pt idx="3">
                  <c:v>4.6844</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68"/>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Approximate state size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241C27"/>
                </a:solidFill>
                <a:latin typeface="Arial"/>
                <a:ea typeface="Arial"/>
                <a:cs typeface="Arial"/>
              </a:defRPr>
            </a:pPr>
          </a:p>
        </c:txPr>
        <c:crossAx val="48672768"/>
      </c:catAx>
      <c:valAx>
        <c:axId val="48672768"/>
        <c:scaling>
          <c:orientation val="minMax"/>
          <c:max val="5.5"/>
          <c:min val="0"/>
        </c:scaling>
        <c:delete val="0"/>
        <c:axPos val="l"/>
        <c:majorGridlines>
          <c:spPr>
            <a:ln xmlns:a="http://schemas.openxmlformats.org/drawingml/2006/main" w="9525">
              <a:solidFill>
                <a:srgbClr val="E8E3E9"/>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total cost (million cycles)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4606A"/>
                </a:solidFill>
                <a:latin typeface="Arial"/>
                <a:ea typeface="Arial"/>
                <a:cs typeface="Arial"/>
              </a:defRPr>
            </a:pPr>
          </a:p>
        </c:txPr>
        <c:crossAx val="48650112"/>
        <c:crossBetween val="between"/>
        <c:majorUnit val="1"/>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241C27"/>
              </a:solidFill>
              <a:latin typeface="Arial"/>
              <a:ea typeface="Arial"/>
              <a:cs typeface="Arial"/>
            </a:defRPr>
          </a:pPr>
        </a:p>
      </c:txPr>
    </c:legend>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241C2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D173A1C-A38A-4C29-904D-B34A8C14FB09}"/>
              </a:ext>
            </a:extLst>
          </p:cNvPr>
          <p:cNvSpPr>
            <a:spLocks xmlns:a="http://schemas.openxmlformats.org/drawingml/2006/main" noGrp="1"/>
          </p:cNvSpPr>
          <p:nvPr/>
        </p:nvSpPr>
        <p:spPr>
          <a:xfrm xmlns:a="http://schemas.openxmlformats.org/drawingml/2006/main">
            <a:off x="685800" y="1114425"/>
            <a:ext cx="102870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400" b="1">
                <a:solidFill>
                  <a:srgbClr val="FFFFFF"/>
                </a:solidFill>
                <a:latin typeface="Arial"/>
                <a:ea typeface="Arial"/>
                <a:cs typeface="Arial"/>
              </a:defRPr>
            </a:defPPr>
          </a:lstStyle>
          <a:p xmlns:a="http://schemas.openxmlformats.org/drawingml/2006/main">
            <a:pPr>
              <a:defRPr sz="5400" b="1">
                <a:solidFill>
                  <a:srgbClr val="FFFFFF"/>
                </a:solidFill>
                <a:latin typeface="Arial"/>
                <a:ea typeface="Arial"/>
                <a:cs typeface="Arial"/>
              </a:defRPr>
            </a:pPr>
            <a:r>
              <a:rPr sz="5400" b="1">
                <a:solidFill>
                  <a:srgbClr val="FFFFFF"/>
                </a:solidFill>
                <a:latin typeface="Arial"/>
                <a:ea typeface="Arial"/>
                <a:cs typeface="Arial"/>
              </a:rPr>
              <a:t>Process migration</a:t>
            </a:r>
          </a:p>
          <a:p xmlns:a="http://schemas.openxmlformats.org/drawingml/2006/main">
            <a:pPr>
              <a:defRPr sz="5400" b="1">
                <a:solidFill>
                  <a:srgbClr val="FFFFFF"/>
                </a:solidFill>
                <a:latin typeface="Arial"/>
                <a:ea typeface="Arial"/>
                <a:cs typeface="Arial"/>
              </a:defRPr>
            </a:pPr>
            <a:r>
              <a:rPr sz="5400" b="1">
                <a:solidFill>
                  <a:srgbClr val="FFFFFF"/>
                </a:solidFill>
                <a:latin typeface="Arial"/>
                <a:ea typeface="Arial"/>
                <a:cs typeface="Arial"/>
              </a:rPr>
              <a:t>on a RISC-V</a:t>
            </a:r>
          </a:p>
          <a:p xmlns:a="http://schemas.openxmlformats.org/drawingml/2006/main">
            <a:pPr>
              <a:defRPr sz="5400" b="1">
                <a:solidFill>
                  <a:srgbClr val="FFFFFF"/>
                </a:solidFill>
                <a:latin typeface="Arial"/>
                <a:ea typeface="Arial"/>
                <a:cs typeface="Arial"/>
              </a:defRPr>
            </a:pPr>
            <a:r>
              <a:rPr sz="5400" b="1">
                <a:solidFill>
                  <a:srgbClr val="FFFFFF"/>
                </a:solidFill>
                <a:latin typeface="Arial"/>
                <a:ea typeface="Arial"/>
                <a:cs typeface="Arial"/>
              </a:rPr>
              <a:t>microkernel</a:t>
            </a:r>
          </a:p>
        </p:txBody>
      </p:sp>
      <p:sp>
        <p:nvSpPr>
          <p:cNvPr id="2" name="">
            <a:extLst xmlns:a="http://schemas.openxmlformats.org/drawingml/2006/main">
              <a:ext uri="{FF2B5EF4-FFF2-40B4-BE49-F238E27FC236}">
                <a16:creationId xmlns:a16="http://schemas.microsoft.com/office/drawing/2014/main" id="{F3E3B85A-E25C-4F70-9B20-BBE548CBB84E}"/>
              </a:ext>
            </a:extLst>
          </p:cNvPr>
          <p:cNvSpPr>
            <a:spLocks xmlns:a="http://schemas.openxmlformats.org/drawingml/2006/main" noGrp="1"/>
          </p:cNvSpPr>
          <p:nvPr/>
        </p:nvSpPr>
        <p:spPr>
          <a:xfrm xmlns:a="http://schemas.openxmlformats.org/drawingml/2006/main">
            <a:off x="723900" y="4210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E5D8E2"/>
                </a:solidFill>
                <a:latin typeface="Arial"/>
                <a:ea typeface="Arial"/>
                <a:cs typeface="Arial"/>
              </a:defRPr>
            </a:defPPr>
          </a:lstStyle>
          <a:p xmlns:a="http://schemas.openxmlformats.org/drawingml/2006/main">
            <a:pPr>
              <a:defRPr sz="2325" b="0">
                <a:solidFill>
                  <a:srgbClr val="E5D8E2"/>
                </a:solidFill>
                <a:latin typeface="Arial"/>
                <a:ea typeface="Arial"/>
                <a:cs typeface="Arial"/>
              </a:defRPr>
            </a:pPr>
            <a:r>
              <a:rPr sz="2325" b="0">
                <a:solidFill>
                  <a:srgbClr val="E5D8E2"/>
                </a:solidFill>
                <a:latin typeface="Arial"/>
                <a:ea typeface="Arial"/>
                <a:cs typeface="Arial"/>
              </a:rPr>
              <a:t>An empirical comparison of migration call paths</a:t>
            </a:r>
          </a:p>
        </p:txBody>
      </p:sp>
      <p:sp>
        <p:nvSpPr>
          <p:cNvPr id="3" name="">
            <a:extLst xmlns:a="http://schemas.openxmlformats.org/drawingml/2006/main">
              <a:ext uri="{FF2B5EF4-FFF2-40B4-BE49-F238E27FC236}">
                <a16:creationId xmlns:a16="http://schemas.microsoft.com/office/drawing/2014/main" id="{56B91158-EB63-4B2C-B284-7FAE619B2919}"/>
              </a:ext>
            </a:extLst>
          </p:cNvPr>
          <p:cNvSpPr>
            <a:spLocks xmlns:a="http://schemas.openxmlformats.org/drawingml/2006/main" noGrp="1"/>
          </p:cNvSpPr>
          <p:nvPr/>
        </p:nvSpPr>
        <p:spPr>
          <a:xfrm xmlns:a="http://schemas.openxmlformats.org/drawingml/2006/main">
            <a:off x="723900" y="5372100"/>
            <a:ext cx="685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D1C2CE"/>
                </a:solidFill>
                <a:latin typeface="Arial"/>
                <a:ea typeface="Arial"/>
                <a:cs typeface="Arial"/>
              </a:defRPr>
            </a:defPPr>
          </a:lstStyle>
          <a:p xmlns:a="http://schemas.openxmlformats.org/drawingml/2006/main">
            <a:pPr>
              <a:defRPr sz="1725" b="0">
                <a:solidFill>
                  <a:srgbClr val="D1C2CE"/>
                </a:solidFill>
                <a:latin typeface="Arial"/>
                <a:ea typeface="Arial"/>
                <a:cs typeface="Arial"/>
              </a:defRPr>
            </a:pPr>
            <a:r>
              <a:rPr sz="1725" b="0">
                <a:solidFill>
                  <a:srgbClr val="D1C2CE"/>
                </a:solidFill>
                <a:latin typeface="Arial"/>
                <a:ea typeface="Arial"/>
                <a:cs typeface="Arial"/>
              </a:rPr>
              <a:t>A. S. R. Silva</a:t>
            </a:r>
          </a:p>
          <a:p xmlns:a="http://schemas.openxmlformats.org/drawingml/2006/main">
            <a:pPr>
              <a:defRPr sz="1725" b="0">
                <a:solidFill>
                  <a:srgbClr val="D1C2CE"/>
                </a:solidFill>
                <a:latin typeface="Arial"/>
                <a:ea typeface="Arial"/>
                <a:cs typeface="Arial"/>
              </a:defRPr>
            </a:pPr>
            <a:r>
              <a:rPr sz="1725" b="0">
                <a:solidFill>
                  <a:srgbClr val="D1C2CE"/>
                </a:solidFill>
                <a:latin typeface="Arial"/>
                <a:ea typeface="Arial"/>
                <a:cs typeface="Arial"/>
              </a:rPr>
              <a:t>Coventry Index: 14946338</a:t>
            </a:r>
          </a:p>
        </p:txBody>
      </p:sp>
    </p:spTree>
    <p:extLst>
      <p:ext uri="{BB962C8B-B14F-4D97-AF65-F5344CB8AC3E}">
        <p14:creationId xmlns:p14="http://schemas.microsoft.com/office/powerpoint/2010/main" val="166472137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CD8B346-DC55-4444-8857-2A98F6D1B038}"/>
              </a:ext>
            </a:extLst>
          </p:cNvPr>
          <p:cNvSpPr>
            <a:spLocks xmlns:a="http://schemas.openxmlformats.org/drawingml/2006/main" noGrp="1"/>
          </p:cNvSpPr>
          <p:nvPr/>
        </p:nvSpPr>
        <p:spPr>
          <a:xfrm xmlns:a="http://schemas.openxmlformats.org/drawingml/2006/main">
            <a:off x="609600" y="400050"/>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41C27"/>
                </a:solidFill>
                <a:latin typeface="Arial"/>
                <a:ea typeface="Arial"/>
                <a:cs typeface="Arial"/>
              </a:defRPr>
            </a:defPPr>
          </a:lstStyle>
          <a:p xmlns:a="http://schemas.openxmlformats.org/drawingml/2006/main">
            <a:pPr>
              <a:defRPr sz="3300" b="1">
                <a:solidFill>
                  <a:srgbClr val="241C27"/>
                </a:solidFill>
                <a:latin typeface="Arial"/>
                <a:ea typeface="Arial"/>
                <a:cs typeface="Arial"/>
              </a:defRPr>
            </a:pPr>
            <a:r>
              <a:rPr sz="3300" b="1">
                <a:solidFill>
                  <a:srgbClr val="241C27"/>
                </a:solidFill>
                <a:latin typeface="Arial"/>
                <a:ea typeface="Arial"/>
                <a:cs typeface="Arial"/>
              </a:rPr>
              <a:t>Why revisit migration placement?</a:t>
            </a:r>
          </a:p>
        </p:txBody>
      </p:sp>
      <p:sp>
        <p:nvSpPr>
          <p:cNvPr id="2" name="">
            <a:extLst xmlns:a="http://schemas.openxmlformats.org/drawingml/2006/main">
              <a:ext uri="{FF2B5EF4-FFF2-40B4-BE49-F238E27FC236}">
                <a16:creationId xmlns:a16="http://schemas.microsoft.com/office/drawing/2014/main" id="{37FDBEFF-1BCD-4A40-A406-A27400FDC803}"/>
              </a:ext>
            </a:extLst>
          </p:cNvPr>
          <p:cNvSpPr>
            <a:spLocks xmlns:a="http://schemas.openxmlformats.org/drawingml/2006/main" noGrp="1"/>
          </p:cNvSpPr>
          <p:nvPr/>
        </p:nvSpPr>
        <p:spPr>
          <a:xfrm xmlns:a="http://schemas.openxmlformats.org/drawingml/2006/main">
            <a:off x="11239500" y="641032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4606A"/>
                </a:solidFill>
                <a:latin typeface="Arial"/>
                <a:ea typeface="Arial"/>
                <a:cs typeface="Arial"/>
              </a:defRPr>
            </a:defPPr>
          </a:lstStyle>
          <a:p xmlns:a="http://schemas.openxmlformats.org/drawingml/2006/main">
            <a:pPr>
              <a:defRPr sz="1125" b="0">
                <a:solidFill>
                  <a:srgbClr val="64606A"/>
                </a:solidFill>
                <a:latin typeface="Arial"/>
                <a:ea typeface="Arial"/>
                <a:cs typeface="Arial"/>
              </a:defRPr>
            </a:pPr>
            <a:r>
              <a:rPr sz="1125" b="0">
                <a:solidFill>
                  <a:srgbClr val="64606A"/>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35C1FE47-755B-4134-AEF7-7D91469F40B4}"/>
              </a:ext>
            </a:extLst>
          </p:cNvPr>
          <p:cNvSpPr>
            <a:spLocks xmlns:a="http://schemas.openxmlformats.org/drawingml/2006/main" noGrp="1"/>
          </p:cNvSpPr>
          <p:nvPr/>
        </p:nvSpPr>
        <p:spPr>
          <a:xfrm xmlns:a="http://schemas.openxmlformats.org/drawingml/2006/main">
            <a:off x="609600" y="633412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4606A"/>
                </a:solidFill>
                <a:latin typeface="Arial"/>
                <a:ea typeface="Arial"/>
                <a:cs typeface="Arial"/>
              </a:defRPr>
            </a:defPPr>
          </a:lstStyle>
          <a:p xmlns:a="http://schemas.openxmlformats.org/drawingml/2006/main">
            <a:pPr>
              <a:defRPr sz="1125" b="0">
                <a:solidFill>
                  <a:srgbClr val="64606A"/>
                </a:solidFill>
                <a:latin typeface="Arial"/>
                <a:ea typeface="Arial"/>
                <a:cs typeface="Arial"/>
              </a:defRPr>
            </a:pPr>
            <a:r>
              <a:rPr sz="1125" b="0">
                <a:solidFill>
                  <a:srgbClr val="64606A"/>
                </a:solidFill>
                <a:latin typeface="Arial"/>
                <a:ea typeface="Arial"/>
                <a:cs typeface="Arial"/>
              </a:rPr>
              <a:t>Report §§1.2, 1.6, 2.3.2. Milojičić et al. (1993, 1999), Gu et al. (2020), Chen et al. (2024).</a:t>
            </a:r>
          </a:p>
        </p:txBody>
      </p:sp>
      <p:sp>
        <p:nvSpPr>
          <p:cNvPr id="4" name="">
            <a:extLst xmlns:a="http://schemas.openxmlformats.org/drawingml/2006/main">
              <a:ext uri="{FF2B5EF4-FFF2-40B4-BE49-F238E27FC236}">
                <a16:creationId xmlns:a16="http://schemas.microsoft.com/office/drawing/2014/main" id="{84722E74-77F5-4A2E-9F21-6FA023C54708}"/>
              </a:ext>
            </a:extLst>
          </p:cNvPr>
          <p:cNvSpPr>
            <a:spLocks xmlns:a="http://schemas.openxmlformats.org/drawingml/2006/main" noGrp="1"/>
          </p:cNvSpPr>
          <p:nvPr/>
        </p:nvSpPr>
        <p:spPr>
          <a:xfrm xmlns:a="http://schemas.openxmlformats.org/drawingml/2006/main">
            <a:off x="609600" y="4695825"/>
            <a:ext cx="6524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64606A"/>
                </a:solidFill>
                <a:latin typeface="Arial"/>
                <a:ea typeface="Arial"/>
                <a:cs typeface="Arial"/>
              </a:defRPr>
            </a:defPPr>
          </a:lstStyle>
          <a:p xmlns:a="http://schemas.openxmlformats.org/drawingml/2006/main">
            <a:pPr>
              <a:defRPr sz="1950" b="0">
                <a:solidFill>
                  <a:srgbClr val="64606A"/>
                </a:solidFill>
                <a:latin typeface="Arial"/>
                <a:ea typeface="Arial"/>
                <a:cs typeface="Arial"/>
              </a:defRPr>
            </a:pPr>
            <a:r>
              <a:rPr sz="1950" b="0">
                <a:solidFill>
                  <a:srgbClr val="64606A"/>
                </a:solidFill>
                <a:latin typeface="Arial"/>
                <a:ea typeface="Arial"/>
                <a:cs typeface="Arial"/>
              </a:rPr>
              <a:t>1993 Mach reported a substantial user-space penalty under its test conditions.</a:t>
            </a:r>
          </a:p>
        </p:txBody>
      </p:sp>
      <p:sp>
        <p:nvSpPr>
          <p:cNvPr id="5" name="">
            <a:extLst xmlns:a="http://schemas.openxmlformats.org/drawingml/2006/main">
              <a:ext uri="{FF2B5EF4-FFF2-40B4-BE49-F238E27FC236}">
                <a16:creationId xmlns:a16="http://schemas.microsoft.com/office/drawing/2014/main" id="{AEA3DE9F-C63D-4B7E-B46D-D4EA33EAC713}"/>
              </a:ext>
            </a:extLst>
          </p:cNvPr>
          <p:cNvSpPr>
            <a:spLocks xmlns:a="http://schemas.openxmlformats.org/drawingml/2006/main" noGrp="1"/>
          </p:cNvSpPr>
          <p:nvPr/>
        </p:nvSpPr>
        <p:spPr>
          <a:xfrm xmlns:a="http://schemas.openxmlformats.org/drawingml/2006/main">
            <a:off x="609600" y="1552575"/>
            <a:ext cx="571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56334C"/>
                </a:solidFill>
                <a:latin typeface="Arial"/>
                <a:ea typeface="Arial"/>
                <a:cs typeface="Arial"/>
              </a:defRPr>
            </a:defPPr>
          </a:lstStyle>
          <a:p xmlns:a="http://schemas.openxmlformats.org/drawingml/2006/main">
            <a:pPr>
              <a:defRPr sz="1725" b="1">
                <a:solidFill>
                  <a:srgbClr val="56334C"/>
                </a:solidFill>
                <a:latin typeface="Arial"/>
                <a:ea typeface="Arial"/>
                <a:cs typeface="Arial"/>
              </a:defRPr>
            </a:pPr>
            <a:r>
              <a:rPr sz="1725" b="1">
                <a:solidFill>
                  <a:srgbClr val="56334C"/>
                </a:solidFill>
                <a:latin typeface="Arial"/>
                <a:ea typeface="Arial"/>
                <a:cs typeface="Arial"/>
              </a:rPr>
              <a:t>Research question</a:t>
            </a:r>
          </a:p>
        </p:txBody>
      </p:sp>
      <p:sp>
        <p:nvSpPr>
          <p:cNvPr id="6" name="">
            <a:extLst xmlns:a="http://schemas.openxmlformats.org/drawingml/2006/main">
              <a:ext uri="{FF2B5EF4-FFF2-40B4-BE49-F238E27FC236}">
                <a16:creationId xmlns:a16="http://schemas.microsoft.com/office/drawing/2014/main" id="{856624BD-774F-4BA1-ABE2-58CAF066C60B}"/>
              </a:ext>
            </a:extLst>
          </p:cNvPr>
          <p:cNvSpPr>
            <a:spLocks xmlns:a="http://schemas.openxmlformats.org/drawingml/2006/main" noGrp="1"/>
          </p:cNvSpPr>
          <p:nvPr/>
        </p:nvSpPr>
        <p:spPr>
          <a:xfrm xmlns:a="http://schemas.openxmlformats.org/drawingml/2006/main">
            <a:off x="609600" y="2057400"/>
            <a:ext cx="6572250" cy="2085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241C27"/>
                </a:solidFill>
                <a:latin typeface="Arial"/>
                <a:ea typeface="Arial"/>
                <a:cs typeface="Arial"/>
              </a:defRPr>
            </a:defPPr>
          </a:lstStyle>
          <a:p xmlns:a="http://schemas.openxmlformats.org/drawingml/2006/main">
            <a:pPr>
              <a:defRPr sz="3000" b="1">
                <a:solidFill>
                  <a:srgbClr val="241C27"/>
                </a:solidFill>
                <a:latin typeface="Arial"/>
                <a:ea typeface="Arial"/>
                <a:cs typeface="Arial"/>
              </a:defRPr>
            </a:pPr>
            <a:r>
              <a:rPr sz="3000" b="1">
                <a:solidFill>
                  <a:srgbClr val="241C27"/>
                </a:solidFill>
                <a:latin typeface="Arial"/>
                <a:ea typeface="Arial"/>
                <a:cs typeface="Arial"/>
              </a:rPr>
              <a:t>How much migration cost does each call path add on the same Hydra configuration?</a:t>
            </a:r>
          </a:p>
        </p:txBody>
      </p:sp>
      <p:sp>
        <p:nvSpPr>
          <p:cNvPr id="7" name="">
            <a:extLst xmlns:a="http://schemas.openxmlformats.org/drawingml/2006/main">
              <a:ext uri="{FF2B5EF4-FFF2-40B4-BE49-F238E27FC236}">
                <a16:creationId xmlns:a16="http://schemas.microsoft.com/office/drawing/2014/main" id="{A3764BC8-05B4-4A69-B310-7E4377E07824}"/>
              </a:ext>
            </a:extLst>
          </p:cNvPr>
          <p:cNvSpPr>
            <a:spLocks xmlns:a="http://schemas.openxmlformats.org/drawingml/2006/main" noGrp="1"/>
          </p:cNvSpPr>
          <p:nvPr/>
        </p:nvSpPr>
        <p:spPr>
          <a:xfrm xmlns:a="http://schemas.openxmlformats.org/drawingml/2006/main">
            <a:off x="7762875" y="1609725"/>
            <a:ext cx="3667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56334C"/>
                </a:solidFill>
                <a:latin typeface="Arial"/>
                <a:ea typeface="Arial"/>
                <a:cs typeface="Arial"/>
              </a:defRPr>
            </a:defPPr>
          </a:lstStyle>
          <a:p xmlns:a="http://schemas.openxmlformats.org/drawingml/2006/main">
            <a:pPr>
              <a:defRPr sz="1875" b="1">
                <a:solidFill>
                  <a:srgbClr val="56334C"/>
                </a:solidFill>
                <a:latin typeface="Arial"/>
                <a:ea typeface="Arial"/>
                <a:cs typeface="Arial"/>
              </a:defRPr>
            </a:pPr>
            <a:r>
              <a:rPr sz="1875" b="1">
                <a:solidFill>
                  <a:srgbClr val="56334C"/>
                </a:solidFill>
                <a:latin typeface="Arial"/>
                <a:ea typeface="Arial"/>
                <a:cs typeface="Arial"/>
              </a:rPr>
              <a:t>Reasons for new measurements</a:t>
            </a:r>
          </a:p>
        </p:txBody>
      </p:sp>
      <p:sp>
        <p:nvSpPr>
          <p:cNvPr id="8" name="">
            <a:extLst xmlns:a="http://schemas.openxmlformats.org/drawingml/2006/main">
              <a:ext uri="{FF2B5EF4-FFF2-40B4-BE49-F238E27FC236}">
                <a16:creationId xmlns:a16="http://schemas.microsoft.com/office/drawing/2014/main" id="{87A848EB-421D-4CFD-BCCA-9F4CFE0C014D}"/>
              </a:ext>
            </a:extLst>
          </p:cNvPr>
          <p:cNvSpPr>
            <a:spLocks xmlns:a="http://schemas.openxmlformats.org/drawingml/2006/main" noGrp="1"/>
          </p:cNvSpPr>
          <p:nvPr/>
        </p:nvSpPr>
        <p:spPr>
          <a:xfrm xmlns:a="http://schemas.openxmlformats.org/drawingml/2006/main">
            <a:off x="7762875" y="2362200"/>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241C27"/>
                </a:solidFill>
                <a:latin typeface="Arial"/>
                <a:ea typeface="Arial"/>
                <a:cs typeface="Arial"/>
              </a:defRPr>
            </a:defPPr>
          </a:lstStyle>
          <a:p xmlns:a="http://schemas.openxmlformats.org/drawingml/2006/main">
            <a:pPr>
              <a:defRPr sz="1875" b="1">
                <a:solidFill>
                  <a:srgbClr val="241C27"/>
                </a:solidFill>
                <a:latin typeface="Arial"/>
                <a:ea typeface="Arial"/>
                <a:cs typeface="Arial"/>
              </a:defRPr>
            </a:pPr>
            <a:r>
              <a:rPr sz="1875" b="1">
                <a:solidFill>
                  <a:srgbClr val="241C27"/>
                </a:solidFill>
                <a:latin typeface="Arial"/>
                <a:ea typeface="Arial"/>
                <a:cs typeface="Arial"/>
              </a:rPr>
              <a:t>IPC optimisation</a:t>
            </a:r>
          </a:p>
        </p:txBody>
      </p:sp>
      <p:sp>
        <p:nvSpPr>
          <p:cNvPr id="9" name="">
            <a:extLst xmlns:a="http://schemas.openxmlformats.org/drawingml/2006/main">
              <a:ext uri="{FF2B5EF4-FFF2-40B4-BE49-F238E27FC236}">
                <a16:creationId xmlns:a16="http://schemas.microsoft.com/office/drawing/2014/main" id="{15D2094D-FFBF-4129-AC6A-F566E264B961}"/>
              </a:ext>
            </a:extLst>
          </p:cNvPr>
          <p:cNvSpPr>
            <a:spLocks xmlns:a="http://schemas.openxmlformats.org/drawingml/2006/main" noGrp="1"/>
          </p:cNvSpPr>
          <p:nvPr/>
        </p:nvSpPr>
        <p:spPr>
          <a:xfrm xmlns:a="http://schemas.openxmlformats.org/drawingml/2006/main">
            <a:off x="7762875" y="2762250"/>
            <a:ext cx="361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4606A"/>
                </a:solidFill>
                <a:latin typeface="Arial"/>
                <a:ea typeface="Arial"/>
                <a:cs typeface="Arial"/>
              </a:defRPr>
            </a:defPPr>
          </a:lstStyle>
          <a:p xmlns:a="http://schemas.openxmlformats.org/drawingml/2006/main">
            <a:pPr>
              <a:defRPr sz="1725" b="0">
                <a:solidFill>
                  <a:srgbClr val="64606A"/>
                </a:solidFill>
                <a:latin typeface="Arial"/>
                <a:ea typeface="Arial"/>
                <a:cs typeface="Arial"/>
              </a:defRPr>
            </a:pPr>
            <a:r>
              <a:rPr sz="1725" b="0">
                <a:solidFill>
                  <a:srgbClr val="64606A"/>
                </a:solidFill>
                <a:latin typeface="Arial"/>
                <a:ea typeface="Arial"/>
                <a:cs typeface="Arial"/>
              </a:rPr>
              <a:t>Communication mechanisms have changed.</a:t>
            </a:r>
          </a:p>
        </p:txBody>
      </p:sp>
      <p:sp>
        <p:nvSpPr>
          <p:cNvPr id="10" name="">
            <a:extLst xmlns:a="http://schemas.openxmlformats.org/drawingml/2006/main">
              <a:ext uri="{FF2B5EF4-FFF2-40B4-BE49-F238E27FC236}">
                <a16:creationId xmlns:a16="http://schemas.microsoft.com/office/drawing/2014/main" id="{5A448B09-03AE-419A-A9FC-55B3C3BC15BF}"/>
              </a:ext>
            </a:extLst>
          </p:cNvPr>
          <p:cNvSpPr>
            <a:spLocks xmlns:a="http://schemas.openxmlformats.org/drawingml/2006/main" noGrp="1"/>
          </p:cNvSpPr>
          <p:nvPr/>
        </p:nvSpPr>
        <p:spPr>
          <a:xfrm xmlns:a="http://schemas.openxmlformats.org/drawingml/2006/main">
            <a:off x="7762875" y="3486150"/>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241C27"/>
                </a:solidFill>
                <a:latin typeface="Arial"/>
                <a:ea typeface="Arial"/>
                <a:cs typeface="Arial"/>
              </a:defRPr>
            </a:defPPr>
          </a:lstStyle>
          <a:p xmlns:a="http://schemas.openxmlformats.org/drawingml/2006/main">
            <a:pPr>
              <a:defRPr sz="1875" b="1">
                <a:solidFill>
                  <a:srgbClr val="241C27"/>
                </a:solidFill>
                <a:latin typeface="Arial"/>
                <a:ea typeface="Arial"/>
                <a:cs typeface="Arial"/>
              </a:defRPr>
            </a:pPr>
            <a:r>
              <a:rPr sz="1875" b="1">
                <a:solidFill>
                  <a:srgbClr val="241C27"/>
                </a:solidFill>
                <a:latin typeface="Arial"/>
                <a:ea typeface="Arial"/>
                <a:cs typeface="Arial"/>
              </a:rPr>
              <a:t>Deployment demand</a:t>
            </a:r>
          </a:p>
        </p:txBody>
      </p:sp>
      <p:sp>
        <p:nvSpPr>
          <p:cNvPr id="11" name="">
            <a:extLst xmlns:a="http://schemas.openxmlformats.org/drawingml/2006/main">
              <a:ext uri="{FF2B5EF4-FFF2-40B4-BE49-F238E27FC236}">
                <a16:creationId xmlns:a16="http://schemas.microsoft.com/office/drawing/2014/main" id="{ED11FE91-FE1F-4805-B031-3AF3C07ADF3C}"/>
              </a:ext>
            </a:extLst>
          </p:cNvPr>
          <p:cNvSpPr>
            <a:spLocks xmlns:a="http://schemas.openxmlformats.org/drawingml/2006/main" noGrp="1"/>
          </p:cNvSpPr>
          <p:nvPr/>
        </p:nvSpPr>
        <p:spPr>
          <a:xfrm xmlns:a="http://schemas.openxmlformats.org/drawingml/2006/main">
            <a:off x="7762875" y="3886200"/>
            <a:ext cx="361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4606A"/>
                </a:solidFill>
                <a:latin typeface="Arial"/>
                <a:ea typeface="Arial"/>
                <a:cs typeface="Arial"/>
              </a:defRPr>
            </a:defPPr>
          </a:lstStyle>
          <a:p xmlns:a="http://schemas.openxmlformats.org/drawingml/2006/main">
            <a:pPr>
              <a:defRPr sz="1725" b="0">
                <a:solidFill>
                  <a:srgbClr val="64606A"/>
                </a:solidFill>
                <a:latin typeface="Arial"/>
                <a:ea typeface="Arial"/>
                <a:cs typeface="Arial"/>
              </a:defRPr>
            </a:pPr>
            <a:r>
              <a:rPr sz="1725" b="0">
                <a:solidFill>
                  <a:srgbClr val="64606A"/>
                </a:solidFill>
                <a:latin typeface="Arial"/>
                <a:ea typeface="Arial"/>
                <a:cs typeface="Arial"/>
              </a:rPr>
              <a:t>State preservation has practical use cases.</a:t>
            </a:r>
          </a:p>
        </p:txBody>
      </p:sp>
      <p:sp>
        <p:nvSpPr>
          <p:cNvPr id="12" name="">
            <a:extLst xmlns:a="http://schemas.openxmlformats.org/drawingml/2006/main">
              <a:ext uri="{FF2B5EF4-FFF2-40B4-BE49-F238E27FC236}">
                <a16:creationId xmlns:a16="http://schemas.microsoft.com/office/drawing/2014/main" id="{46EBDBF3-20B1-40F0-968A-D0362423B6F4}"/>
              </a:ext>
            </a:extLst>
          </p:cNvPr>
          <p:cNvSpPr>
            <a:spLocks xmlns:a="http://schemas.openxmlformats.org/drawingml/2006/main" noGrp="1"/>
          </p:cNvSpPr>
          <p:nvPr/>
        </p:nvSpPr>
        <p:spPr>
          <a:xfrm xmlns:a="http://schemas.openxmlformats.org/drawingml/2006/main">
            <a:off x="7762875" y="4610100"/>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241C27"/>
                </a:solidFill>
                <a:latin typeface="Arial"/>
                <a:ea typeface="Arial"/>
                <a:cs typeface="Arial"/>
              </a:defRPr>
            </a:defPPr>
          </a:lstStyle>
          <a:p xmlns:a="http://schemas.openxmlformats.org/drawingml/2006/main">
            <a:pPr>
              <a:defRPr sz="1875" b="1">
                <a:solidFill>
                  <a:srgbClr val="241C27"/>
                </a:solidFill>
                <a:latin typeface="Arial"/>
                <a:ea typeface="Arial"/>
                <a:cs typeface="Arial"/>
              </a:defRPr>
            </a:pPr>
            <a:r>
              <a:rPr sz="1875" b="1">
                <a:solidFill>
                  <a:srgbClr val="241C27"/>
                </a:solidFill>
                <a:latin typeface="Arial"/>
                <a:ea typeface="Arial"/>
                <a:cs typeface="Arial"/>
              </a:rPr>
              <a:t>RISC-V adoption</a:t>
            </a:r>
          </a:p>
        </p:txBody>
      </p:sp>
      <p:sp>
        <p:nvSpPr>
          <p:cNvPr id="13" name="">
            <a:extLst xmlns:a="http://schemas.openxmlformats.org/drawingml/2006/main">
              <a:ext uri="{FF2B5EF4-FFF2-40B4-BE49-F238E27FC236}">
                <a16:creationId xmlns:a16="http://schemas.microsoft.com/office/drawing/2014/main" id="{B5118802-6339-432D-90EA-C74AE7FE3124}"/>
              </a:ext>
            </a:extLst>
          </p:cNvPr>
          <p:cNvSpPr>
            <a:spLocks xmlns:a="http://schemas.openxmlformats.org/drawingml/2006/main" noGrp="1"/>
          </p:cNvSpPr>
          <p:nvPr/>
        </p:nvSpPr>
        <p:spPr>
          <a:xfrm xmlns:a="http://schemas.openxmlformats.org/drawingml/2006/main">
            <a:off x="7762875" y="5010150"/>
            <a:ext cx="361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4606A"/>
                </a:solidFill>
                <a:latin typeface="Arial"/>
                <a:ea typeface="Arial"/>
                <a:cs typeface="Arial"/>
              </a:defRPr>
            </a:defPPr>
          </a:lstStyle>
          <a:p xmlns:a="http://schemas.openxmlformats.org/drawingml/2006/main">
            <a:pPr>
              <a:defRPr sz="1725" b="0">
                <a:solidFill>
                  <a:srgbClr val="64606A"/>
                </a:solidFill>
                <a:latin typeface="Arial"/>
                <a:ea typeface="Arial"/>
                <a:cs typeface="Arial"/>
              </a:defRPr>
            </a:pPr>
            <a:r>
              <a:rPr sz="1725" b="0">
                <a:solidFill>
                  <a:srgbClr val="64606A"/>
                </a:solidFill>
                <a:latin typeface="Arial"/>
                <a:ea typeface="Arial"/>
                <a:cs typeface="Arial"/>
              </a:rPr>
              <a:t>An open baseline should be measured on the chosen ISA.</a:t>
            </a:r>
          </a:p>
        </p:txBody>
      </p:sp>
    </p:spTree>
    <p:extLst>
      <p:ext uri="{BB962C8B-B14F-4D97-AF65-F5344CB8AC3E}">
        <p14:creationId xmlns:p14="http://schemas.microsoft.com/office/powerpoint/2010/main" val="58252090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217FA94-9C5D-4DDE-BF32-DF6E9FC4BFD9}"/>
              </a:ext>
            </a:extLst>
          </p:cNvPr>
          <p:cNvSpPr>
            <a:spLocks xmlns:a="http://schemas.openxmlformats.org/drawingml/2006/main" noGrp="1"/>
          </p:cNvSpPr>
          <p:nvPr/>
        </p:nvSpPr>
        <p:spPr>
          <a:xfrm xmlns:a="http://schemas.openxmlformats.org/drawingml/2006/main">
            <a:off x="609600" y="400050"/>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41C27"/>
                </a:solidFill>
                <a:latin typeface="Arial"/>
                <a:ea typeface="Arial"/>
                <a:cs typeface="Arial"/>
              </a:defRPr>
            </a:defPPr>
          </a:lstStyle>
          <a:p xmlns:a="http://schemas.openxmlformats.org/drawingml/2006/main">
            <a:pPr>
              <a:defRPr sz="3300" b="1">
                <a:solidFill>
                  <a:srgbClr val="241C27"/>
                </a:solidFill>
                <a:latin typeface="Arial"/>
                <a:ea typeface="Arial"/>
                <a:cs typeface="Arial"/>
              </a:defRPr>
            </a:pPr>
            <a:r>
              <a:rPr sz="3300" b="1">
                <a:solidFill>
                  <a:srgbClr val="241C27"/>
                </a:solidFill>
                <a:latin typeface="Arial"/>
                <a:ea typeface="Arial"/>
                <a:cs typeface="Arial"/>
              </a:rPr>
              <a:t>Five research objectives</a:t>
            </a:r>
          </a:p>
        </p:txBody>
      </p:sp>
      <p:sp>
        <p:nvSpPr>
          <p:cNvPr id="2" name="">
            <a:extLst xmlns:a="http://schemas.openxmlformats.org/drawingml/2006/main">
              <a:ext uri="{FF2B5EF4-FFF2-40B4-BE49-F238E27FC236}">
                <a16:creationId xmlns:a16="http://schemas.microsoft.com/office/drawing/2014/main" id="{9821ABA3-61EB-474A-91F6-5B5B098E816E}"/>
              </a:ext>
            </a:extLst>
          </p:cNvPr>
          <p:cNvSpPr>
            <a:spLocks xmlns:a="http://schemas.openxmlformats.org/drawingml/2006/main" noGrp="1"/>
          </p:cNvSpPr>
          <p:nvPr/>
        </p:nvSpPr>
        <p:spPr>
          <a:xfrm xmlns:a="http://schemas.openxmlformats.org/drawingml/2006/main">
            <a:off x="11239500" y="641032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4606A"/>
                </a:solidFill>
                <a:latin typeface="Arial"/>
                <a:ea typeface="Arial"/>
                <a:cs typeface="Arial"/>
              </a:defRPr>
            </a:defPPr>
          </a:lstStyle>
          <a:p xmlns:a="http://schemas.openxmlformats.org/drawingml/2006/main">
            <a:pPr>
              <a:defRPr sz="1125" b="0">
                <a:solidFill>
                  <a:srgbClr val="64606A"/>
                </a:solidFill>
                <a:latin typeface="Arial"/>
                <a:ea typeface="Arial"/>
                <a:cs typeface="Arial"/>
              </a:defRPr>
            </a:pPr>
            <a:r>
              <a:rPr sz="1125" b="0">
                <a:solidFill>
                  <a:srgbClr val="64606A"/>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1356F085-E9E8-46B9-8EF5-F02823319F13}"/>
              </a:ext>
            </a:extLst>
          </p:cNvPr>
          <p:cNvSpPr>
            <a:spLocks xmlns:a="http://schemas.openxmlformats.org/drawingml/2006/main" noGrp="1"/>
          </p:cNvSpPr>
          <p:nvPr/>
        </p:nvSpPr>
        <p:spPr>
          <a:xfrm xmlns:a="http://schemas.openxmlformats.org/drawingml/2006/main">
            <a:off x="609600" y="633412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4606A"/>
                </a:solidFill>
                <a:latin typeface="Arial"/>
                <a:ea typeface="Arial"/>
                <a:cs typeface="Arial"/>
              </a:defRPr>
            </a:defPPr>
          </a:lstStyle>
          <a:p xmlns:a="http://schemas.openxmlformats.org/drawingml/2006/main">
            <a:pPr>
              <a:defRPr sz="1125" b="0">
                <a:solidFill>
                  <a:srgbClr val="64606A"/>
                </a:solidFill>
                <a:latin typeface="Arial"/>
                <a:ea typeface="Arial"/>
                <a:cs typeface="Arial"/>
              </a:defRPr>
            </a:pPr>
            <a:r>
              <a:rPr sz="1125" b="0">
                <a:solidFill>
                  <a:srgbClr val="64606A"/>
                </a:solidFill>
                <a:latin typeface="Arial"/>
                <a:ea typeface="Arial"/>
                <a:cs typeface="Arial"/>
              </a:rPr>
              <a:t>Report §1.3. Research objectives.</a:t>
            </a:r>
          </a:p>
        </p:txBody>
      </p:sp>
      <p:sp>
        <p:nvSpPr>
          <p:cNvPr id="4" name="">
            <a:extLst xmlns:a="http://schemas.openxmlformats.org/drawingml/2006/main">
              <a:ext uri="{FF2B5EF4-FFF2-40B4-BE49-F238E27FC236}">
                <a16:creationId xmlns:a16="http://schemas.microsoft.com/office/drawing/2014/main" id="{13175B8F-585C-4950-B78A-331924FC02BE}"/>
              </a:ext>
            </a:extLst>
          </p:cNvPr>
          <p:cNvSpPr>
            <a:spLocks xmlns:a="http://schemas.openxmlformats.org/drawingml/2006/main" noGrp="1"/>
          </p:cNvSpPr>
          <p:nvPr/>
        </p:nvSpPr>
        <p:spPr>
          <a:xfrm xmlns:a="http://schemas.openxmlformats.org/drawingml/2006/main">
            <a:off x="609600" y="1619250"/>
            <a:ext cx="628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C85230"/>
                </a:solidFill>
                <a:latin typeface="Arial"/>
                <a:ea typeface="Arial"/>
                <a:cs typeface="Arial"/>
              </a:defRPr>
            </a:defPPr>
          </a:lstStyle>
          <a:p xmlns:a="http://schemas.openxmlformats.org/drawingml/2006/main">
            <a:pPr>
              <a:defRPr sz="3075" b="1">
                <a:solidFill>
                  <a:srgbClr val="C85230"/>
                </a:solidFill>
                <a:latin typeface="Arial"/>
                <a:ea typeface="Arial"/>
                <a:cs typeface="Arial"/>
              </a:defRPr>
            </a:pPr>
            <a:r>
              <a:rPr sz="3075" b="1">
                <a:solidFill>
                  <a:srgbClr val="C85230"/>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B5EBD8BF-5274-4005-9461-1F83C3D0C4CF}"/>
              </a:ext>
            </a:extLst>
          </p:cNvPr>
          <p:cNvSpPr>
            <a:spLocks xmlns:a="http://schemas.openxmlformats.org/drawingml/2006/main" noGrp="1"/>
          </p:cNvSpPr>
          <p:nvPr/>
        </p:nvSpPr>
        <p:spPr>
          <a:xfrm xmlns:a="http://schemas.openxmlformats.org/drawingml/2006/main">
            <a:off x="1524000" y="1628775"/>
            <a:ext cx="2238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56334C"/>
                </a:solidFill>
                <a:latin typeface="Arial"/>
                <a:ea typeface="Arial"/>
                <a:cs typeface="Arial"/>
              </a:defRPr>
            </a:defPPr>
          </a:lstStyle>
          <a:p xmlns:a="http://schemas.openxmlformats.org/drawingml/2006/main">
            <a:pPr>
              <a:defRPr sz="2175" b="1">
                <a:solidFill>
                  <a:srgbClr val="56334C"/>
                </a:solidFill>
                <a:latin typeface="Arial"/>
                <a:ea typeface="Arial"/>
                <a:cs typeface="Arial"/>
              </a:defRPr>
            </a:pPr>
            <a:r>
              <a:rPr sz="2175" b="1">
                <a:solidFill>
                  <a:srgbClr val="56334C"/>
                </a:solidFill>
                <a:latin typeface="Arial"/>
                <a:ea typeface="Arial"/>
                <a:cs typeface="Arial"/>
              </a:rPr>
              <a:t>Implement</a:t>
            </a:r>
          </a:p>
        </p:txBody>
      </p:sp>
      <p:sp>
        <p:nvSpPr>
          <p:cNvPr id="6" name="">
            <a:extLst xmlns:a="http://schemas.openxmlformats.org/drawingml/2006/main">
              <a:ext uri="{FF2B5EF4-FFF2-40B4-BE49-F238E27FC236}">
                <a16:creationId xmlns:a16="http://schemas.microsoft.com/office/drawing/2014/main" id="{CC407523-DF53-4B7E-B41B-A257C940A05A}"/>
              </a:ext>
            </a:extLst>
          </p:cNvPr>
          <p:cNvSpPr>
            <a:spLocks xmlns:a="http://schemas.openxmlformats.org/drawingml/2006/main" noGrp="1"/>
          </p:cNvSpPr>
          <p:nvPr/>
        </p:nvSpPr>
        <p:spPr>
          <a:xfrm xmlns:a="http://schemas.openxmlformats.org/drawingml/2006/main">
            <a:off x="3810000" y="1638300"/>
            <a:ext cx="76009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41C27"/>
                </a:solidFill>
                <a:latin typeface="Arial"/>
                <a:ea typeface="Arial"/>
                <a:cs typeface="Arial"/>
              </a:defRPr>
            </a:defPPr>
          </a:lstStyle>
          <a:p xmlns:a="http://schemas.openxmlformats.org/drawingml/2006/main">
            <a:pPr>
              <a:defRPr sz="2025" b="0">
                <a:solidFill>
                  <a:srgbClr val="241C27"/>
                </a:solidFill>
                <a:latin typeface="Arial"/>
                <a:ea typeface="Arial"/>
                <a:cs typeface="Arial"/>
              </a:defRPr>
            </a:pPr>
            <a:r>
              <a:rPr sz="2025" b="0">
                <a:solidFill>
                  <a:srgbClr val="241C27"/>
                </a:solidFill>
                <a:latin typeface="Arial"/>
                <a:ea typeface="Arial"/>
                <a:cs typeface="Arial"/>
              </a:rPr>
              <a:t>Compare direct and wrapper migration call paths.</a:t>
            </a:r>
          </a:p>
        </p:txBody>
      </p:sp>
      <p:sp>
        <p:nvSpPr>
          <p:cNvPr id="7" name="">
            <a:extLst xmlns:a="http://schemas.openxmlformats.org/drawingml/2006/main">
              <a:ext uri="{FF2B5EF4-FFF2-40B4-BE49-F238E27FC236}">
                <a16:creationId xmlns:a16="http://schemas.microsoft.com/office/drawing/2014/main" id="{1D5E1889-A7AD-44EC-8D54-98AB0CED7EB1}"/>
              </a:ext>
            </a:extLst>
          </p:cNvPr>
          <p:cNvSpPr>
            <a:spLocks xmlns:a="http://schemas.openxmlformats.org/drawingml/2006/main" noGrp="1"/>
          </p:cNvSpPr>
          <p:nvPr/>
        </p:nvSpPr>
        <p:spPr>
          <a:xfrm xmlns:a="http://schemas.openxmlformats.org/drawingml/2006/main">
            <a:off x="609600" y="2486025"/>
            <a:ext cx="628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C85230"/>
                </a:solidFill>
                <a:latin typeface="Arial"/>
                <a:ea typeface="Arial"/>
                <a:cs typeface="Arial"/>
              </a:defRPr>
            </a:defPPr>
          </a:lstStyle>
          <a:p xmlns:a="http://schemas.openxmlformats.org/drawingml/2006/main">
            <a:pPr>
              <a:defRPr sz="3075" b="1">
                <a:solidFill>
                  <a:srgbClr val="C85230"/>
                </a:solidFill>
                <a:latin typeface="Arial"/>
                <a:ea typeface="Arial"/>
                <a:cs typeface="Arial"/>
              </a:defRPr>
            </a:pPr>
            <a:r>
              <a:rPr sz="3075" b="1">
                <a:solidFill>
                  <a:srgbClr val="C85230"/>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85471668-FB90-4E2F-8015-141173791778}"/>
              </a:ext>
            </a:extLst>
          </p:cNvPr>
          <p:cNvSpPr>
            <a:spLocks xmlns:a="http://schemas.openxmlformats.org/drawingml/2006/main" noGrp="1"/>
          </p:cNvSpPr>
          <p:nvPr/>
        </p:nvSpPr>
        <p:spPr>
          <a:xfrm xmlns:a="http://schemas.openxmlformats.org/drawingml/2006/main">
            <a:off x="1524000" y="2495550"/>
            <a:ext cx="2238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56334C"/>
                </a:solidFill>
                <a:latin typeface="Arial"/>
                <a:ea typeface="Arial"/>
                <a:cs typeface="Arial"/>
              </a:defRPr>
            </a:defPPr>
          </a:lstStyle>
          <a:p xmlns:a="http://schemas.openxmlformats.org/drawingml/2006/main">
            <a:pPr>
              <a:defRPr sz="2175" b="1">
                <a:solidFill>
                  <a:srgbClr val="56334C"/>
                </a:solidFill>
                <a:latin typeface="Arial"/>
                <a:ea typeface="Arial"/>
                <a:cs typeface="Arial"/>
              </a:defRPr>
            </a:pPr>
            <a:r>
              <a:rPr sz="2175" b="1">
                <a:solidFill>
                  <a:srgbClr val="56334C"/>
                </a:solidFill>
                <a:latin typeface="Arial"/>
                <a:ea typeface="Arial"/>
                <a:cs typeface="Arial"/>
              </a:rPr>
              <a:t>Measure</a:t>
            </a:r>
          </a:p>
        </p:txBody>
      </p:sp>
      <p:sp>
        <p:nvSpPr>
          <p:cNvPr id="9" name="">
            <a:extLst xmlns:a="http://schemas.openxmlformats.org/drawingml/2006/main">
              <a:ext uri="{FF2B5EF4-FFF2-40B4-BE49-F238E27FC236}">
                <a16:creationId xmlns:a16="http://schemas.microsoft.com/office/drawing/2014/main" id="{6C3A1A13-5F35-4EFC-98BB-7F71F1110985}"/>
              </a:ext>
            </a:extLst>
          </p:cNvPr>
          <p:cNvSpPr>
            <a:spLocks xmlns:a="http://schemas.openxmlformats.org/drawingml/2006/main" noGrp="1"/>
          </p:cNvSpPr>
          <p:nvPr/>
        </p:nvSpPr>
        <p:spPr>
          <a:xfrm xmlns:a="http://schemas.openxmlformats.org/drawingml/2006/main">
            <a:off x="3810000" y="2505075"/>
            <a:ext cx="76009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41C27"/>
                </a:solidFill>
                <a:latin typeface="Arial"/>
                <a:ea typeface="Arial"/>
                <a:cs typeface="Arial"/>
              </a:defRPr>
            </a:defPPr>
          </a:lstStyle>
          <a:p xmlns:a="http://schemas.openxmlformats.org/drawingml/2006/main">
            <a:pPr>
              <a:defRPr sz="2025" b="0">
                <a:solidFill>
                  <a:srgbClr val="241C27"/>
                </a:solidFill>
                <a:latin typeface="Arial"/>
                <a:ea typeface="Arial"/>
                <a:cs typeface="Arial"/>
              </a:defRPr>
            </a:pPr>
            <a:r>
              <a:rPr sz="2025" b="0">
                <a:solidFill>
                  <a:srgbClr val="241C27"/>
                </a:solidFill>
                <a:latin typeface="Arial"/>
                <a:ea typeface="Arial"/>
                <a:cs typeface="Arial"/>
              </a:rPr>
              <a:t>Record intervals, kernel-code contributions and calls.</a:t>
            </a:r>
          </a:p>
        </p:txBody>
      </p:sp>
      <p:sp>
        <p:nvSpPr>
          <p:cNvPr id="10" name="">
            <a:extLst xmlns:a="http://schemas.openxmlformats.org/drawingml/2006/main">
              <a:ext uri="{FF2B5EF4-FFF2-40B4-BE49-F238E27FC236}">
                <a16:creationId xmlns:a16="http://schemas.microsoft.com/office/drawing/2014/main" id="{19CE0250-F556-4A49-BC09-16900DC6209D}"/>
              </a:ext>
            </a:extLst>
          </p:cNvPr>
          <p:cNvSpPr>
            <a:spLocks xmlns:a="http://schemas.openxmlformats.org/drawingml/2006/main" noGrp="1"/>
          </p:cNvSpPr>
          <p:nvPr/>
        </p:nvSpPr>
        <p:spPr>
          <a:xfrm xmlns:a="http://schemas.openxmlformats.org/drawingml/2006/main">
            <a:off x="609600" y="3352800"/>
            <a:ext cx="628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C85230"/>
                </a:solidFill>
                <a:latin typeface="Arial"/>
                <a:ea typeface="Arial"/>
                <a:cs typeface="Arial"/>
              </a:defRPr>
            </a:defPPr>
          </a:lstStyle>
          <a:p xmlns:a="http://schemas.openxmlformats.org/drawingml/2006/main">
            <a:pPr>
              <a:defRPr sz="3075" b="1">
                <a:solidFill>
                  <a:srgbClr val="C85230"/>
                </a:solidFill>
                <a:latin typeface="Arial"/>
                <a:ea typeface="Arial"/>
                <a:cs typeface="Arial"/>
              </a:defRPr>
            </a:pPr>
            <a:r>
              <a:rPr sz="3075" b="1">
                <a:solidFill>
                  <a:srgbClr val="C85230"/>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3FE9625B-0B71-49D2-9878-6453837F42E2}"/>
              </a:ext>
            </a:extLst>
          </p:cNvPr>
          <p:cNvSpPr>
            <a:spLocks xmlns:a="http://schemas.openxmlformats.org/drawingml/2006/main" noGrp="1"/>
          </p:cNvSpPr>
          <p:nvPr/>
        </p:nvSpPr>
        <p:spPr>
          <a:xfrm xmlns:a="http://schemas.openxmlformats.org/drawingml/2006/main">
            <a:off x="1524000" y="3362325"/>
            <a:ext cx="2238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56334C"/>
                </a:solidFill>
                <a:latin typeface="Arial"/>
                <a:ea typeface="Arial"/>
                <a:cs typeface="Arial"/>
              </a:defRPr>
            </a:defPPr>
          </a:lstStyle>
          <a:p xmlns:a="http://schemas.openxmlformats.org/drawingml/2006/main">
            <a:pPr>
              <a:defRPr sz="2175" b="1">
                <a:solidFill>
                  <a:srgbClr val="56334C"/>
                </a:solidFill>
                <a:latin typeface="Arial"/>
                <a:ea typeface="Arial"/>
                <a:cs typeface="Arial"/>
              </a:defRPr>
            </a:pPr>
            <a:r>
              <a:rPr sz="2175" b="1">
                <a:solidFill>
                  <a:srgbClr val="56334C"/>
                </a:solidFill>
                <a:latin typeface="Arial"/>
                <a:ea typeface="Arial"/>
                <a:cs typeface="Arial"/>
              </a:rPr>
              <a:t>Compare</a:t>
            </a:r>
          </a:p>
        </p:txBody>
      </p:sp>
      <p:sp>
        <p:nvSpPr>
          <p:cNvPr id="12" name="">
            <a:extLst xmlns:a="http://schemas.openxmlformats.org/drawingml/2006/main">
              <a:ext uri="{FF2B5EF4-FFF2-40B4-BE49-F238E27FC236}">
                <a16:creationId xmlns:a16="http://schemas.microsoft.com/office/drawing/2014/main" id="{B3729BCC-BF03-4B48-985A-F828354F836F}"/>
              </a:ext>
            </a:extLst>
          </p:cNvPr>
          <p:cNvSpPr>
            <a:spLocks xmlns:a="http://schemas.openxmlformats.org/drawingml/2006/main" noGrp="1"/>
          </p:cNvSpPr>
          <p:nvPr/>
        </p:nvSpPr>
        <p:spPr>
          <a:xfrm xmlns:a="http://schemas.openxmlformats.org/drawingml/2006/main">
            <a:off x="3810000" y="3371850"/>
            <a:ext cx="76009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41C27"/>
                </a:solidFill>
                <a:latin typeface="Arial"/>
                <a:ea typeface="Arial"/>
                <a:cs typeface="Arial"/>
              </a:defRPr>
            </a:defPPr>
          </a:lstStyle>
          <a:p xmlns:a="http://schemas.openxmlformats.org/drawingml/2006/main">
            <a:pPr>
              <a:defRPr sz="2025" b="0">
                <a:solidFill>
                  <a:srgbClr val="241C27"/>
                </a:solidFill>
                <a:latin typeface="Arial"/>
                <a:ea typeface="Arial"/>
                <a:cs typeface="Arial"/>
              </a:defRPr>
            </a:pPr>
            <a:r>
              <a:rPr sz="2025" b="0">
                <a:solidFill>
                  <a:srgbClr val="241C27"/>
                </a:solidFill>
                <a:latin typeface="Arial"/>
                <a:ea typeface="Arial"/>
                <a:cs typeface="Arial"/>
              </a:rPr>
              <a:t>Assess performance and shared kernel requirements.</a:t>
            </a:r>
          </a:p>
        </p:txBody>
      </p:sp>
      <p:sp>
        <p:nvSpPr>
          <p:cNvPr id="13" name="">
            <a:extLst xmlns:a="http://schemas.openxmlformats.org/drawingml/2006/main">
              <a:ext uri="{FF2B5EF4-FFF2-40B4-BE49-F238E27FC236}">
                <a16:creationId xmlns:a16="http://schemas.microsoft.com/office/drawing/2014/main" id="{80DA020A-C8B5-4A44-B578-4A2862698F39}"/>
              </a:ext>
            </a:extLst>
          </p:cNvPr>
          <p:cNvSpPr>
            <a:spLocks xmlns:a="http://schemas.openxmlformats.org/drawingml/2006/main" noGrp="1"/>
          </p:cNvSpPr>
          <p:nvPr/>
        </p:nvSpPr>
        <p:spPr>
          <a:xfrm xmlns:a="http://schemas.openxmlformats.org/drawingml/2006/main">
            <a:off x="609600" y="4219575"/>
            <a:ext cx="628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C85230"/>
                </a:solidFill>
                <a:latin typeface="Arial"/>
                <a:ea typeface="Arial"/>
                <a:cs typeface="Arial"/>
              </a:defRPr>
            </a:defPPr>
          </a:lstStyle>
          <a:p xmlns:a="http://schemas.openxmlformats.org/drawingml/2006/main">
            <a:pPr>
              <a:defRPr sz="3075" b="1">
                <a:solidFill>
                  <a:srgbClr val="C85230"/>
                </a:solidFill>
                <a:latin typeface="Arial"/>
                <a:ea typeface="Arial"/>
                <a:cs typeface="Arial"/>
              </a:defRPr>
            </a:pPr>
            <a:r>
              <a:rPr sz="3075" b="1">
                <a:solidFill>
                  <a:srgbClr val="C85230"/>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7CA4E26D-0C24-4FD8-9C1F-3B8F2C668B8C}"/>
              </a:ext>
            </a:extLst>
          </p:cNvPr>
          <p:cNvSpPr>
            <a:spLocks xmlns:a="http://schemas.openxmlformats.org/drawingml/2006/main" noGrp="1"/>
          </p:cNvSpPr>
          <p:nvPr/>
        </p:nvSpPr>
        <p:spPr>
          <a:xfrm xmlns:a="http://schemas.openxmlformats.org/drawingml/2006/main">
            <a:off x="1524000" y="4229100"/>
            <a:ext cx="2238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56334C"/>
                </a:solidFill>
                <a:latin typeface="Arial"/>
                <a:ea typeface="Arial"/>
                <a:cs typeface="Arial"/>
              </a:defRPr>
            </a:defPPr>
          </a:lstStyle>
          <a:p xmlns:a="http://schemas.openxmlformats.org/drawingml/2006/main">
            <a:pPr>
              <a:defRPr sz="2175" b="1">
                <a:solidFill>
                  <a:srgbClr val="56334C"/>
                </a:solidFill>
                <a:latin typeface="Arial"/>
                <a:ea typeface="Arial"/>
                <a:cs typeface="Arial"/>
              </a:defRPr>
            </a:pPr>
            <a:r>
              <a:rPr sz="2175" b="1">
                <a:solidFill>
                  <a:srgbClr val="56334C"/>
                </a:solidFill>
                <a:latin typeface="Arial"/>
                <a:ea typeface="Arial"/>
                <a:cs typeface="Arial"/>
              </a:rPr>
              <a:t>Reassess</a:t>
            </a:r>
          </a:p>
        </p:txBody>
      </p:sp>
      <p:sp>
        <p:nvSpPr>
          <p:cNvPr id="15" name="">
            <a:extLst xmlns:a="http://schemas.openxmlformats.org/drawingml/2006/main">
              <a:ext uri="{FF2B5EF4-FFF2-40B4-BE49-F238E27FC236}">
                <a16:creationId xmlns:a16="http://schemas.microsoft.com/office/drawing/2014/main" id="{DF8165C5-5B57-4568-AB9B-32AF1A416E45}"/>
              </a:ext>
            </a:extLst>
          </p:cNvPr>
          <p:cNvSpPr>
            <a:spLocks xmlns:a="http://schemas.openxmlformats.org/drawingml/2006/main" noGrp="1"/>
          </p:cNvSpPr>
          <p:nvPr/>
        </p:nvSpPr>
        <p:spPr>
          <a:xfrm xmlns:a="http://schemas.openxmlformats.org/drawingml/2006/main">
            <a:off x="3810000" y="4238625"/>
            <a:ext cx="76009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41C27"/>
                </a:solidFill>
                <a:latin typeface="Arial"/>
                <a:ea typeface="Arial"/>
                <a:cs typeface="Arial"/>
              </a:defRPr>
            </a:defPPr>
          </a:lstStyle>
          <a:p xmlns:a="http://schemas.openxmlformats.org/drawingml/2006/main">
            <a:pPr>
              <a:defRPr sz="2025" b="0">
                <a:solidFill>
                  <a:srgbClr val="241C27"/>
                </a:solidFill>
                <a:latin typeface="Arial"/>
                <a:ea typeface="Arial"/>
                <a:cs typeface="Arial"/>
              </a:defRPr>
            </a:pPr>
            <a:r>
              <a:rPr sz="2025" b="0">
                <a:solidFill>
                  <a:srgbClr val="241C27"/>
                </a:solidFill>
                <a:latin typeface="Arial"/>
                <a:ea typeface="Arial"/>
                <a:cs typeface="Arial"/>
              </a:rPr>
              <a:t>Revisit the 1993 finding and 1999 adoption barriers.</a:t>
            </a:r>
          </a:p>
        </p:txBody>
      </p:sp>
      <p:sp>
        <p:nvSpPr>
          <p:cNvPr id="16" name="">
            <a:extLst xmlns:a="http://schemas.openxmlformats.org/drawingml/2006/main">
              <a:ext uri="{FF2B5EF4-FFF2-40B4-BE49-F238E27FC236}">
                <a16:creationId xmlns:a16="http://schemas.microsoft.com/office/drawing/2014/main" id="{EA853158-7A11-4E4C-B190-F868771C920D}"/>
              </a:ext>
            </a:extLst>
          </p:cNvPr>
          <p:cNvSpPr>
            <a:spLocks xmlns:a="http://schemas.openxmlformats.org/drawingml/2006/main" noGrp="1"/>
          </p:cNvSpPr>
          <p:nvPr/>
        </p:nvSpPr>
        <p:spPr>
          <a:xfrm xmlns:a="http://schemas.openxmlformats.org/drawingml/2006/main">
            <a:off x="609600" y="5086350"/>
            <a:ext cx="628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C85230"/>
                </a:solidFill>
                <a:latin typeface="Arial"/>
                <a:ea typeface="Arial"/>
                <a:cs typeface="Arial"/>
              </a:defRPr>
            </a:defPPr>
          </a:lstStyle>
          <a:p xmlns:a="http://schemas.openxmlformats.org/drawingml/2006/main">
            <a:pPr>
              <a:defRPr sz="3075" b="1">
                <a:solidFill>
                  <a:srgbClr val="C85230"/>
                </a:solidFill>
                <a:latin typeface="Arial"/>
                <a:ea typeface="Arial"/>
                <a:cs typeface="Arial"/>
              </a:defRPr>
            </a:pPr>
            <a:r>
              <a:rPr sz="3075" b="1">
                <a:solidFill>
                  <a:srgbClr val="C85230"/>
                </a:solidFill>
                <a:latin typeface="Arial"/>
                <a:ea typeface="Arial"/>
                <a:cs typeface="Arial"/>
              </a:rPr>
              <a:t>05</a:t>
            </a:r>
          </a:p>
        </p:txBody>
      </p:sp>
      <p:sp>
        <p:nvSpPr>
          <p:cNvPr id="17" name="">
            <a:extLst xmlns:a="http://schemas.openxmlformats.org/drawingml/2006/main">
              <a:ext uri="{FF2B5EF4-FFF2-40B4-BE49-F238E27FC236}">
                <a16:creationId xmlns:a16="http://schemas.microsoft.com/office/drawing/2014/main" id="{36CE05C8-A374-4344-8661-282C9BC883A8}"/>
              </a:ext>
            </a:extLst>
          </p:cNvPr>
          <p:cNvSpPr>
            <a:spLocks xmlns:a="http://schemas.openxmlformats.org/drawingml/2006/main" noGrp="1"/>
          </p:cNvSpPr>
          <p:nvPr/>
        </p:nvSpPr>
        <p:spPr>
          <a:xfrm xmlns:a="http://schemas.openxmlformats.org/drawingml/2006/main">
            <a:off x="1524000" y="5095875"/>
            <a:ext cx="2238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56334C"/>
                </a:solidFill>
                <a:latin typeface="Arial"/>
                <a:ea typeface="Arial"/>
                <a:cs typeface="Arial"/>
              </a:defRPr>
            </a:defPPr>
          </a:lstStyle>
          <a:p xmlns:a="http://schemas.openxmlformats.org/drawingml/2006/main">
            <a:pPr>
              <a:defRPr sz="2175" b="1">
                <a:solidFill>
                  <a:srgbClr val="56334C"/>
                </a:solidFill>
                <a:latin typeface="Arial"/>
                <a:ea typeface="Arial"/>
                <a:cs typeface="Arial"/>
              </a:defRPr>
            </a:pPr>
            <a:r>
              <a:rPr sz="2175" b="1">
                <a:solidFill>
                  <a:srgbClr val="56334C"/>
                </a:solidFill>
                <a:latin typeface="Arial"/>
                <a:ea typeface="Arial"/>
                <a:cs typeface="Arial"/>
              </a:rPr>
              <a:t>Reproduce</a:t>
            </a:r>
          </a:p>
        </p:txBody>
      </p:sp>
      <p:sp>
        <p:nvSpPr>
          <p:cNvPr id="18" name="">
            <a:extLst xmlns:a="http://schemas.openxmlformats.org/drawingml/2006/main">
              <a:ext uri="{FF2B5EF4-FFF2-40B4-BE49-F238E27FC236}">
                <a16:creationId xmlns:a16="http://schemas.microsoft.com/office/drawing/2014/main" id="{1F8602B3-5663-4222-A3C0-D601CA0175B6}"/>
              </a:ext>
            </a:extLst>
          </p:cNvPr>
          <p:cNvSpPr>
            <a:spLocks xmlns:a="http://schemas.openxmlformats.org/drawingml/2006/main" noGrp="1"/>
          </p:cNvSpPr>
          <p:nvPr/>
        </p:nvSpPr>
        <p:spPr>
          <a:xfrm xmlns:a="http://schemas.openxmlformats.org/drawingml/2006/main">
            <a:off x="3810000" y="5105400"/>
            <a:ext cx="76009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41C27"/>
                </a:solidFill>
                <a:latin typeface="Arial"/>
                <a:ea typeface="Arial"/>
                <a:cs typeface="Arial"/>
              </a:defRPr>
            </a:defPPr>
          </a:lstStyle>
          <a:p xmlns:a="http://schemas.openxmlformats.org/drawingml/2006/main">
            <a:pPr>
              <a:defRPr sz="2025" b="0">
                <a:solidFill>
                  <a:srgbClr val="241C27"/>
                </a:solidFill>
                <a:latin typeface="Arial"/>
                <a:ea typeface="Arial"/>
                <a:cs typeface="Arial"/>
              </a:defRPr>
            </a:pPr>
            <a:r>
              <a:rPr sz="2025" b="0">
                <a:solidFill>
                  <a:srgbClr val="241C27"/>
                </a:solidFill>
                <a:latin typeface="Arial"/>
                <a:ea typeface="Arial"/>
                <a:cs typeface="Arial"/>
              </a:rPr>
              <a:t>Provide source code, raw data and runnable benchmarks.</a:t>
            </a:r>
          </a:p>
        </p:txBody>
      </p:sp>
    </p:spTree>
    <p:extLst>
      <p:ext uri="{BB962C8B-B14F-4D97-AF65-F5344CB8AC3E}">
        <p14:creationId xmlns:p14="http://schemas.microsoft.com/office/powerpoint/2010/main" val="90147735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A38F098-F8A2-4ED0-9DE0-F8E831BAB0A5}"/>
              </a:ext>
            </a:extLst>
          </p:cNvPr>
          <p:cNvSpPr>
            <a:spLocks xmlns:a="http://schemas.openxmlformats.org/drawingml/2006/main" noGrp="1"/>
          </p:cNvSpPr>
          <p:nvPr/>
        </p:nvSpPr>
        <p:spPr>
          <a:xfrm xmlns:a="http://schemas.openxmlformats.org/drawingml/2006/main">
            <a:off x="609600" y="400050"/>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41C27"/>
                </a:solidFill>
                <a:latin typeface="Arial"/>
                <a:ea typeface="Arial"/>
                <a:cs typeface="Arial"/>
              </a:defRPr>
            </a:defPPr>
          </a:lstStyle>
          <a:p xmlns:a="http://schemas.openxmlformats.org/drawingml/2006/main">
            <a:pPr>
              <a:defRPr sz="3300" b="1">
                <a:solidFill>
                  <a:srgbClr val="241C27"/>
                </a:solidFill>
                <a:latin typeface="Arial"/>
                <a:ea typeface="Arial"/>
                <a:cs typeface="Arial"/>
              </a:defRPr>
            </a:pPr>
            <a:r>
              <a:rPr sz="3300" b="1">
                <a:solidFill>
                  <a:srgbClr val="241C27"/>
                </a:solidFill>
                <a:latin typeface="Arial"/>
                <a:ea typeface="Arial"/>
                <a:cs typeface="Arial"/>
              </a:rPr>
              <a:t>How the implementation developed</a:t>
            </a:r>
          </a:p>
        </p:txBody>
      </p:sp>
      <p:sp>
        <p:nvSpPr>
          <p:cNvPr id="2" name="">
            <a:extLst xmlns:a="http://schemas.openxmlformats.org/drawingml/2006/main">
              <a:ext uri="{FF2B5EF4-FFF2-40B4-BE49-F238E27FC236}">
                <a16:creationId xmlns:a16="http://schemas.microsoft.com/office/drawing/2014/main" id="{3C3189DD-2EDA-431C-A45C-9375253A659E}"/>
              </a:ext>
            </a:extLst>
          </p:cNvPr>
          <p:cNvSpPr>
            <a:spLocks xmlns:a="http://schemas.openxmlformats.org/drawingml/2006/main" noGrp="1"/>
          </p:cNvSpPr>
          <p:nvPr/>
        </p:nvSpPr>
        <p:spPr>
          <a:xfrm xmlns:a="http://schemas.openxmlformats.org/drawingml/2006/main">
            <a:off x="11239500" y="641032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4606A"/>
                </a:solidFill>
                <a:latin typeface="Arial"/>
                <a:ea typeface="Arial"/>
                <a:cs typeface="Arial"/>
              </a:defRPr>
            </a:defPPr>
          </a:lstStyle>
          <a:p xmlns:a="http://schemas.openxmlformats.org/drawingml/2006/main">
            <a:pPr>
              <a:defRPr sz="1125" b="0">
                <a:solidFill>
                  <a:srgbClr val="64606A"/>
                </a:solidFill>
                <a:latin typeface="Arial"/>
                <a:ea typeface="Arial"/>
                <a:cs typeface="Arial"/>
              </a:defRPr>
            </a:pPr>
            <a:r>
              <a:rPr sz="1125" b="0">
                <a:solidFill>
                  <a:srgbClr val="64606A"/>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71322CFC-0653-4DB5-9D34-EA86147D6673}"/>
              </a:ext>
            </a:extLst>
          </p:cNvPr>
          <p:cNvSpPr>
            <a:spLocks xmlns:a="http://schemas.openxmlformats.org/drawingml/2006/main" noGrp="1"/>
          </p:cNvSpPr>
          <p:nvPr/>
        </p:nvSpPr>
        <p:spPr>
          <a:xfrm xmlns:a="http://schemas.openxmlformats.org/drawingml/2006/main">
            <a:off x="609600" y="633412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4606A"/>
                </a:solidFill>
                <a:latin typeface="Arial"/>
                <a:ea typeface="Arial"/>
                <a:cs typeface="Arial"/>
              </a:defRPr>
            </a:defPPr>
          </a:lstStyle>
          <a:p xmlns:a="http://schemas.openxmlformats.org/drawingml/2006/main">
            <a:pPr>
              <a:defRPr sz="1125" b="0">
                <a:solidFill>
                  <a:srgbClr val="64606A"/>
                </a:solidFill>
                <a:latin typeface="Arial"/>
                <a:ea typeface="Arial"/>
                <a:cs typeface="Arial"/>
              </a:defRPr>
            </a:pPr>
            <a:r>
              <a:rPr sz="1125" b="0">
                <a:solidFill>
                  <a:srgbClr val="64606A"/>
                </a:solidFill>
                <a:latin typeface="Arial"/>
                <a:ea typeface="Arial"/>
                <a:cs typeface="Arial"/>
              </a:rPr>
              <a:t>Report §§5.2.1–5.2.9. Repository contribution log: docs/changes.md.</a:t>
            </a:r>
          </a:p>
        </p:txBody>
      </p:sp>
      <p:sp>
        <p:nvSpPr>
          <p:cNvPr id="4" name="">
            <a:extLst xmlns:a="http://schemas.openxmlformats.org/drawingml/2006/main">
              <a:ext uri="{FF2B5EF4-FFF2-40B4-BE49-F238E27FC236}">
                <a16:creationId xmlns:a16="http://schemas.microsoft.com/office/drawing/2014/main" id="{A93CD381-66A0-44BB-B1D8-6D1E44085746}"/>
              </a:ext>
            </a:extLst>
          </p:cNvPr>
          <p:cNvSpPr>
            <a:spLocks xmlns:a="http://schemas.openxmlformats.org/drawingml/2006/main" noGrp="1"/>
          </p:cNvSpPr>
          <p:nvPr/>
        </p:nvSpPr>
        <p:spPr>
          <a:xfrm xmlns:a="http://schemas.openxmlformats.org/drawingml/2006/main">
            <a:off x="609600" y="1571625"/>
            <a:ext cx="533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C85230"/>
                </a:solidFill>
                <a:latin typeface="Arial"/>
                <a:ea typeface="Arial"/>
                <a:cs typeface="Arial"/>
              </a:defRPr>
            </a:defPPr>
          </a:lstStyle>
          <a:p xmlns:a="http://schemas.openxmlformats.org/drawingml/2006/main">
            <a:pPr>
              <a:defRPr sz="2700" b="1">
                <a:solidFill>
                  <a:srgbClr val="C85230"/>
                </a:solidFill>
                <a:latin typeface="Arial"/>
                <a:ea typeface="Arial"/>
                <a:cs typeface="Arial"/>
              </a:defRPr>
            </a:pPr>
            <a:r>
              <a:rPr sz="2700" b="1">
                <a:solidFill>
                  <a:srgbClr val="C85230"/>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AA247D9E-779E-40FF-B0CD-55B3506BA39A}"/>
              </a:ext>
            </a:extLst>
          </p:cNvPr>
          <p:cNvSpPr>
            <a:spLocks xmlns:a="http://schemas.openxmlformats.org/drawingml/2006/main" noGrp="1"/>
          </p:cNvSpPr>
          <p:nvPr/>
        </p:nvSpPr>
        <p:spPr>
          <a:xfrm xmlns:a="http://schemas.openxmlformats.org/drawingml/2006/main">
            <a:off x="1371600" y="1571625"/>
            <a:ext cx="36099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56334C"/>
                </a:solidFill>
                <a:latin typeface="Arial"/>
                <a:ea typeface="Arial"/>
                <a:cs typeface="Arial"/>
              </a:defRPr>
            </a:defPPr>
          </a:lstStyle>
          <a:p xmlns:a="http://schemas.openxmlformats.org/drawingml/2006/main">
            <a:pPr>
              <a:defRPr sz="2100" b="1">
                <a:solidFill>
                  <a:srgbClr val="56334C"/>
                </a:solidFill>
                <a:latin typeface="Arial"/>
                <a:ea typeface="Arial"/>
                <a:cs typeface="Arial"/>
              </a:defRPr>
            </a:pPr>
            <a:r>
              <a:rPr sz="2100" b="1">
                <a:solidFill>
                  <a:srgbClr val="56334C"/>
                </a:solidFill>
                <a:latin typeface="Arial"/>
                <a:ea typeface="Arial"/>
                <a:cs typeface="Arial"/>
              </a:rPr>
              <a:t>Hydra scaffold</a:t>
            </a:r>
          </a:p>
        </p:txBody>
      </p:sp>
      <p:sp>
        <p:nvSpPr>
          <p:cNvPr id="6" name="">
            <a:extLst xmlns:a="http://schemas.openxmlformats.org/drawingml/2006/main">
              <a:ext uri="{FF2B5EF4-FFF2-40B4-BE49-F238E27FC236}">
                <a16:creationId xmlns:a16="http://schemas.microsoft.com/office/drawing/2014/main" id="{000C3C95-1C82-48E5-97C3-0981737F3252}"/>
              </a:ext>
            </a:extLst>
          </p:cNvPr>
          <p:cNvSpPr>
            <a:spLocks xmlns:a="http://schemas.openxmlformats.org/drawingml/2006/main" noGrp="1"/>
          </p:cNvSpPr>
          <p:nvPr/>
        </p:nvSpPr>
        <p:spPr>
          <a:xfrm xmlns:a="http://schemas.openxmlformats.org/drawingml/2006/main">
            <a:off x="5143500" y="1590675"/>
            <a:ext cx="63912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41C27"/>
                </a:solidFill>
                <a:latin typeface="Arial"/>
                <a:ea typeface="Arial"/>
                <a:cs typeface="Arial"/>
              </a:defRPr>
            </a:defPPr>
          </a:lstStyle>
          <a:p xmlns:a="http://schemas.openxmlformats.org/drawingml/2006/main">
            <a:pPr>
              <a:defRPr sz="1875" b="0">
                <a:solidFill>
                  <a:srgbClr val="241C27"/>
                </a:solidFill>
                <a:latin typeface="Arial"/>
                <a:ea typeface="Arial"/>
                <a:cs typeface="Arial"/>
              </a:defRPr>
            </a:pPr>
            <a:r>
              <a:rPr sz="1875" b="0">
                <a:solidFill>
                  <a:srgbClr val="241C27"/>
                </a:solidFill>
                <a:latin typeface="Arial"/>
                <a:ea typeface="Arial"/>
                <a:cs typeface="Arial"/>
              </a:rPr>
              <a:t>Inherited the teaching kernel and application structure.</a:t>
            </a:r>
          </a:p>
        </p:txBody>
      </p:sp>
      <p:sp>
        <p:nvSpPr>
          <p:cNvPr id="7" name="">
            <a:extLst xmlns:a="http://schemas.openxmlformats.org/drawingml/2006/main">
              <a:ext uri="{FF2B5EF4-FFF2-40B4-BE49-F238E27FC236}">
                <a16:creationId xmlns:a16="http://schemas.microsoft.com/office/drawing/2014/main" id="{D10E4F62-4C9A-4EF6-93FC-94CD819AF091}"/>
              </a:ext>
            </a:extLst>
          </p:cNvPr>
          <p:cNvSpPr>
            <a:spLocks xmlns:a="http://schemas.openxmlformats.org/drawingml/2006/main" noGrp="1"/>
          </p:cNvSpPr>
          <p:nvPr/>
        </p:nvSpPr>
        <p:spPr>
          <a:xfrm xmlns:a="http://schemas.openxmlformats.org/drawingml/2006/main">
            <a:off x="609600" y="2438400"/>
            <a:ext cx="533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C85230"/>
                </a:solidFill>
                <a:latin typeface="Arial"/>
                <a:ea typeface="Arial"/>
                <a:cs typeface="Arial"/>
              </a:defRPr>
            </a:defPPr>
          </a:lstStyle>
          <a:p xmlns:a="http://schemas.openxmlformats.org/drawingml/2006/main">
            <a:pPr>
              <a:defRPr sz="2700" b="1">
                <a:solidFill>
                  <a:srgbClr val="C85230"/>
                </a:solidFill>
                <a:latin typeface="Arial"/>
                <a:ea typeface="Arial"/>
                <a:cs typeface="Arial"/>
              </a:defRPr>
            </a:pPr>
            <a:r>
              <a:rPr sz="2700" b="1">
                <a:solidFill>
                  <a:srgbClr val="C85230"/>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C7E411E1-82A8-43B4-83E5-F42D721D3210}"/>
              </a:ext>
            </a:extLst>
          </p:cNvPr>
          <p:cNvSpPr>
            <a:spLocks xmlns:a="http://schemas.openxmlformats.org/drawingml/2006/main" noGrp="1"/>
          </p:cNvSpPr>
          <p:nvPr/>
        </p:nvSpPr>
        <p:spPr>
          <a:xfrm xmlns:a="http://schemas.openxmlformats.org/drawingml/2006/main">
            <a:off x="1371600" y="2438400"/>
            <a:ext cx="36099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56334C"/>
                </a:solidFill>
                <a:latin typeface="Arial"/>
                <a:ea typeface="Arial"/>
                <a:cs typeface="Arial"/>
              </a:defRPr>
            </a:defPPr>
          </a:lstStyle>
          <a:p xmlns:a="http://schemas.openxmlformats.org/drawingml/2006/main">
            <a:pPr>
              <a:defRPr sz="2100" b="1">
                <a:solidFill>
                  <a:srgbClr val="56334C"/>
                </a:solidFill>
                <a:latin typeface="Arial"/>
                <a:ea typeface="Arial"/>
                <a:cs typeface="Arial"/>
              </a:defRPr>
            </a:pPr>
            <a:r>
              <a:rPr sz="2100" b="1">
                <a:solidFill>
                  <a:srgbClr val="56334C"/>
                </a:solidFill>
                <a:latin typeface="Arial"/>
                <a:ea typeface="Arial"/>
                <a:cs typeface="Arial"/>
              </a:rPr>
              <a:t>Migration mechanism</a:t>
            </a:r>
          </a:p>
        </p:txBody>
      </p:sp>
      <p:sp>
        <p:nvSpPr>
          <p:cNvPr id="9" name="">
            <a:extLst xmlns:a="http://schemas.openxmlformats.org/drawingml/2006/main">
              <a:ext uri="{FF2B5EF4-FFF2-40B4-BE49-F238E27FC236}">
                <a16:creationId xmlns:a16="http://schemas.microsoft.com/office/drawing/2014/main" id="{CB149903-FF97-4521-B802-7D606F5FFE50}"/>
              </a:ext>
            </a:extLst>
          </p:cNvPr>
          <p:cNvSpPr>
            <a:spLocks xmlns:a="http://schemas.openxmlformats.org/drawingml/2006/main" noGrp="1"/>
          </p:cNvSpPr>
          <p:nvPr/>
        </p:nvSpPr>
        <p:spPr>
          <a:xfrm xmlns:a="http://schemas.openxmlformats.org/drawingml/2006/main">
            <a:off x="5143500" y="2457450"/>
            <a:ext cx="63912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41C27"/>
                </a:solidFill>
                <a:latin typeface="Arial"/>
                <a:ea typeface="Arial"/>
                <a:cs typeface="Arial"/>
              </a:defRPr>
            </a:defPPr>
          </a:lstStyle>
          <a:p xmlns:a="http://schemas.openxmlformats.org/drawingml/2006/main">
            <a:pPr>
              <a:defRPr sz="1875" b="0">
                <a:solidFill>
                  <a:srgbClr val="241C27"/>
                </a:solidFill>
                <a:latin typeface="Arial"/>
                <a:ea typeface="Arial"/>
                <a:cs typeface="Arial"/>
              </a:defRPr>
            </a:pPr>
            <a:r>
              <a:rPr sz="1875" b="0">
                <a:solidFill>
                  <a:srgbClr val="241C27"/>
                </a:solidFill>
                <a:latin typeface="Arial"/>
                <a:ea typeface="Arial"/>
                <a:cs typeface="Arial"/>
              </a:rPr>
              <a:t>Added context/stack primitives.</a:t>
            </a:r>
          </a:p>
          <a:p xmlns:a="http://schemas.openxmlformats.org/drawingml/2006/main">
            <a:pPr>
              <a:defRPr sz="1875" b="0">
                <a:solidFill>
                  <a:srgbClr val="241C27"/>
                </a:solidFill>
                <a:latin typeface="Arial"/>
                <a:ea typeface="Arial"/>
                <a:cs typeface="Arial"/>
              </a:defRPr>
            </a:pPr>
            <a:r>
              <a:rPr sz="1875" b="0">
                <a:solidFill>
                  <a:srgbClr val="241C27"/>
                </a:solidFill>
                <a:latin typeface="Arial"/>
                <a:ea typeface="Arial"/>
                <a:cs typeface="Arial"/>
              </a:rPr>
              <a:t>393 lines in migration.c and migration.h.</a:t>
            </a:r>
          </a:p>
        </p:txBody>
      </p:sp>
      <p:sp>
        <p:nvSpPr>
          <p:cNvPr id="10" name="">
            <a:extLst xmlns:a="http://schemas.openxmlformats.org/drawingml/2006/main">
              <a:ext uri="{FF2B5EF4-FFF2-40B4-BE49-F238E27FC236}">
                <a16:creationId xmlns:a16="http://schemas.microsoft.com/office/drawing/2014/main" id="{09AED9EA-7BF1-493B-99DF-C048A82D08AD}"/>
              </a:ext>
            </a:extLst>
          </p:cNvPr>
          <p:cNvSpPr>
            <a:spLocks xmlns:a="http://schemas.openxmlformats.org/drawingml/2006/main" noGrp="1"/>
          </p:cNvSpPr>
          <p:nvPr/>
        </p:nvSpPr>
        <p:spPr>
          <a:xfrm xmlns:a="http://schemas.openxmlformats.org/drawingml/2006/main">
            <a:off x="609600" y="3305175"/>
            <a:ext cx="533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C85230"/>
                </a:solidFill>
                <a:latin typeface="Arial"/>
                <a:ea typeface="Arial"/>
                <a:cs typeface="Arial"/>
              </a:defRPr>
            </a:defPPr>
          </a:lstStyle>
          <a:p xmlns:a="http://schemas.openxmlformats.org/drawingml/2006/main">
            <a:pPr>
              <a:defRPr sz="2700" b="1">
                <a:solidFill>
                  <a:srgbClr val="C85230"/>
                </a:solidFill>
                <a:latin typeface="Arial"/>
                <a:ea typeface="Arial"/>
                <a:cs typeface="Arial"/>
              </a:defRPr>
            </a:pPr>
            <a:r>
              <a:rPr sz="2700" b="1">
                <a:solidFill>
                  <a:srgbClr val="C85230"/>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F0C89575-3F42-4FBD-8225-7822E531CECB}"/>
              </a:ext>
            </a:extLst>
          </p:cNvPr>
          <p:cNvSpPr>
            <a:spLocks xmlns:a="http://schemas.openxmlformats.org/drawingml/2006/main" noGrp="1"/>
          </p:cNvSpPr>
          <p:nvPr/>
        </p:nvSpPr>
        <p:spPr>
          <a:xfrm xmlns:a="http://schemas.openxmlformats.org/drawingml/2006/main">
            <a:off x="1371600" y="3305175"/>
            <a:ext cx="36099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56334C"/>
                </a:solidFill>
                <a:latin typeface="Arial"/>
                <a:ea typeface="Arial"/>
                <a:cs typeface="Arial"/>
              </a:defRPr>
            </a:defPPr>
          </a:lstStyle>
          <a:p xmlns:a="http://schemas.openxmlformats.org/drawingml/2006/main">
            <a:pPr>
              <a:defRPr sz="2100" b="1">
                <a:solidFill>
                  <a:srgbClr val="56334C"/>
                </a:solidFill>
                <a:latin typeface="Arial"/>
                <a:ea typeface="Arial"/>
                <a:cs typeface="Arial"/>
              </a:defRPr>
            </a:pPr>
            <a:r>
              <a:rPr sz="2100" b="1">
                <a:solidFill>
                  <a:srgbClr val="56334C"/>
                </a:solidFill>
                <a:latin typeface="Arial"/>
                <a:ea typeface="Arial"/>
                <a:cs typeface="Arial"/>
              </a:rPr>
              <a:t>Repeatable execution</a:t>
            </a:r>
          </a:p>
        </p:txBody>
      </p:sp>
      <p:sp>
        <p:nvSpPr>
          <p:cNvPr id="12" name="">
            <a:extLst xmlns:a="http://schemas.openxmlformats.org/drawingml/2006/main">
              <a:ext uri="{FF2B5EF4-FFF2-40B4-BE49-F238E27FC236}">
                <a16:creationId xmlns:a16="http://schemas.microsoft.com/office/drawing/2014/main" id="{A5EA8B4D-0668-44D8-B1CF-0CD6864B7CD1}"/>
              </a:ext>
            </a:extLst>
          </p:cNvPr>
          <p:cNvSpPr>
            <a:spLocks xmlns:a="http://schemas.openxmlformats.org/drawingml/2006/main" noGrp="1"/>
          </p:cNvSpPr>
          <p:nvPr/>
        </p:nvSpPr>
        <p:spPr>
          <a:xfrm xmlns:a="http://schemas.openxmlformats.org/drawingml/2006/main">
            <a:off x="5143500" y="3324225"/>
            <a:ext cx="63912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41C27"/>
                </a:solidFill>
                <a:latin typeface="Arial"/>
                <a:ea typeface="Arial"/>
                <a:cs typeface="Arial"/>
              </a:defRPr>
            </a:defPPr>
          </a:lstStyle>
          <a:p xmlns:a="http://schemas.openxmlformats.org/drawingml/2006/main">
            <a:pPr>
              <a:defRPr sz="1875" b="0">
                <a:solidFill>
                  <a:srgbClr val="241C27"/>
                </a:solidFill>
                <a:latin typeface="Arial"/>
                <a:ea typeface="Arial"/>
                <a:cs typeface="Arial"/>
              </a:defRPr>
            </a:pPr>
            <a:r>
              <a:rPr sz="1875" b="0">
                <a:solidFill>
                  <a:srgbClr val="241C27"/>
                </a:solidFill>
                <a:latin typeface="Arial"/>
                <a:ea typeface="Arial"/>
                <a:cs typeface="Arial"/>
              </a:rPr>
              <a:t>Fixed task-slot reuse and the frozen startup counter.</a:t>
            </a:r>
          </a:p>
        </p:txBody>
      </p:sp>
      <p:sp>
        <p:nvSpPr>
          <p:cNvPr id="13" name="">
            <a:extLst xmlns:a="http://schemas.openxmlformats.org/drawingml/2006/main">
              <a:ext uri="{FF2B5EF4-FFF2-40B4-BE49-F238E27FC236}">
                <a16:creationId xmlns:a16="http://schemas.microsoft.com/office/drawing/2014/main" id="{A053698A-99E1-4C8F-97A8-A46425E11155}"/>
              </a:ext>
            </a:extLst>
          </p:cNvPr>
          <p:cNvSpPr>
            <a:spLocks xmlns:a="http://schemas.openxmlformats.org/drawingml/2006/main" noGrp="1"/>
          </p:cNvSpPr>
          <p:nvPr/>
        </p:nvSpPr>
        <p:spPr>
          <a:xfrm xmlns:a="http://schemas.openxmlformats.org/drawingml/2006/main">
            <a:off x="609600" y="4171950"/>
            <a:ext cx="533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C85230"/>
                </a:solidFill>
                <a:latin typeface="Arial"/>
                <a:ea typeface="Arial"/>
                <a:cs typeface="Arial"/>
              </a:defRPr>
            </a:defPPr>
          </a:lstStyle>
          <a:p xmlns:a="http://schemas.openxmlformats.org/drawingml/2006/main">
            <a:pPr>
              <a:defRPr sz="2700" b="1">
                <a:solidFill>
                  <a:srgbClr val="C85230"/>
                </a:solidFill>
                <a:latin typeface="Arial"/>
                <a:ea typeface="Arial"/>
                <a:cs typeface="Arial"/>
              </a:defRPr>
            </a:pPr>
            <a:r>
              <a:rPr sz="2700" b="1">
                <a:solidFill>
                  <a:srgbClr val="C85230"/>
                </a:solidFill>
                <a:latin typeface="Arial"/>
                <a:ea typeface="Arial"/>
                <a:cs typeface="Arial"/>
              </a:rPr>
              <a:t>4</a:t>
            </a:r>
          </a:p>
        </p:txBody>
      </p:sp>
      <p:sp>
        <p:nvSpPr>
          <p:cNvPr id="14" name="">
            <a:extLst xmlns:a="http://schemas.openxmlformats.org/drawingml/2006/main">
              <a:ext uri="{FF2B5EF4-FFF2-40B4-BE49-F238E27FC236}">
                <a16:creationId xmlns:a16="http://schemas.microsoft.com/office/drawing/2014/main" id="{225EE868-5EAB-48C0-8549-BC0723D10C81}"/>
              </a:ext>
            </a:extLst>
          </p:cNvPr>
          <p:cNvSpPr>
            <a:spLocks xmlns:a="http://schemas.openxmlformats.org/drawingml/2006/main" noGrp="1"/>
          </p:cNvSpPr>
          <p:nvPr/>
        </p:nvSpPr>
        <p:spPr>
          <a:xfrm xmlns:a="http://schemas.openxmlformats.org/drawingml/2006/main">
            <a:off x="1371600" y="4171950"/>
            <a:ext cx="36099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56334C"/>
                </a:solidFill>
                <a:latin typeface="Arial"/>
                <a:ea typeface="Arial"/>
                <a:cs typeface="Arial"/>
              </a:defRPr>
            </a:defPPr>
          </a:lstStyle>
          <a:p xmlns:a="http://schemas.openxmlformats.org/drawingml/2006/main">
            <a:pPr>
              <a:defRPr sz="2100" b="1">
                <a:solidFill>
                  <a:srgbClr val="56334C"/>
                </a:solidFill>
                <a:latin typeface="Arial"/>
                <a:ea typeface="Arial"/>
                <a:cs typeface="Arial"/>
              </a:defRPr>
            </a:pPr>
            <a:r>
              <a:rPr sz="2100" b="1">
                <a:solidFill>
                  <a:srgbClr val="56334C"/>
                </a:solidFill>
                <a:latin typeface="Arial"/>
                <a:ea typeface="Arial"/>
                <a:cs typeface="Arial"/>
              </a:rPr>
              <a:t>Measurement harness</a:t>
            </a:r>
          </a:p>
        </p:txBody>
      </p:sp>
      <p:sp>
        <p:nvSpPr>
          <p:cNvPr id="15" name="">
            <a:extLst xmlns:a="http://schemas.openxmlformats.org/drawingml/2006/main">
              <a:ext uri="{FF2B5EF4-FFF2-40B4-BE49-F238E27FC236}">
                <a16:creationId xmlns:a16="http://schemas.microsoft.com/office/drawing/2014/main" id="{8E67DD3C-53A5-4362-8368-39861A9E3C0C}"/>
              </a:ext>
            </a:extLst>
          </p:cNvPr>
          <p:cNvSpPr>
            <a:spLocks xmlns:a="http://schemas.openxmlformats.org/drawingml/2006/main" noGrp="1"/>
          </p:cNvSpPr>
          <p:nvPr/>
        </p:nvSpPr>
        <p:spPr>
          <a:xfrm xmlns:a="http://schemas.openxmlformats.org/drawingml/2006/main">
            <a:off x="5143500" y="4191000"/>
            <a:ext cx="63912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41C27"/>
                </a:solidFill>
                <a:latin typeface="Arial"/>
                <a:ea typeface="Arial"/>
                <a:cs typeface="Arial"/>
              </a:defRPr>
            </a:defPPr>
          </a:lstStyle>
          <a:p xmlns:a="http://schemas.openxmlformats.org/drawingml/2006/main">
            <a:pPr>
              <a:defRPr sz="1875" b="0">
                <a:solidFill>
                  <a:srgbClr val="241C27"/>
                </a:solidFill>
                <a:latin typeface="Arial"/>
                <a:ea typeface="Arial"/>
                <a:cs typeface="Arial"/>
              </a:defRPr>
            </a:pPr>
            <a:r>
              <a:rPr sz="1875" b="0">
                <a:solidFill>
                  <a:srgbClr val="241C27"/>
                </a:solidFill>
                <a:latin typeface="Arial"/>
                <a:ea typeface="Arial"/>
                <a:cs typeface="Arial"/>
              </a:rPr>
              <a:t>Added mode selection, BENCH timestamps and analysis.</a:t>
            </a:r>
          </a:p>
        </p:txBody>
      </p:sp>
      <p:sp>
        <p:nvSpPr>
          <p:cNvPr id="16" name="">
            <a:extLst xmlns:a="http://schemas.openxmlformats.org/drawingml/2006/main">
              <a:ext uri="{FF2B5EF4-FFF2-40B4-BE49-F238E27FC236}">
                <a16:creationId xmlns:a16="http://schemas.microsoft.com/office/drawing/2014/main" id="{2C620C61-DCF5-4613-ACF7-7D6E105C6909}"/>
              </a:ext>
            </a:extLst>
          </p:cNvPr>
          <p:cNvSpPr>
            <a:spLocks xmlns:a="http://schemas.openxmlformats.org/drawingml/2006/main" noGrp="1"/>
          </p:cNvSpPr>
          <p:nvPr/>
        </p:nvSpPr>
        <p:spPr>
          <a:xfrm xmlns:a="http://schemas.openxmlformats.org/drawingml/2006/main">
            <a:off x="609600" y="5038725"/>
            <a:ext cx="533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C85230"/>
                </a:solidFill>
                <a:latin typeface="Arial"/>
                <a:ea typeface="Arial"/>
                <a:cs typeface="Arial"/>
              </a:defRPr>
            </a:defPPr>
          </a:lstStyle>
          <a:p xmlns:a="http://schemas.openxmlformats.org/drawingml/2006/main">
            <a:pPr>
              <a:defRPr sz="2700" b="1">
                <a:solidFill>
                  <a:srgbClr val="C85230"/>
                </a:solidFill>
                <a:latin typeface="Arial"/>
                <a:ea typeface="Arial"/>
                <a:cs typeface="Arial"/>
              </a:defRPr>
            </a:pPr>
            <a:r>
              <a:rPr sz="2700" b="1">
                <a:solidFill>
                  <a:srgbClr val="C85230"/>
                </a:solidFill>
                <a:latin typeface="Arial"/>
                <a:ea typeface="Arial"/>
                <a:cs typeface="Arial"/>
              </a:rPr>
              <a:t>5</a:t>
            </a:r>
          </a:p>
        </p:txBody>
      </p:sp>
      <p:sp>
        <p:nvSpPr>
          <p:cNvPr id="17" name="">
            <a:extLst xmlns:a="http://schemas.openxmlformats.org/drawingml/2006/main">
              <a:ext uri="{FF2B5EF4-FFF2-40B4-BE49-F238E27FC236}">
                <a16:creationId xmlns:a16="http://schemas.microsoft.com/office/drawing/2014/main" id="{A1E3D523-AF69-4F59-9B76-5B878A125F5F}"/>
              </a:ext>
            </a:extLst>
          </p:cNvPr>
          <p:cNvSpPr>
            <a:spLocks xmlns:a="http://schemas.openxmlformats.org/drawingml/2006/main" noGrp="1"/>
          </p:cNvSpPr>
          <p:nvPr/>
        </p:nvSpPr>
        <p:spPr>
          <a:xfrm xmlns:a="http://schemas.openxmlformats.org/drawingml/2006/main">
            <a:off x="1371600" y="5038725"/>
            <a:ext cx="36099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56334C"/>
                </a:solidFill>
                <a:latin typeface="Arial"/>
                <a:ea typeface="Arial"/>
                <a:cs typeface="Arial"/>
              </a:defRPr>
            </a:defPPr>
          </a:lstStyle>
          <a:p xmlns:a="http://schemas.openxmlformats.org/drawingml/2006/main">
            <a:pPr>
              <a:defRPr sz="2100" b="1">
                <a:solidFill>
                  <a:srgbClr val="56334C"/>
                </a:solidFill>
                <a:latin typeface="Arial"/>
                <a:ea typeface="Arial"/>
                <a:cs typeface="Arial"/>
              </a:defRPr>
            </a:pPr>
            <a:r>
              <a:rPr sz="2100" b="1">
                <a:solidFill>
                  <a:srgbClr val="56334C"/>
                </a:solidFill>
                <a:latin typeface="Arial"/>
                <a:ea typeface="Arial"/>
                <a:cs typeface="Arial"/>
              </a:rPr>
              <a:t>Later functional work</a:t>
            </a:r>
          </a:p>
        </p:txBody>
      </p:sp>
      <p:sp>
        <p:nvSpPr>
          <p:cNvPr id="18" name="">
            <a:extLst xmlns:a="http://schemas.openxmlformats.org/drawingml/2006/main">
              <a:ext uri="{FF2B5EF4-FFF2-40B4-BE49-F238E27FC236}">
                <a16:creationId xmlns:a16="http://schemas.microsoft.com/office/drawing/2014/main" id="{D424335E-2D94-4E04-BE29-E04774D6975F}"/>
              </a:ext>
            </a:extLst>
          </p:cNvPr>
          <p:cNvSpPr>
            <a:spLocks xmlns:a="http://schemas.openxmlformats.org/drawingml/2006/main" noGrp="1"/>
          </p:cNvSpPr>
          <p:nvPr/>
        </p:nvSpPr>
        <p:spPr>
          <a:xfrm xmlns:a="http://schemas.openxmlformats.org/drawingml/2006/main">
            <a:off x="5143500" y="5057775"/>
            <a:ext cx="63912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41C27"/>
                </a:solidFill>
                <a:latin typeface="Arial"/>
                <a:ea typeface="Arial"/>
                <a:cs typeface="Arial"/>
              </a:defRPr>
            </a:defPPr>
          </a:lstStyle>
          <a:p xmlns:a="http://schemas.openxmlformats.org/drawingml/2006/main">
            <a:pPr>
              <a:defRPr sz="1875" b="0">
                <a:solidFill>
                  <a:srgbClr val="241C27"/>
                </a:solidFill>
                <a:latin typeface="Arial"/>
                <a:ea typeface="Arial"/>
                <a:cs typeface="Arial"/>
              </a:defRPr>
            </a:pPr>
            <a:r>
              <a:rPr sz="1875" b="0">
                <a:solidFill>
                  <a:srgbClr val="241C27"/>
                </a:solidFill>
                <a:latin typeface="Arial"/>
                <a:ea typeface="Arial"/>
                <a:cs typeface="Arial"/>
              </a:rPr>
              <a:t>Added ACK/retry, isolated images and verified demo inputs.</a:t>
            </a:r>
          </a:p>
        </p:txBody>
      </p:sp>
    </p:spTree>
    <p:extLst>
      <p:ext uri="{BB962C8B-B14F-4D97-AF65-F5344CB8AC3E}">
        <p14:creationId xmlns:p14="http://schemas.microsoft.com/office/powerpoint/2010/main" val="4853124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11A5254-3DB6-4CDC-BD9E-DB2503070B2A}"/>
              </a:ext>
            </a:extLst>
          </p:cNvPr>
          <p:cNvSpPr>
            <a:spLocks xmlns:a="http://schemas.openxmlformats.org/drawingml/2006/main" noGrp="1"/>
          </p:cNvSpPr>
          <p:nvPr/>
        </p:nvSpPr>
        <p:spPr>
          <a:xfrm xmlns:a="http://schemas.openxmlformats.org/drawingml/2006/main">
            <a:off x="609600" y="400050"/>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41C27"/>
                </a:solidFill>
                <a:latin typeface="Arial"/>
                <a:ea typeface="Arial"/>
                <a:cs typeface="Arial"/>
              </a:defRPr>
            </a:defPPr>
          </a:lstStyle>
          <a:p xmlns:a="http://schemas.openxmlformats.org/drawingml/2006/main">
            <a:pPr>
              <a:defRPr sz="3300" b="1">
                <a:solidFill>
                  <a:srgbClr val="241C27"/>
                </a:solidFill>
                <a:latin typeface="Arial"/>
                <a:ea typeface="Arial"/>
                <a:cs typeface="Arial"/>
              </a:defRPr>
            </a:pPr>
            <a:r>
              <a:rPr sz="3300" b="1">
                <a:solidFill>
                  <a:srgbClr val="241C27"/>
                </a:solidFill>
                <a:latin typeface="Arial"/>
                <a:ea typeface="Arial"/>
                <a:cs typeface="Arial"/>
              </a:rPr>
              <a:t>Both paths share checkpoint and restore</a:t>
            </a:r>
          </a:p>
        </p:txBody>
      </p:sp>
      <p:sp>
        <p:nvSpPr>
          <p:cNvPr id="2" name="">
            <a:extLst xmlns:a="http://schemas.openxmlformats.org/drawingml/2006/main">
              <a:ext uri="{FF2B5EF4-FFF2-40B4-BE49-F238E27FC236}">
                <a16:creationId xmlns:a16="http://schemas.microsoft.com/office/drawing/2014/main" id="{65C86373-8134-412F-BA46-9572D715892D}"/>
              </a:ext>
            </a:extLst>
          </p:cNvPr>
          <p:cNvSpPr>
            <a:spLocks xmlns:a="http://schemas.openxmlformats.org/drawingml/2006/main" noGrp="1"/>
          </p:cNvSpPr>
          <p:nvPr/>
        </p:nvSpPr>
        <p:spPr>
          <a:xfrm xmlns:a="http://schemas.openxmlformats.org/drawingml/2006/main">
            <a:off x="11239500" y="641032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4606A"/>
                </a:solidFill>
                <a:latin typeface="Arial"/>
                <a:ea typeface="Arial"/>
                <a:cs typeface="Arial"/>
              </a:defRPr>
            </a:defPPr>
          </a:lstStyle>
          <a:p xmlns:a="http://schemas.openxmlformats.org/drawingml/2006/main">
            <a:pPr>
              <a:defRPr sz="1125" b="0">
                <a:solidFill>
                  <a:srgbClr val="64606A"/>
                </a:solidFill>
                <a:latin typeface="Arial"/>
                <a:ea typeface="Arial"/>
                <a:cs typeface="Arial"/>
              </a:defRPr>
            </a:pPr>
            <a:r>
              <a:rPr sz="1125" b="0">
                <a:solidFill>
                  <a:srgbClr val="64606A"/>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53D48E29-C39E-4BB6-9359-5E961E86969A}"/>
              </a:ext>
            </a:extLst>
          </p:cNvPr>
          <p:cNvSpPr>
            <a:spLocks xmlns:a="http://schemas.openxmlformats.org/drawingml/2006/main" noGrp="1"/>
          </p:cNvSpPr>
          <p:nvPr/>
        </p:nvSpPr>
        <p:spPr>
          <a:xfrm xmlns:a="http://schemas.openxmlformats.org/drawingml/2006/main">
            <a:off x="609600" y="633412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4606A"/>
                </a:solidFill>
                <a:latin typeface="Arial"/>
                <a:ea typeface="Arial"/>
                <a:cs typeface="Arial"/>
              </a:defRPr>
            </a:defPPr>
          </a:lstStyle>
          <a:p xmlns:a="http://schemas.openxmlformats.org/drawingml/2006/main">
            <a:pPr>
              <a:defRPr sz="1125" b="0">
                <a:solidFill>
                  <a:srgbClr val="64606A"/>
                </a:solidFill>
                <a:latin typeface="Arial"/>
                <a:ea typeface="Arial"/>
                <a:cs typeface="Arial"/>
              </a:defRPr>
            </a:pPr>
            <a:r>
              <a:rPr sz="1125" b="0">
                <a:solidFill>
                  <a:srgbClr val="64606A"/>
                </a:solidFill>
                <a:latin typeface="Arial"/>
                <a:ea typeface="Arial"/>
                <a:cs typeface="Arial"/>
              </a:rPr>
              <a:t>Report Fig. 5.3, §§5.2.1, 5.2.4. Both historical paths execute in supervisor mode.</a:t>
            </a:r>
          </a:p>
        </p:txBody>
      </p:sp>
      <p:pic>
        <p:nvPicPr>
          <p:cNvPr id="4" name="">
            <a:extLst xmlns:a="http://schemas.openxmlformats.org/drawingml/2006/main">
              <a:ext uri="{FF2B5EF4-FFF2-40B4-BE49-F238E27FC236}">
                <a16:creationId xmlns:a16="http://schemas.microsoft.com/office/drawing/2014/main" id="{323545D8-C6BD-40D6-BD23-9A9A6D1B8A5A}"/>
              </a:ext>
            </a:extLst>
          </p:cNvPr>
          <p:cNvPicPr>
            <a:picLocks xmlns:a="http://schemas.openxmlformats.org/drawingml/2006/main" noChangeAspect="1"/>
          </p:cNvPicPr>
          <p:nvPr/>
        </p:nvPicPr>
        <p:blipFill>
          <a:blip xmlns:r="http://schemas.openxmlformats.org/officeDocument/2006/relationships" xmlns:a="http://schemas.openxmlformats.org/drawingml/2006/main" r:embed="R919b1b0c238d488c"/>
          <a:stretch xmlns:a="http://schemas.openxmlformats.org/drawingml/2006/main"/>
        </p:blipFill>
        <p:spPr>
          <a:xfrm xmlns:a="http://schemas.openxmlformats.org/drawingml/2006/main">
            <a:off x="1906363" y="1295400"/>
            <a:ext cx="8379274" cy="4733925"/>
          </a:xfrm>
          <a:prstGeom xmlns:a="http://schemas.openxmlformats.org/drawingml/2006/main" prst="rect">
            <a:avLst/>
          </a:prstGeom>
        </p:spPr>
      </p:pic>
    </p:spTree>
    <p:extLst>
      <p:ext uri="{BB962C8B-B14F-4D97-AF65-F5344CB8AC3E}">
        <p14:creationId xmlns:p14="http://schemas.microsoft.com/office/powerpoint/2010/main" val="90386662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39E0E65-0108-4877-94E8-EE1AD438A78D}"/>
              </a:ext>
            </a:extLst>
          </p:cNvPr>
          <p:cNvSpPr>
            <a:spLocks xmlns:a="http://schemas.openxmlformats.org/drawingml/2006/main" noGrp="1"/>
          </p:cNvSpPr>
          <p:nvPr/>
        </p:nvSpPr>
        <p:spPr>
          <a:xfrm xmlns:a="http://schemas.openxmlformats.org/drawingml/2006/main">
            <a:off x="609600" y="400050"/>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41C27"/>
                </a:solidFill>
                <a:latin typeface="Arial"/>
                <a:ea typeface="Arial"/>
                <a:cs typeface="Arial"/>
              </a:defRPr>
            </a:defPPr>
          </a:lstStyle>
          <a:p xmlns:a="http://schemas.openxmlformats.org/drawingml/2006/main">
            <a:pPr>
              <a:defRPr sz="3300" b="1">
                <a:solidFill>
                  <a:srgbClr val="241C27"/>
                </a:solidFill>
                <a:latin typeface="Arial"/>
                <a:ea typeface="Arial"/>
                <a:cs typeface="Arial"/>
              </a:defRPr>
            </a:pPr>
            <a:r>
              <a:rPr sz="3300" b="1">
                <a:solidFill>
                  <a:srgbClr val="241C27"/>
                </a:solidFill>
                <a:latin typeface="Arial"/>
                <a:ea typeface="Arial"/>
                <a:cs typeface="Arial"/>
              </a:rPr>
              <a:t>Controlled experimental design</a:t>
            </a:r>
          </a:p>
        </p:txBody>
      </p:sp>
      <p:sp>
        <p:nvSpPr>
          <p:cNvPr id="2" name="">
            <a:extLst xmlns:a="http://schemas.openxmlformats.org/drawingml/2006/main">
              <a:ext uri="{FF2B5EF4-FFF2-40B4-BE49-F238E27FC236}">
                <a16:creationId xmlns:a16="http://schemas.microsoft.com/office/drawing/2014/main" id="{21C22CBE-48EF-483B-A602-9124B6C098F9}"/>
              </a:ext>
            </a:extLst>
          </p:cNvPr>
          <p:cNvSpPr>
            <a:spLocks xmlns:a="http://schemas.openxmlformats.org/drawingml/2006/main" noGrp="1"/>
          </p:cNvSpPr>
          <p:nvPr/>
        </p:nvSpPr>
        <p:spPr>
          <a:xfrm xmlns:a="http://schemas.openxmlformats.org/drawingml/2006/main">
            <a:off x="11239500" y="641032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4606A"/>
                </a:solidFill>
                <a:latin typeface="Arial"/>
                <a:ea typeface="Arial"/>
                <a:cs typeface="Arial"/>
              </a:defRPr>
            </a:defPPr>
          </a:lstStyle>
          <a:p xmlns:a="http://schemas.openxmlformats.org/drawingml/2006/main">
            <a:pPr>
              <a:defRPr sz="1125" b="0">
                <a:solidFill>
                  <a:srgbClr val="64606A"/>
                </a:solidFill>
                <a:latin typeface="Arial"/>
                <a:ea typeface="Arial"/>
                <a:cs typeface="Arial"/>
              </a:defRPr>
            </a:pPr>
            <a:r>
              <a:rPr sz="1125" b="0">
                <a:solidFill>
                  <a:srgbClr val="64606A"/>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79C05F15-95D6-495C-BF1F-F21E3082049C}"/>
              </a:ext>
            </a:extLst>
          </p:cNvPr>
          <p:cNvSpPr>
            <a:spLocks xmlns:a="http://schemas.openxmlformats.org/drawingml/2006/main" noGrp="1"/>
          </p:cNvSpPr>
          <p:nvPr/>
        </p:nvSpPr>
        <p:spPr>
          <a:xfrm xmlns:a="http://schemas.openxmlformats.org/drawingml/2006/main">
            <a:off x="609600" y="633412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4606A"/>
                </a:solidFill>
                <a:latin typeface="Arial"/>
                <a:ea typeface="Arial"/>
                <a:cs typeface="Arial"/>
              </a:defRPr>
            </a:defPPr>
          </a:lstStyle>
          <a:p xmlns:a="http://schemas.openxmlformats.org/drawingml/2006/main">
            <a:pPr>
              <a:defRPr sz="1125" b="0">
                <a:solidFill>
                  <a:srgbClr val="64606A"/>
                </a:solidFill>
                <a:latin typeface="Arial"/>
                <a:ea typeface="Arial"/>
                <a:cs typeface="Arial"/>
              </a:defRPr>
            </a:pPr>
            <a:r>
              <a:rPr sz="1125" b="0">
                <a:solidFill>
                  <a:srgbClr val="64606A"/>
                </a:solidFill>
                <a:latin typeface="Arial"/>
                <a:ea typeface="Arial"/>
                <a:cs typeface="Arial"/>
              </a:rPr>
              <a:t>Report Chapter 3, §§4.2.1–4.2.4. Experimental unit: one migration run.</a:t>
            </a:r>
          </a:p>
        </p:txBody>
      </p:sp>
      <p:sp>
        <p:nvSpPr>
          <p:cNvPr id="4" name="">
            <a:extLst xmlns:a="http://schemas.openxmlformats.org/drawingml/2006/main">
              <a:ext uri="{FF2B5EF4-FFF2-40B4-BE49-F238E27FC236}">
                <a16:creationId xmlns:a16="http://schemas.microsoft.com/office/drawing/2014/main" id="{9903FE4B-3AAA-4B00-B8A0-C6970C82A0A6}"/>
              </a:ext>
            </a:extLst>
          </p:cNvPr>
          <p:cNvSpPr>
            <a:spLocks xmlns:a="http://schemas.openxmlformats.org/drawingml/2006/main" noGrp="1"/>
          </p:cNvSpPr>
          <p:nvPr/>
        </p:nvSpPr>
        <p:spPr>
          <a:xfrm xmlns:a="http://schemas.openxmlformats.org/drawingml/2006/main">
            <a:off x="609600" y="1657350"/>
            <a:ext cx="32766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875" b="1">
                <a:solidFill>
                  <a:srgbClr val="56334C"/>
                </a:solidFill>
                <a:latin typeface="Arial"/>
                <a:ea typeface="Arial"/>
                <a:cs typeface="Arial"/>
              </a:defRPr>
            </a:defPPr>
          </a:lstStyle>
          <a:p xmlns:a="http://schemas.openxmlformats.org/drawingml/2006/main">
            <a:pPr>
              <a:defRPr sz="7875" b="1">
                <a:solidFill>
                  <a:srgbClr val="56334C"/>
                </a:solidFill>
                <a:latin typeface="Arial"/>
                <a:ea typeface="Arial"/>
                <a:cs typeface="Arial"/>
              </a:defRPr>
            </a:pPr>
            <a:r>
              <a:rPr sz="7875" b="1">
                <a:solidFill>
                  <a:srgbClr val="56334C"/>
                </a:solidFill>
                <a:latin typeface="Arial"/>
                <a:ea typeface="Arial"/>
                <a:cs typeface="Arial"/>
              </a:rPr>
              <a:t>120</a:t>
            </a:r>
          </a:p>
        </p:txBody>
      </p:sp>
      <p:sp>
        <p:nvSpPr>
          <p:cNvPr id="5" name="">
            <a:extLst xmlns:a="http://schemas.openxmlformats.org/drawingml/2006/main">
              <a:ext uri="{FF2B5EF4-FFF2-40B4-BE49-F238E27FC236}">
                <a16:creationId xmlns:a16="http://schemas.microsoft.com/office/drawing/2014/main" id="{A018150A-E0F6-4479-8950-D879852BB3F2}"/>
              </a:ext>
            </a:extLst>
          </p:cNvPr>
          <p:cNvSpPr>
            <a:spLocks xmlns:a="http://schemas.openxmlformats.org/drawingml/2006/main" noGrp="1"/>
          </p:cNvSpPr>
          <p:nvPr/>
        </p:nvSpPr>
        <p:spPr>
          <a:xfrm xmlns:a="http://schemas.openxmlformats.org/drawingml/2006/main">
            <a:off x="666750" y="2905125"/>
            <a:ext cx="304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41C27"/>
                </a:solidFill>
                <a:latin typeface="Arial"/>
                <a:ea typeface="Arial"/>
                <a:cs typeface="Arial"/>
              </a:defRPr>
            </a:defPPr>
          </a:lstStyle>
          <a:p xmlns:a="http://schemas.openxmlformats.org/drawingml/2006/main">
            <a:pPr>
              <a:defRPr sz="2025" b="0">
                <a:solidFill>
                  <a:srgbClr val="241C27"/>
                </a:solidFill>
                <a:latin typeface="Arial"/>
                <a:ea typeface="Arial"/>
                <a:cs typeface="Arial"/>
              </a:defRPr>
            </a:pPr>
            <a:r>
              <a:rPr sz="2025" b="0">
                <a:solidFill>
                  <a:srgbClr val="241C27"/>
                </a:solidFill>
                <a:latin typeface="Arial"/>
                <a:ea typeface="Arial"/>
                <a:cs typeface="Arial"/>
              </a:rPr>
              <a:t>local observations</a:t>
            </a:r>
          </a:p>
        </p:txBody>
      </p:sp>
      <p:sp>
        <p:nvSpPr>
          <p:cNvPr id="6" name="">
            <a:extLst xmlns:a="http://schemas.openxmlformats.org/drawingml/2006/main">
              <a:ext uri="{FF2B5EF4-FFF2-40B4-BE49-F238E27FC236}">
                <a16:creationId xmlns:a16="http://schemas.microsoft.com/office/drawing/2014/main" id="{9CBB5DDA-B3BE-4887-A5B8-F13010142E9C}"/>
              </a:ext>
            </a:extLst>
          </p:cNvPr>
          <p:cNvSpPr>
            <a:spLocks xmlns:a="http://schemas.openxmlformats.org/drawingml/2006/main" noGrp="1"/>
          </p:cNvSpPr>
          <p:nvPr/>
        </p:nvSpPr>
        <p:spPr>
          <a:xfrm xmlns:a="http://schemas.openxmlformats.org/drawingml/2006/main">
            <a:off x="666750" y="3733800"/>
            <a:ext cx="31432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1C27"/>
                </a:solidFill>
                <a:latin typeface="Arial"/>
                <a:ea typeface="Arial"/>
                <a:cs typeface="Arial"/>
              </a:defRPr>
            </a:defPPr>
          </a:lstStyle>
          <a:p xmlns:a="http://schemas.openxmlformats.org/drawingml/2006/main">
            <a:pPr>
              <a:defRPr sz="2325" b="1">
                <a:solidFill>
                  <a:srgbClr val="241C27"/>
                </a:solidFill>
                <a:latin typeface="Arial"/>
                <a:ea typeface="Arial"/>
                <a:cs typeface="Arial"/>
              </a:defRPr>
            </a:pPr>
            <a:r>
              <a:rPr sz="2325" b="1">
                <a:solidFill>
                  <a:srgbClr val="241C27"/>
                </a:solidFill>
                <a:latin typeface="Arial"/>
                <a:ea typeface="Arial"/>
                <a:cs typeface="Arial"/>
              </a:rPr>
              <a:t>2 modes × 4 sizes</a:t>
            </a:r>
          </a:p>
          <a:p xmlns:a="http://schemas.openxmlformats.org/drawingml/2006/main">
            <a:pPr>
              <a:defRPr sz="2325" b="1">
                <a:solidFill>
                  <a:srgbClr val="241C27"/>
                </a:solidFill>
                <a:latin typeface="Arial"/>
                <a:ea typeface="Arial"/>
                <a:cs typeface="Arial"/>
              </a:defRPr>
            </a:pPr>
            <a:r>
              <a:rPr sz="2325" b="1">
                <a:solidFill>
                  <a:srgbClr val="241C27"/>
                </a:solidFill>
                <a:latin typeface="Arial"/>
                <a:ea typeface="Arial"/>
                <a:cs typeface="Arial"/>
              </a:rPr>
              <a:t>× 15 repetitions</a:t>
            </a:r>
          </a:p>
        </p:txBody>
      </p:sp>
      <p:graphicFrame>
        <p:nvGraphicFramePr>
          <p:cNvPr id="7" name="">
            <a:extLst xmlns:a="http://schemas.openxmlformats.org/drawingml/2006/main">
              <a:ext uri="{FF2B5EF4-FFF2-40B4-BE49-F238E27FC236}">
                <a16:creationId xmlns:a16="http://schemas.microsoft.com/office/drawing/2014/main" id="{254ED54A-A6A1-4249-8E40-FDFEC79A53C2}"/>
              </a:ext>
            </a:extLst>
          </p:cNvPr>
          <p:cNvGraphicFramePr/>
          <p:nvPr/>
        </p:nvGraphicFramePr>
        <p:xfrm>
          <a:off xmlns:a="http://schemas.openxmlformats.org/drawingml/2006/main" x="4305300" y="1581150"/>
          <a:ext xmlns:a="http://schemas.openxmlformats.org/drawingml/2006/main" cx="7200900" cy="4152900"/>
        </p:xfrm>
        <a:graphic xmlns:a="http://schemas.openxmlformats.org/drawingml/2006/main">
          <a:graphicData uri="http://schemas.openxmlformats.org/drawingml/2006/table">
            <a:tbl>
              <a:tblPr/>
              <a:tblGrid>
                <a:gridCol w="2162175"/>
                <a:gridCol w="5038725"/>
              </a:tblGrid>
              <a:tr h="692150">
                <a:tc>
                  <a:txBody>
                    <a:bodyPr wrap="square" lIns="114300" tIns="114300" rIns="114300" bIns="114300">
                      <a:noAutofit/>
                    </a:bodyPr>
                    <a:lstStyle/>
                    <a:p>
                      <a:r>
                        <a:rPr sz="1650" b="1">
                          <a:solidFill>
                            <a:srgbClr val="FFFFFF"/>
                          </a:solidFill>
                          <a:latin typeface="Arial"/>
                          <a:ea typeface="Arial"/>
                          <a:cs typeface="Arial"/>
                        </a:rPr>
                        <a:t>Control</a:t>
                      </a:r>
                    </a:p>
                  </a:txBody>
                  <a:tcPr marL="91440" marR="91440" marT="45720" marB="45720" anchor="ctr">
                    <a:lnL w="9525">
                      <a:solidFill>
                        <a:srgbClr val="DED9DF"/>
                      </a:solidFill>
                      <a:prstDash val="solid"/>
                    </a:lnL>
                    <a:lnR w="9525">
                      <a:solidFill>
                        <a:srgbClr val="DED9DF"/>
                      </a:solidFill>
                      <a:prstDash val="solid"/>
                    </a:lnR>
                    <a:lnT w="9525">
                      <a:solidFill>
                        <a:srgbClr val="DED9DF"/>
                      </a:solidFill>
                      <a:prstDash val="solid"/>
                    </a:lnT>
                    <a:lnB w="9525">
                      <a:solidFill>
                        <a:srgbClr val="DED9DF"/>
                      </a:solidFill>
                      <a:prstDash val="solid"/>
                    </a:lnB>
                    <a:solidFill>
                      <a:srgbClr val="56334C"/>
                    </a:solidFill>
                  </a:tcPr>
                </a:tc>
                <a:tc>
                  <a:txBody>
                    <a:bodyPr wrap="square" lIns="114300" tIns="114300" rIns="114300" bIns="114300">
                      <a:noAutofit/>
                    </a:bodyPr>
                    <a:lstStyle/>
                    <a:p>
                      <a:r>
                        <a:rPr sz="1650" b="1">
                          <a:solidFill>
                            <a:srgbClr val="FFFFFF"/>
                          </a:solidFill>
                          <a:latin typeface="Arial"/>
                          <a:ea typeface="Arial"/>
                          <a:cs typeface="Arial"/>
                        </a:rPr>
                        <a:t>Configuration</a:t>
                      </a:r>
                    </a:p>
                  </a:txBody>
                  <a:tcPr marL="91440" marR="91440" marT="45720" marB="45720" anchor="ctr">
                    <a:lnR w="9525">
                      <a:solidFill>
                        <a:srgbClr val="DED9DF"/>
                      </a:solidFill>
                      <a:prstDash val="solid"/>
                    </a:lnR>
                    <a:lnT w="9525">
                      <a:solidFill>
                        <a:srgbClr val="DED9DF"/>
                      </a:solidFill>
                      <a:prstDash val="solid"/>
                    </a:lnT>
                    <a:lnB w="9525">
                      <a:solidFill>
                        <a:srgbClr val="DED9DF"/>
                      </a:solidFill>
                      <a:prstDash val="solid"/>
                    </a:lnB>
                    <a:solidFill>
                      <a:srgbClr val="56334C"/>
                    </a:solidFill>
                  </a:tcPr>
                </a:tc>
              </a:tr>
              <a:tr h="692150">
                <a:tc>
                  <a:txBody>
                    <a:bodyPr wrap="square" lIns="114300" tIns="114300" rIns="114300" bIns="114300">
                      <a:noAutofit/>
                    </a:bodyPr>
                    <a:lstStyle/>
                    <a:p>
                      <a:r>
                        <a:rPr sz="1800" b="0">
                          <a:solidFill>
                            <a:srgbClr val="241C27"/>
                          </a:solidFill>
                          <a:latin typeface="Arial"/>
                          <a:ea typeface="Arial"/>
                          <a:cs typeface="Arial"/>
                        </a:rPr>
                        <a:t>Platform</a:t>
                      </a:r>
                    </a:p>
                  </a:txBody>
                  <a:tcPr marL="91440" marR="91440" marT="45720" marB="45720" anchor="ctr">
                    <a:lnL w="9525">
                      <a:solidFill>
                        <a:srgbClr val="DED9DF"/>
                      </a:solidFill>
                      <a:prstDash val="solid"/>
                    </a:lnL>
                    <a:lnR w="9525">
                      <a:solidFill>
                        <a:srgbClr val="DED9DF"/>
                      </a:solidFill>
                      <a:prstDash val="solid"/>
                    </a:lnR>
                    <a:lnB w="9525">
                      <a:solidFill>
                        <a:srgbClr val="DED9DF"/>
                      </a:solidFill>
                      <a:prstDash val="solid"/>
                    </a:lnB>
                    <a:solidFill>
                      <a:srgbClr val="FFFFFF"/>
                    </a:solidFill>
                  </a:tcPr>
                </a:tc>
                <a:tc>
                  <a:txBody>
                    <a:bodyPr wrap="square" lIns="114300" tIns="114300" rIns="114300" bIns="114300">
                      <a:noAutofit/>
                    </a:bodyPr>
                    <a:lstStyle/>
                    <a:p>
                      <a:r>
                        <a:rPr sz="1800" b="0">
                          <a:solidFill>
                            <a:srgbClr val="241C27"/>
                          </a:solidFill>
                          <a:latin typeface="Arial"/>
                          <a:ea typeface="Arial"/>
                          <a:cs typeface="Arial"/>
                        </a:rPr>
                        <a:t>Same Hydra and QEMU RISC-V64 virt</a:t>
                      </a:r>
                    </a:p>
                  </a:txBody>
                  <a:tcPr marL="91440" marR="91440" marT="45720" marB="45720" anchor="ctr">
                    <a:lnR w="9525">
                      <a:solidFill>
                        <a:srgbClr val="DED9DF"/>
                      </a:solidFill>
                      <a:prstDash val="solid"/>
                    </a:lnR>
                    <a:lnB w="9525">
                      <a:solidFill>
                        <a:srgbClr val="DED9DF"/>
                      </a:solidFill>
                      <a:prstDash val="solid"/>
                    </a:lnB>
                    <a:solidFill>
                      <a:srgbClr val="FFFFFF"/>
                    </a:solidFill>
                  </a:tcPr>
                </a:tc>
              </a:tr>
              <a:tr h="692150">
                <a:tc>
                  <a:txBody>
                    <a:bodyPr wrap="square" lIns="114300" tIns="114300" rIns="114300" bIns="114300">
                      <a:noAutofit/>
                    </a:bodyPr>
                    <a:lstStyle/>
                    <a:p>
                      <a:r>
                        <a:rPr sz="1800" b="0">
                          <a:solidFill>
                            <a:srgbClr val="241C27"/>
                          </a:solidFill>
                          <a:latin typeface="Arial"/>
                          <a:ea typeface="Arial"/>
                          <a:cs typeface="Arial"/>
                        </a:rPr>
                        <a:t>Workload</a:t>
                      </a:r>
                    </a:p>
                  </a:txBody>
                  <a:tcPr marL="91440" marR="91440" marT="45720" marB="45720" anchor="ctr">
                    <a:lnL w="9525">
                      <a:solidFill>
                        <a:srgbClr val="DED9DF"/>
                      </a:solidFill>
                      <a:prstDash val="solid"/>
                    </a:lnL>
                    <a:lnR w="9525">
                      <a:solidFill>
                        <a:srgbClr val="DED9DF"/>
                      </a:solidFill>
                      <a:prstDash val="solid"/>
                    </a:lnR>
                    <a:lnB w="9525">
                      <a:solidFill>
                        <a:srgbClr val="DED9DF"/>
                      </a:solidFill>
                      <a:prstDash val="solid"/>
                    </a:lnB>
                    <a:solidFill>
                      <a:srgbClr val="F5F3F6"/>
                    </a:solidFill>
                  </a:tcPr>
                </a:tc>
                <a:tc>
                  <a:txBody>
                    <a:bodyPr wrap="square" lIns="114300" tIns="114300" rIns="114300" bIns="114300">
                      <a:noAutofit/>
                    </a:bodyPr>
                    <a:lstStyle/>
                    <a:p>
                      <a:r>
                        <a:rPr sz="1800" b="0">
                          <a:solidFill>
                            <a:srgbClr val="241C27"/>
                          </a:solidFill>
                          <a:latin typeface="Arial"/>
                          <a:ea typeface="Arial"/>
                          <a:cs typeface="Arial"/>
                        </a:rPr>
                        <a:t>Counter task and fixed 8 KB stack</a:t>
                      </a:r>
                    </a:p>
                  </a:txBody>
                  <a:tcPr marL="91440" marR="91440" marT="45720" marB="45720" anchor="ctr">
                    <a:lnR w="9525">
                      <a:solidFill>
                        <a:srgbClr val="DED9DF"/>
                      </a:solidFill>
                      <a:prstDash val="solid"/>
                    </a:lnR>
                    <a:lnB w="9525">
                      <a:solidFill>
                        <a:srgbClr val="DED9DF"/>
                      </a:solidFill>
                      <a:prstDash val="solid"/>
                    </a:lnB>
                    <a:solidFill>
                      <a:srgbClr val="F5F3F6"/>
                    </a:solidFill>
                  </a:tcPr>
                </a:tc>
              </a:tr>
              <a:tr h="692150">
                <a:tc>
                  <a:txBody>
                    <a:bodyPr wrap="square" lIns="114300" tIns="114300" rIns="114300" bIns="114300">
                      <a:noAutofit/>
                    </a:bodyPr>
                    <a:lstStyle/>
                    <a:p>
                      <a:r>
                        <a:rPr sz="1800" b="0">
                          <a:solidFill>
                            <a:srgbClr val="241C27"/>
                          </a:solidFill>
                          <a:latin typeface="Arial"/>
                          <a:ea typeface="Arial"/>
                          <a:cs typeface="Arial"/>
                        </a:rPr>
                        <a:t>Extra payload</a:t>
                      </a:r>
                    </a:p>
                  </a:txBody>
                  <a:tcPr marL="91440" marR="91440" marT="45720" marB="45720" anchor="ctr">
                    <a:lnL w="9525">
                      <a:solidFill>
                        <a:srgbClr val="DED9DF"/>
                      </a:solidFill>
                      <a:prstDash val="solid"/>
                    </a:lnL>
                    <a:lnR w="9525">
                      <a:solidFill>
                        <a:srgbClr val="DED9DF"/>
                      </a:solidFill>
                      <a:prstDash val="solid"/>
                    </a:lnR>
                    <a:lnB w="9525">
                      <a:solidFill>
                        <a:srgbClr val="DED9DF"/>
                      </a:solidFill>
                      <a:prstDash val="solid"/>
                    </a:lnB>
                    <a:solidFill>
                      <a:srgbClr val="FFFFFF"/>
                    </a:solidFill>
                  </a:tcPr>
                </a:tc>
                <a:tc>
                  <a:txBody>
                    <a:bodyPr wrap="square" lIns="114300" tIns="114300" rIns="114300" bIns="114300">
                      <a:noAutofit/>
                    </a:bodyPr>
                    <a:lstStyle/>
                    <a:p>
                      <a:r>
                        <a:rPr sz="1800" b="0">
                          <a:solidFill>
                            <a:srgbClr val="241C27"/>
                          </a:solidFill>
                          <a:latin typeface="Arial"/>
                          <a:ea typeface="Arial"/>
                          <a:cs typeface="Arial"/>
                        </a:rPr>
                        <a:t>0, 4, 16 and 64 KB</a:t>
                      </a:r>
                    </a:p>
                  </a:txBody>
                  <a:tcPr marL="91440" marR="91440" marT="45720" marB="45720" anchor="ctr">
                    <a:lnR w="9525">
                      <a:solidFill>
                        <a:srgbClr val="DED9DF"/>
                      </a:solidFill>
                      <a:prstDash val="solid"/>
                    </a:lnR>
                    <a:lnB w="9525">
                      <a:solidFill>
                        <a:srgbClr val="DED9DF"/>
                      </a:solidFill>
                      <a:prstDash val="solid"/>
                    </a:lnB>
                    <a:solidFill>
                      <a:srgbClr val="FFFFFF"/>
                    </a:solidFill>
                  </a:tcPr>
                </a:tc>
              </a:tr>
              <a:tr h="692150">
                <a:tc>
                  <a:txBody>
                    <a:bodyPr wrap="square" lIns="114300" tIns="114300" rIns="114300" bIns="114300">
                      <a:noAutofit/>
                    </a:bodyPr>
                    <a:lstStyle/>
                    <a:p>
                      <a:r>
                        <a:rPr sz="1800" b="0">
                          <a:solidFill>
                            <a:srgbClr val="241C27"/>
                          </a:solidFill>
                          <a:latin typeface="Arial"/>
                          <a:ea typeface="Arial"/>
                          <a:cs typeface="Arial"/>
                        </a:rPr>
                        <a:t>Instrumentation</a:t>
                      </a:r>
                    </a:p>
                  </a:txBody>
                  <a:tcPr marL="91440" marR="91440" marT="45720" marB="45720" anchor="ctr">
                    <a:lnL w="9525">
                      <a:solidFill>
                        <a:srgbClr val="DED9DF"/>
                      </a:solidFill>
                      <a:prstDash val="solid"/>
                    </a:lnL>
                    <a:lnR w="9525">
                      <a:solidFill>
                        <a:srgbClr val="DED9DF"/>
                      </a:solidFill>
                      <a:prstDash val="solid"/>
                    </a:lnR>
                    <a:lnB w="9525">
                      <a:solidFill>
                        <a:srgbClr val="DED9DF"/>
                      </a:solidFill>
                      <a:prstDash val="solid"/>
                    </a:lnB>
                    <a:solidFill>
                      <a:srgbClr val="F5F3F6"/>
                    </a:solidFill>
                  </a:tcPr>
                </a:tc>
                <a:tc>
                  <a:txBody>
                    <a:bodyPr wrap="square" lIns="114300" tIns="114300" rIns="114300" bIns="114300">
                      <a:noAutofit/>
                    </a:bodyPr>
                    <a:lstStyle/>
                    <a:p>
                      <a:r>
                        <a:rPr sz="1800" b="0">
                          <a:solidFill>
                            <a:srgbClr val="241C27"/>
                          </a:solidFill>
                          <a:latin typeface="Arial"/>
                          <a:ea typeface="Arial"/>
                          <a:cs typeface="Arial"/>
                        </a:rPr>
                        <a:t>9 timestamps defining 5 intervals</a:t>
                      </a:r>
                    </a:p>
                  </a:txBody>
                  <a:tcPr marL="91440" marR="91440" marT="45720" marB="45720" anchor="ctr">
                    <a:lnR w="9525">
                      <a:solidFill>
                        <a:srgbClr val="DED9DF"/>
                      </a:solidFill>
                      <a:prstDash val="solid"/>
                    </a:lnR>
                    <a:lnB w="9525">
                      <a:solidFill>
                        <a:srgbClr val="DED9DF"/>
                      </a:solidFill>
                      <a:prstDash val="solid"/>
                    </a:lnB>
                    <a:solidFill>
                      <a:srgbClr val="F5F3F6"/>
                    </a:solidFill>
                  </a:tcPr>
                </a:tc>
              </a:tr>
              <a:tr h="692150">
                <a:tc>
                  <a:txBody>
                    <a:bodyPr wrap="square" lIns="114300" tIns="114300" rIns="114300" bIns="114300">
                      <a:noAutofit/>
                    </a:bodyPr>
                    <a:lstStyle/>
                    <a:p>
                      <a:r>
                        <a:rPr sz="1800" b="0">
                          <a:solidFill>
                            <a:srgbClr val="241C27"/>
                          </a:solidFill>
                          <a:latin typeface="Arial"/>
                          <a:ea typeface="Arial"/>
                          <a:cs typeface="Arial"/>
                        </a:rPr>
                        <a:t>Analysis</a:t>
                      </a:r>
                    </a:p>
                  </a:txBody>
                  <a:tcPr marL="91440" marR="91440" marT="45720" marB="45720" anchor="ctr">
                    <a:lnL w="9525">
                      <a:solidFill>
                        <a:srgbClr val="DED9DF"/>
                      </a:solidFill>
                      <a:prstDash val="solid"/>
                    </a:lnL>
                    <a:lnR w="9525">
                      <a:solidFill>
                        <a:srgbClr val="DED9DF"/>
                      </a:solidFill>
                      <a:prstDash val="solid"/>
                    </a:lnR>
                    <a:lnB w="9525">
                      <a:solidFill>
                        <a:srgbClr val="DED9DF"/>
                      </a:solidFill>
                      <a:prstDash val="solid"/>
                    </a:lnB>
                    <a:solidFill>
                      <a:srgbClr val="FFFFFF"/>
                    </a:solidFill>
                  </a:tcPr>
                </a:tc>
                <a:tc>
                  <a:txBody>
                    <a:bodyPr wrap="square" lIns="114300" tIns="114300" rIns="114300" bIns="114300">
                      <a:noAutofit/>
                    </a:bodyPr>
                    <a:lstStyle/>
                    <a:p>
                      <a:r>
                        <a:rPr sz="1800" b="0">
                          <a:solidFill>
                            <a:srgbClr val="241C27"/>
                          </a:solidFill>
                          <a:latin typeface="Arial"/>
                          <a:ea typeface="Arial"/>
                          <a:cs typeface="Arial"/>
                        </a:rPr>
                        <a:t>Means and separate 95% confidence intervals</a:t>
                      </a:r>
                    </a:p>
                  </a:txBody>
                  <a:tcPr marL="91440" marR="91440" marT="45720" marB="45720" anchor="ctr">
                    <a:lnR w="9525">
                      <a:solidFill>
                        <a:srgbClr val="DED9DF"/>
                      </a:solidFill>
                      <a:prstDash val="solid"/>
                    </a:lnR>
                    <a:lnB w="9525">
                      <a:solidFill>
                        <a:srgbClr val="DED9DF"/>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77790091-2A07-4682-B038-CBDF57BC0F55}"/>
              </a:ext>
            </a:extLst>
          </p:cNvPr>
          <p:cNvSpPr>
            <a:spLocks xmlns:a="http://schemas.openxmlformats.org/drawingml/2006/main" noGrp="1"/>
          </p:cNvSpPr>
          <p:nvPr/>
        </p:nvSpPr>
        <p:spPr>
          <a:xfrm xmlns:a="http://schemas.openxmlformats.org/drawingml/2006/main">
            <a:off x="609600" y="5829300"/>
            <a:ext cx="108489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64606A"/>
                </a:solidFill>
                <a:latin typeface="Arial"/>
                <a:ea typeface="Arial"/>
                <a:cs typeface="Arial"/>
              </a:defRPr>
            </a:defPPr>
          </a:lstStyle>
          <a:p xmlns:a="http://schemas.openxmlformats.org/drawingml/2006/main">
            <a:pPr>
              <a:defRPr sz="1575" b="0">
                <a:solidFill>
                  <a:srgbClr val="64606A"/>
                </a:solidFill>
                <a:latin typeface="Arial"/>
                <a:ea typeface="Arial"/>
                <a:cs typeface="Arial"/>
              </a:defRPr>
            </a:pPr>
            <a:r>
              <a:rPr sz="1575" b="0">
                <a:solidFill>
                  <a:srgbClr val="64606A"/>
                </a:solidFill>
                <a:latin typeface="Arial"/>
                <a:ea typeface="Arial"/>
                <a:cs typeface="Arial"/>
              </a:rPr>
              <a:t>Approximate state sizes: 8, 12, 24 and 72 KB. Extra bytes are synthetic.</a:t>
            </a:r>
          </a:p>
        </p:txBody>
      </p:sp>
    </p:spTree>
    <p:extLst>
      <p:ext uri="{BB962C8B-B14F-4D97-AF65-F5344CB8AC3E}">
        <p14:creationId xmlns:p14="http://schemas.microsoft.com/office/powerpoint/2010/main" val="24673854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50926AA-C674-43EF-B6F0-4AABFEE5FE70}"/>
              </a:ext>
            </a:extLst>
          </p:cNvPr>
          <p:cNvSpPr>
            <a:spLocks xmlns:a="http://schemas.openxmlformats.org/drawingml/2006/main" noGrp="1"/>
          </p:cNvSpPr>
          <p:nvPr/>
        </p:nvSpPr>
        <p:spPr>
          <a:xfrm xmlns:a="http://schemas.openxmlformats.org/drawingml/2006/main">
            <a:off x="609600" y="400050"/>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41C27"/>
                </a:solidFill>
                <a:latin typeface="Arial"/>
                <a:ea typeface="Arial"/>
                <a:cs typeface="Arial"/>
              </a:defRPr>
            </a:defPPr>
          </a:lstStyle>
          <a:p xmlns:a="http://schemas.openxmlformats.org/drawingml/2006/main">
            <a:pPr>
              <a:defRPr sz="3300" b="1">
                <a:solidFill>
                  <a:srgbClr val="241C27"/>
                </a:solidFill>
                <a:latin typeface="Arial"/>
                <a:ea typeface="Arial"/>
                <a:cs typeface="Arial"/>
              </a:defRPr>
            </a:pPr>
            <a:r>
              <a:rPr sz="3300" b="1">
                <a:solidFill>
                  <a:srgbClr val="241C27"/>
                </a:solidFill>
                <a:latin typeface="Arial"/>
                <a:ea typeface="Arial"/>
                <a:cs typeface="Arial"/>
              </a:rPr>
              <a:t>Similar means under the measured conditions</a:t>
            </a:r>
          </a:p>
        </p:txBody>
      </p:sp>
      <p:sp>
        <p:nvSpPr>
          <p:cNvPr id="2" name="">
            <a:extLst xmlns:a="http://schemas.openxmlformats.org/drawingml/2006/main">
              <a:ext uri="{FF2B5EF4-FFF2-40B4-BE49-F238E27FC236}">
                <a16:creationId xmlns:a16="http://schemas.microsoft.com/office/drawing/2014/main" id="{6DE28BE8-C70D-4351-900F-E62DD67A4B79}"/>
              </a:ext>
            </a:extLst>
          </p:cNvPr>
          <p:cNvSpPr>
            <a:spLocks xmlns:a="http://schemas.openxmlformats.org/drawingml/2006/main" noGrp="1"/>
          </p:cNvSpPr>
          <p:nvPr/>
        </p:nvSpPr>
        <p:spPr>
          <a:xfrm xmlns:a="http://schemas.openxmlformats.org/drawingml/2006/main">
            <a:off x="11239500" y="641032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4606A"/>
                </a:solidFill>
                <a:latin typeface="Arial"/>
                <a:ea typeface="Arial"/>
                <a:cs typeface="Arial"/>
              </a:defRPr>
            </a:defPPr>
          </a:lstStyle>
          <a:p xmlns:a="http://schemas.openxmlformats.org/drawingml/2006/main">
            <a:pPr>
              <a:defRPr sz="1125" b="0">
                <a:solidFill>
                  <a:srgbClr val="64606A"/>
                </a:solidFill>
                <a:latin typeface="Arial"/>
                <a:ea typeface="Arial"/>
                <a:cs typeface="Arial"/>
              </a:defRPr>
            </a:pPr>
            <a:r>
              <a:rPr sz="1125" b="0">
                <a:solidFill>
                  <a:srgbClr val="64606A"/>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9B4C9E5B-D12A-4A25-957F-20B90E267A28}"/>
              </a:ext>
            </a:extLst>
          </p:cNvPr>
          <p:cNvSpPr>
            <a:spLocks xmlns:a="http://schemas.openxmlformats.org/drawingml/2006/main" noGrp="1"/>
          </p:cNvSpPr>
          <p:nvPr/>
        </p:nvSpPr>
        <p:spPr>
          <a:xfrm xmlns:a="http://schemas.openxmlformats.org/drawingml/2006/main">
            <a:off x="609600" y="633412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4606A"/>
                </a:solidFill>
                <a:latin typeface="Arial"/>
                <a:ea typeface="Arial"/>
                <a:cs typeface="Arial"/>
              </a:defRPr>
            </a:defPPr>
          </a:lstStyle>
          <a:p xmlns:a="http://schemas.openxmlformats.org/drawingml/2006/main">
            <a:pPr>
              <a:defRPr sz="1125" b="0">
                <a:solidFill>
                  <a:srgbClr val="64606A"/>
                </a:solidFill>
                <a:latin typeface="Arial"/>
                <a:ea typeface="Arial"/>
                <a:cs typeface="Arial"/>
              </a:defRPr>
            </a:pPr>
            <a:r>
              <a:rPr sz="1125" b="0">
                <a:solidFill>
                  <a:srgbClr val="64606A"/>
                </a:solidFill>
                <a:latin typeface="Arial"/>
                <a:ea typeface="Arial"/>
                <a:cs typeface="Arial"/>
              </a:rPr>
              <a:t>Original dataset: bench/results/KERNEL.log and USERSPACE.log. Report §§4.2.1–4.2.4.</a:t>
            </a:r>
          </a:p>
        </p:txBody>
      </p:sp>
      <p:graphicFrame>
        <p:nvGraphicFramePr>
          <p:cNvPr id="4" name="Chart">
            <a:extLst xmlns:a="http://schemas.openxmlformats.org/drawingml/2006/main">
              <a:ext uri="{FF2B5EF4-FFF2-40B4-BE49-F238E27FC236}">
                <a16:creationId xmlns:a16="http://schemas.microsoft.com/office/drawing/2014/main" id="{E9A9F389-A151-4DB8-B3E7-B6D34F48EA03}"/>
              </a:ext>
            </a:extLst>
          </p:cNvPr>
          <p:cNvGraphicFramePr/>
          <p:nvPr/>
        </p:nvGraphicFramePr>
        <p:xfrm>
          <a:off xmlns:a="http://schemas.openxmlformats.org/drawingml/2006/main" x="476250" y="1428750"/>
          <a:ext xmlns:a="http://schemas.openxmlformats.org/drawingml/2006/main" cx="7353300" cy="4486275"/>
        </p:xfrm>
        <a:graphic xmlns:a="http://schemas.openxmlformats.org/drawingml/2006/main">
          <a:graphicData uri="http://schemas.openxmlformats.org/drawingml/2006/chart">
            <c:chart xmlns:r="http://schemas.openxmlformats.org/officeDocument/2006/relationships" xmlns:c="http://schemas.openxmlformats.org/drawingml/2006/chart" r:id="Rf5f52305bdda42ca"/>
          </a:graphicData>
        </a:graphic>
      </p:graphicFrame>
      <p:sp>
        <p:nvSpPr>
          <p:cNvPr id="5" name="">
            <a:extLst xmlns:a="http://schemas.openxmlformats.org/drawingml/2006/main">
              <a:ext uri="{FF2B5EF4-FFF2-40B4-BE49-F238E27FC236}">
                <a16:creationId xmlns:a16="http://schemas.microsoft.com/office/drawing/2014/main" id="{BCC9ADCE-C268-4588-A851-3D6954062CAD}"/>
              </a:ext>
            </a:extLst>
          </p:cNvPr>
          <p:cNvSpPr>
            <a:spLocks xmlns:a="http://schemas.openxmlformats.org/drawingml/2006/main" noGrp="1"/>
          </p:cNvSpPr>
          <p:nvPr/>
        </p:nvSpPr>
        <p:spPr>
          <a:xfrm xmlns:a="http://schemas.openxmlformats.org/drawingml/2006/main">
            <a:off x="8286750" y="1733550"/>
            <a:ext cx="31242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125" b="1">
                <a:solidFill>
                  <a:srgbClr val="56334C"/>
                </a:solidFill>
                <a:latin typeface="Arial"/>
                <a:ea typeface="Arial"/>
                <a:cs typeface="Arial"/>
              </a:defRPr>
            </a:defPPr>
          </a:lstStyle>
          <a:p xmlns:a="http://schemas.openxmlformats.org/drawingml/2006/main">
            <a:pPr>
              <a:defRPr sz="7125" b="1">
                <a:solidFill>
                  <a:srgbClr val="56334C"/>
                </a:solidFill>
                <a:latin typeface="Arial"/>
                <a:ea typeface="Arial"/>
                <a:cs typeface="Arial"/>
              </a:defRPr>
            </a:pPr>
            <a:r>
              <a:rPr sz="7125" b="1">
                <a:solidFill>
                  <a:srgbClr val="56334C"/>
                </a:solidFill>
                <a:latin typeface="Arial"/>
                <a:ea typeface="Arial"/>
                <a:cs typeface="Arial"/>
              </a:rPr>
              <a:t>1.00</a:t>
            </a:r>
          </a:p>
        </p:txBody>
      </p:sp>
      <p:sp>
        <p:nvSpPr>
          <p:cNvPr id="6" name="">
            <a:extLst xmlns:a="http://schemas.openxmlformats.org/drawingml/2006/main">
              <a:ext uri="{FF2B5EF4-FFF2-40B4-BE49-F238E27FC236}">
                <a16:creationId xmlns:a16="http://schemas.microsoft.com/office/drawing/2014/main" id="{71FDDFA7-3E7F-4822-ABA0-81B883DC931C}"/>
              </a:ext>
            </a:extLst>
          </p:cNvPr>
          <p:cNvSpPr>
            <a:spLocks xmlns:a="http://schemas.openxmlformats.org/drawingml/2006/main" noGrp="1"/>
          </p:cNvSpPr>
          <p:nvPr/>
        </p:nvSpPr>
        <p:spPr>
          <a:xfrm xmlns:a="http://schemas.openxmlformats.org/drawingml/2006/main">
            <a:off x="8334375" y="3000375"/>
            <a:ext cx="30861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41C27"/>
                </a:solidFill>
                <a:latin typeface="Arial"/>
                <a:ea typeface="Arial"/>
                <a:cs typeface="Arial"/>
              </a:defRPr>
            </a:defPPr>
          </a:lstStyle>
          <a:p xmlns:a="http://schemas.openxmlformats.org/drawingml/2006/main">
            <a:pPr>
              <a:defRPr sz="1875" b="0">
                <a:solidFill>
                  <a:srgbClr val="241C27"/>
                </a:solidFill>
                <a:latin typeface="Arial"/>
                <a:ea typeface="Arial"/>
                <a:cs typeface="Arial"/>
              </a:defRPr>
            </a:pPr>
            <a:r>
              <a:rPr sz="1875" b="0">
                <a:solidFill>
                  <a:srgbClr val="241C27"/>
                </a:solidFill>
                <a:latin typeface="Arial"/>
                <a:ea typeface="Arial"/>
                <a:cs typeface="Arial"/>
              </a:rPr>
              <a:t>pooled wrapper/direct ratio</a:t>
            </a:r>
          </a:p>
          <a:p xmlns:a="http://schemas.openxmlformats.org/drawingml/2006/main">
            <a:pPr>
              <a:defRPr sz="1875" b="0">
                <a:solidFill>
                  <a:srgbClr val="241C27"/>
                </a:solidFill>
                <a:latin typeface="Arial"/>
                <a:ea typeface="Arial"/>
                <a:cs typeface="Arial"/>
              </a:defRPr>
            </a:pPr>
            <a:r>
              <a:rPr sz="1875" b="0">
                <a:solidFill>
                  <a:srgbClr val="241C27"/>
                </a:solidFill>
                <a:latin typeface="Arial"/>
                <a:ea typeface="Arial"/>
                <a:cs typeface="Arial"/>
              </a:rPr>
              <a:t>rounded to two decimals</a:t>
            </a:r>
          </a:p>
        </p:txBody>
      </p:sp>
      <p:sp>
        <p:nvSpPr>
          <p:cNvPr id="7" name="">
            <a:extLst xmlns:a="http://schemas.openxmlformats.org/drawingml/2006/main">
              <a:ext uri="{FF2B5EF4-FFF2-40B4-BE49-F238E27FC236}">
                <a16:creationId xmlns:a16="http://schemas.microsoft.com/office/drawing/2014/main" id="{37853864-6F4A-468F-B29E-2259A85CD6FE}"/>
              </a:ext>
            </a:extLst>
          </p:cNvPr>
          <p:cNvSpPr>
            <a:spLocks xmlns:a="http://schemas.openxmlformats.org/drawingml/2006/main" noGrp="1"/>
          </p:cNvSpPr>
          <p:nvPr/>
        </p:nvSpPr>
        <p:spPr>
          <a:xfrm xmlns:a="http://schemas.openxmlformats.org/drawingml/2006/main">
            <a:off x="8334375" y="4219575"/>
            <a:ext cx="304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56334C"/>
                </a:solidFill>
                <a:latin typeface="Arial"/>
                <a:ea typeface="Arial"/>
                <a:cs typeface="Arial"/>
              </a:defRPr>
            </a:defPPr>
          </a:lstStyle>
          <a:p xmlns:a="http://schemas.openxmlformats.org/drawingml/2006/main">
            <a:pPr>
              <a:defRPr sz="2850" b="1">
                <a:solidFill>
                  <a:srgbClr val="56334C"/>
                </a:solidFill>
                <a:latin typeface="Arial"/>
                <a:ea typeface="Arial"/>
                <a:cs typeface="Arial"/>
              </a:defRPr>
            </a:pPr>
            <a:r>
              <a:rPr sz="2850" b="1">
                <a:solidFill>
                  <a:srgbClr val="56334C"/>
                </a:solidFill>
                <a:latin typeface="Arial"/>
                <a:ea typeface="Arial"/>
                <a:cs typeface="Arial"/>
              </a:rPr>
              <a:t>4,061,687</a:t>
            </a:r>
          </a:p>
        </p:txBody>
      </p:sp>
      <p:sp>
        <p:nvSpPr>
          <p:cNvPr id="8" name="">
            <a:extLst xmlns:a="http://schemas.openxmlformats.org/drawingml/2006/main">
              <a:ext uri="{FF2B5EF4-FFF2-40B4-BE49-F238E27FC236}">
                <a16:creationId xmlns:a16="http://schemas.microsoft.com/office/drawing/2014/main" id="{CC99E286-7D63-4B64-893F-B625686675E9}"/>
              </a:ext>
            </a:extLst>
          </p:cNvPr>
          <p:cNvSpPr>
            <a:spLocks xmlns:a="http://schemas.openxmlformats.org/drawingml/2006/main" noGrp="1"/>
          </p:cNvSpPr>
          <p:nvPr/>
        </p:nvSpPr>
        <p:spPr>
          <a:xfrm xmlns:a="http://schemas.openxmlformats.org/drawingml/2006/main">
            <a:off x="8353425" y="4733925"/>
            <a:ext cx="2990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64606A"/>
                </a:solidFill>
                <a:latin typeface="Arial"/>
                <a:ea typeface="Arial"/>
                <a:cs typeface="Arial"/>
              </a:defRPr>
            </a:defPPr>
          </a:lstStyle>
          <a:p xmlns:a="http://schemas.openxmlformats.org/drawingml/2006/main">
            <a:pPr>
              <a:defRPr sz="1575" b="0">
                <a:solidFill>
                  <a:srgbClr val="64606A"/>
                </a:solidFill>
                <a:latin typeface="Arial"/>
                <a:ea typeface="Arial"/>
                <a:cs typeface="Arial"/>
              </a:defRPr>
            </a:pPr>
            <a:r>
              <a:rPr sz="1575" b="0">
                <a:solidFill>
                  <a:srgbClr val="64606A"/>
                </a:solidFill>
                <a:latin typeface="Arial"/>
                <a:ea typeface="Arial"/>
                <a:cs typeface="Arial"/>
              </a:rPr>
              <a:t>KERNEL mean cycles</a:t>
            </a:r>
          </a:p>
        </p:txBody>
      </p:sp>
      <p:sp>
        <p:nvSpPr>
          <p:cNvPr id="9" name="">
            <a:extLst xmlns:a="http://schemas.openxmlformats.org/drawingml/2006/main">
              <a:ext uri="{FF2B5EF4-FFF2-40B4-BE49-F238E27FC236}">
                <a16:creationId xmlns:a16="http://schemas.microsoft.com/office/drawing/2014/main" id="{43ECB4B9-0362-4B70-B94C-A901E95FB8A7}"/>
              </a:ext>
            </a:extLst>
          </p:cNvPr>
          <p:cNvSpPr>
            <a:spLocks xmlns:a="http://schemas.openxmlformats.org/drawingml/2006/main" noGrp="1"/>
          </p:cNvSpPr>
          <p:nvPr/>
        </p:nvSpPr>
        <p:spPr>
          <a:xfrm xmlns:a="http://schemas.openxmlformats.org/drawingml/2006/main">
            <a:off x="8334375" y="5267325"/>
            <a:ext cx="3048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C85230"/>
                </a:solidFill>
                <a:latin typeface="Arial"/>
                <a:ea typeface="Arial"/>
                <a:cs typeface="Arial"/>
              </a:defRPr>
            </a:defPPr>
          </a:lstStyle>
          <a:p xmlns:a="http://schemas.openxmlformats.org/drawingml/2006/main">
            <a:pPr>
              <a:defRPr sz="2850" b="1">
                <a:solidFill>
                  <a:srgbClr val="C85230"/>
                </a:solidFill>
                <a:latin typeface="Arial"/>
                <a:ea typeface="Arial"/>
                <a:cs typeface="Arial"/>
              </a:defRPr>
            </a:pPr>
            <a:r>
              <a:rPr sz="2850" b="1">
                <a:solidFill>
                  <a:srgbClr val="C85230"/>
                </a:solidFill>
                <a:latin typeface="Arial"/>
                <a:ea typeface="Arial"/>
                <a:cs typeface="Arial"/>
              </a:rPr>
              <a:t>4,061,801</a:t>
            </a:r>
          </a:p>
        </p:txBody>
      </p:sp>
      <p:sp>
        <p:nvSpPr>
          <p:cNvPr id="10" name="">
            <a:extLst xmlns:a="http://schemas.openxmlformats.org/drawingml/2006/main">
              <a:ext uri="{FF2B5EF4-FFF2-40B4-BE49-F238E27FC236}">
                <a16:creationId xmlns:a16="http://schemas.microsoft.com/office/drawing/2014/main" id="{FE61719D-8BA2-4A20-8416-E63E46F526A0}"/>
              </a:ext>
            </a:extLst>
          </p:cNvPr>
          <p:cNvSpPr>
            <a:spLocks xmlns:a="http://schemas.openxmlformats.org/drawingml/2006/main" noGrp="1"/>
          </p:cNvSpPr>
          <p:nvPr/>
        </p:nvSpPr>
        <p:spPr>
          <a:xfrm xmlns:a="http://schemas.openxmlformats.org/drawingml/2006/main">
            <a:off x="8353425" y="5781675"/>
            <a:ext cx="30289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64606A"/>
                </a:solidFill>
                <a:latin typeface="Arial"/>
                <a:ea typeface="Arial"/>
                <a:cs typeface="Arial"/>
              </a:defRPr>
            </a:defPPr>
          </a:lstStyle>
          <a:p xmlns:a="http://schemas.openxmlformats.org/drawingml/2006/main">
            <a:pPr>
              <a:defRPr sz="1575" b="0">
                <a:solidFill>
                  <a:srgbClr val="64606A"/>
                </a:solidFill>
                <a:latin typeface="Arial"/>
                <a:ea typeface="Arial"/>
                <a:cs typeface="Arial"/>
              </a:defRPr>
            </a:pPr>
            <a:r>
              <a:rPr sz="1575" b="0">
                <a:solidFill>
                  <a:srgbClr val="64606A"/>
                </a:solidFill>
                <a:latin typeface="Arial"/>
                <a:ea typeface="Arial"/>
                <a:cs typeface="Arial"/>
              </a:rPr>
              <a:t>USERSPACE mean cycles</a:t>
            </a:r>
          </a:p>
        </p:txBody>
      </p:sp>
      <p:sp>
        <p:nvSpPr>
          <p:cNvPr id="11" name="">
            <a:extLst xmlns:a="http://schemas.openxmlformats.org/drawingml/2006/main">
              <a:ext uri="{FF2B5EF4-FFF2-40B4-BE49-F238E27FC236}">
                <a16:creationId xmlns:a16="http://schemas.microsoft.com/office/drawing/2014/main" id="{D1E08F97-09CA-4815-B79D-B2E3CF17EA1F}"/>
              </a:ext>
            </a:extLst>
          </p:cNvPr>
          <p:cNvSpPr>
            <a:spLocks xmlns:a="http://schemas.openxmlformats.org/drawingml/2006/main" noGrp="1"/>
          </p:cNvSpPr>
          <p:nvPr/>
        </p:nvSpPr>
        <p:spPr>
          <a:xfrm xmlns:a="http://schemas.openxmlformats.org/drawingml/2006/main">
            <a:off x="609600" y="6048375"/>
            <a:ext cx="10763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64606A"/>
                </a:solidFill>
                <a:latin typeface="Arial"/>
                <a:ea typeface="Arial"/>
                <a:cs typeface="Arial"/>
              </a:defRPr>
            </a:defPPr>
          </a:lstStyle>
          <a:p xmlns:a="http://schemas.openxmlformats.org/drawingml/2006/main">
            <a:pPr>
              <a:defRPr sz="1425" b="0">
                <a:solidFill>
                  <a:srgbClr val="64606A"/>
                </a:solidFill>
                <a:latin typeface="Arial"/>
                <a:ea typeface="Arial"/>
                <a:cs typeface="Arial"/>
              </a:defRPr>
            </a:pPr>
            <a:r>
              <a:rPr sz="1425" b="0">
                <a:solidFill>
                  <a:srgbClr val="64606A"/>
                </a:solidFill>
                <a:latin typeface="Arial"/>
                <a:ea typeface="Arial"/>
                <a:cs typeface="Arial"/>
              </a:rPr>
              <a:t>15 observations per size and mode. Similar means do not establish equivalence.</a:t>
            </a:r>
          </a:p>
        </p:txBody>
      </p:sp>
    </p:spTree>
    <p:extLst>
      <p:ext uri="{BB962C8B-B14F-4D97-AF65-F5344CB8AC3E}">
        <p14:creationId xmlns:p14="http://schemas.microsoft.com/office/powerpoint/2010/main" val="177611843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7CF40FC-2476-4A33-8132-A919920332E0}"/>
              </a:ext>
            </a:extLst>
          </p:cNvPr>
          <p:cNvSpPr>
            <a:spLocks xmlns:a="http://schemas.openxmlformats.org/drawingml/2006/main" noGrp="1"/>
          </p:cNvSpPr>
          <p:nvPr/>
        </p:nvSpPr>
        <p:spPr>
          <a:xfrm xmlns:a="http://schemas.openxmlformats.org/drawingml/2006/main">
            <a:off x="609600" y="400050"/>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41C27"/>
                </a:solidFill>
                <a:latin typeface="Arial"/>
                <a:ea typeface="Arial"/>
                <a:cs typeface="Arial"/>
              </a:defRPr>
            </a:defPPr>
          </a:lstStyle>
          <a:p xmlns:a="http://schemas.openxmlformats.org/drawingml/2006/main">
            <a:pPr>
              <a:defRPr sz="3300" b="1">
                <a:solidFill>
                  <a:srgbClr val="241C27"/>
                </a:solidFill>
                <a:latin typeface="Arial"/>
                <a:ea typeface="Arial"/>
                <a:cs typeface="Arial"/>
              </a:defRPr>
            </a:pPr>
            <a:r>
              <a:rPr sz="3300" b="1">
                <a:solidFill>
                  <a:srgbClr val="241C27"/>
                </a:solidFill>
                <a:latin typeface="Arial"/>
                <a:ea typeface="Arial"/>
                <a:cs typeface="Arial"/>
              </a:rPr>
              <a:t>Checkpoint and restore produce a running task</a:t>
            </a:r>
          </a:p>
        </p:txBody>
      </p:sp>
      <p:sp>
        <p:nvSpPr>
          <p:cNvPr id="2" name="">
            <a:extLst xmlns:a="http://schemas.openxmlformats.org/drawingml/2006/main">
              <a:ext uri="{FF2B5EF4-FFF2-40B4-BE49-F238E27FC236}">
                <a16:creationId xmlns:a16="http://schemas.microsoft.com/office/drawing/2014/main" id="{F7C55514-70E0-43D4-964B-37DEAD2DA8F1}"/>
              </a:ext>
            </a:extLst>
          </p:cNvPr>
          <p:cNvSpPr>
            <a:spLocks xmlns:a="http://schemas.openxmlformats.org/drawingml/2006/main" noGrp="1"/>
          </p:cNvSpPr>
          <p:nvPr/>
        </p:nvSpPr>
        <p:spPr>
          <a:xfrm xmlns:a="http://schemas.openxmlformats.org/drawingml/2006/main">
            <a:off x="11239500" y="641032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4606A"/>
                </a:solidFill>
                <a:latin typeface="Arial"/>
                <a:ea typeface="Arial"/>
                <a:cs typeface="Arial"/>
              </a:defRPr>
            </a:defPPr>
          </a:lstStyle>
          <a:p xmlns:a="http://schemas.openxmlformats.org/drawingml/2006/main">
            <a:pPr>
              <a:defRPr sz="1125" b="0">
                <a:solidFill>
                  <a:srgbClr val="64606A"/>
                </a:solidFill>
                <a:latin typeface="Arial"/>
                <a:ea typeface="Arial"/>
                <a:cs typeface="Arial"/>
              </a:defRPr>
            </a:pPr>
            <a:r>
              <a:rPr sz="1125" b="0">
                <a:solidFill>
                  <a:srgbClr val="64606A"/>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DD351550-AA19-4BA8-A7A3-735D645F4839}"/>
              </a:ext>
            </a:extLst>
          </p:cNvPr>
          <p:cNvSpPr>
            <a:spLocks xmlns:a="http://schemas.openxmlformats.org/drawingml/2006/main" noGrp="1"/>
          </p:cNvSpPr>
          <p:nvPr/>
        </p:nvSpPr>
        <p:spPr>
          <a:xfrm xmlns:a="http://schemas.openxmlformats.org/drawingml/2006/main">
            <a:off x="609600" y="633412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4606A"/>
                </a:solidFill>
                <a:latin typeface="Arial"/>
                <a:ea typeface="Arial"/>
                <a:cs typeface="Arial"/>
              </a:defRPr>
            </a:defPPr>
          </a:lstStyle>
          <a:p xmlns:a="http://schemas.openxmlformats.org/drawingml/2006/main">
            <a:pPr>
              <a:defRPr sz="1125" b="0">
                <a:solidFill>
                  <a:srgbClr val="64606A"/>
                </a:solidFill>
                <a:latin typeface="Arial"/>
                <a:ea typeface="Arial"/>
                <a:cs typeface="Arial"/>
              </a:defRPr>
            </a:pPr>
            <a:r>
              <a:rPr sz="1125" b="0">
                <a:solidFill>
                  <a:srgbClr val="64606A"/>
                </a:solidFill>
                <a:latin typeface="Arial"/>
                <a:ea typeface="Arial"/>
                <a:cs typeface="Arial"/>
              </a:rPr>
              <a:t>Later QEMU recording, 14 Oct 2026. Actual UART output with a recreated terminal appearance.</a:t>
            </a:r>
          </a:p>
        </p:txBody>
      </p:sp>
      <p:sp>
        <p:nvSpPr>
          <p:cNvPr id="4" name="">
            <a:extLst xmlns:a="http://schemas.openxmlformats.org/drawingml/2006/main">
              <a:ext uri="{FF2B5EF4-FFF2-40B4-BE49-F238E27FC236}">
                <a16:creationId xmlns:a16="http://schemas.microsoft.com/office/drawing/2014/main" id="{97759227-5971-4581-BB1B-42565022861C}"/>
              </a:ext>
            </a:extLst>
          </p:cNvPr>
          <p:cNvSpPr>
            <a:spLocks xmlns:a="http://schemas.openxmlformats.org/drawingml/2006/main" noGrp="1"/>
          </p:cNvSpPr>
          <p:nvPr/>
        </p:nvSpPr>
        <p:spPr>
          <a:xfrm xmlns:a="http://schemas.openxmlformats.org/drawingml/2006/main">
            <a:off x="609600" y="1352550"/>
            <a:ext cx="26574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56334C"/>
                </a:solidFill>
                <a:latin typeface="Arial"/>
                <a:ea typeface="Arial"/>
                <a:cs typeface="Arial"/>
              </a:defRPr>
            </a:defPPr>
          </a:lstStyle>
          <a:p xmlns:a="http://schemas.openxmlformats.org/drawingml/2006/main">
            <a:pPr>
              <a:defRPr sz="2850" b="1">
                <a:solidFill>
                  <a:srgbClr val="56334C"/>
                </a:solidFill>
                <a:latin typeface="Arial"/>
                <a:ea typeface="Arial"/>
                <a:cs typeface="Arial"/>
              </a:defRPr>
            </a:pPr>
            <a:r>
              <a:rPr sz="2850" b="1">
                <a:solidFill>
                  <a:srgbClr val="56334C"/>
                </a:solidFill>
                <a:latin typeface="Arial"/>
                <a:ea typeface="Arial"/>
                <a:cs typeface="Arial"/>
              </a:rPr>
              <a:t>8,784 bytes</a:t>
            </a:r>
          </a:p>
        </p:txBody>
      </p:sp>
      <p:sp>
        <p:nvSpPr>
          <p:cNvPr id="5" name="">
            <a:extLst xmlns:a="http://schemas.openxmlformats.org/drawingml/2006/main">
              <a:ext uri="{FF2B5EF4-FFF2-40B4-BE49-F238E27FC236}">
                <a16:creationId xmlns:a16="http://schemas.microsoft.com/office/drawing/2014/main" id="{2099C61D-F6C0-4CDC-AFF6-70F33922A25B}"/>
              </a:ext>
            </a:extLst>
          </p:cNvPr>
          <p:cNvSpPr>
            <a:spLocks xmlns:a="http://schemas.openxmlformats.org/drawingml/2006/main" noGrp="1"/>
          </p:cNvSpPr>
          <p:nvPr/>
        </p:nvSpPr>
        <p:spPr>
          <a:xfrm xmlns:a="http://schemas.openxmlformats.org/drawingml/2006/main">
            <a:off x="609600" y="1876425"/>
            <a:ext cx="26574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64606A"/>
                </a:solidFill>
                <a:latin typeface="Arial"/>
                <a:ea typeface="Arial"/>
                <a:cs typeface="Arial"/>
              </a:defRPr>
            </a:defPPr>
          </a:lstStyle>
          <a:p xmlns:a="http://schemas.openxmlformats.org/drawingml/2006/main">
            <a:pPr>
              <a:defRPr sz="1500" b="0">
                <a:solidFill>
                  <a:srgbClr val="64606A"/>
                </a:solidFill>
                <a:latin typeface="Arial"/>
                <a:ea typeface="Arial"/>
                <a:cs typeface="Arial"/>
              </a:defRPr>
            </a:pPr>
            <a:r>
              <a:rPr sz="1500" b="0">
                <a:solidFill>
                  <a:srgbClr val="64606A"/>
                </a:solidFill>
                <a:latin typeface="Arial"/>
                <a:ea typeface="Arial"/>
                <a:cs typeface="Arial"/>
              </a:rPr>
              <a:t>Checkpoint captured</a:t>
            </a:r>
          </a:p>
        </p:txBody>
      </p:sp>
      <p:sp>
        <p:nvSpPr>
          <p:cNvPr id="6" name="">
            <a:extLst xmlns:a="http://schemas.openxmlformats.org/drawingml/2006/main">
              <a:ext uri="{FF2B5EF4-FFF2-40B4-BE49-F238E27FC236}">
                <a16:creationId xmlns:a16="http://schemas.microsoft.com/office/drawing/2014/main" id="{0CCC74CE-2982-47B9-8C6C-2D1895AB27BC}"/>
              </a:ext>
            </a:extLst>
          </p:cNvPr>
          <p:cNvSpPr>
            <a:spLocks xmlns:a="http://schemas.openxmlformats.org/drawingml/2006/main" noGrp="1"/>
          </p:cNvSpPr>
          <p:nvPr/>
        </p:nvSpPr>
        <p:spPr>
          <a:xfrm xmlns:a="http://schemas.openxmlformats.org/drawingml/2006/main">
            <a:off x="3429000" y="1352550"/>
            <a:ext cx="26574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56334C"/>
                </a:solidFill>
                <a:latin typeface="Arial"/>
                <a:ea typeface="Arial"/>
                <a:cs typeface="Arial"/>
              </a:defRPr>
            </a:defPPr>
          </a:lstStyle>
          <a:p xmlns:a="http://schemas.openxmlformats.org/drawingml/2006/main">
            <a:pPr>
              <a:defRPr sz="2850" b="1">
                <a:solidFill>
                  <a:srgbClr val="56334C"/>
                </a:solidFill>
                <a:latin typeface="Arial"/>
                <a:ea typeface="Arial"/>
                <a:cs typeface="Arial"/>
              </a:defRPr>
            </a:pPr>
            <a:r>
              <a:rPr sz="2850" b="1">
                <a:solidFill>
                  <a:srgbClr val="56334C"/>
                </a:solidFill>
                <a:latin typeface="Arial"/>
                <a:ea typeface="Arial"/>
                <a:cs typeface="Arial"/>
              </a:rPr>
              <a:t>166 / 167</a:t>
            </a:r>
          </a:p>
        </p:txBody>
      </p:sp>
      <p:sp>
        <p:nvSpPr>
          <p:cNvPr id="7" name="">
            <a:extLst xmlns:a="http://schemas.openxmlformats.org/drawingml/2006/main">
              <a:ext uri="{FF2B5EF4-FFF2-40B4-BE49-F238E27FC236}">
                <a16:creationId xmlns:a16="http://schemas.microsoft.com/office/drawing/2014/main" id="{9F0A0BC1-FB5D-4CC2-8AE8-A39517E43F4B}"/>
              </a:ext>
            </a:extLst>
          </p:cNvPr>
          <p:cNvSpPr>
            <a:spLocks xmlns:a="http://schemas.openxmlformats.org/drawingml/2006/main" noGrp="1"/>
          </p:cNvSpPr>
          <p:nvPr/>
        </p:nvSpPr>
        <p:spPr>
          <a:xfrm xmlns:a="http://schemas.openxmlformats.org/drawingml/2006/main">
            <a:off x="3429000" y="1876425"/>
            <a:ext cx="26574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64606A"/>
                </a:solidFill>
                <a:latin typeface="Arial"/>
                <a:ea typeface="Arial"/>
                <a:cs typeface="Arial"/>
              </a:defRPr>
            </a:defPPr>
          </a:lstStyle>
          <a:p xmlns:a="http://schemas.openxmlformats.org/drawingml/2006/main">
            <a:pPr>
              <a:defRPr sz="1500" b="0">
                <a:solidFill>
                  <a:srgbClr val="64606A"/>
                </a:solidFill>
                <a:latin typeface="Arial"/>
                <a:ea typeface="Arial"/>
                <a:cs typeface="Arial"/>
              </a:defRPr>
            </a:pPr>
            <a:r>
              <a:rPr sz="1500" b="0">
                <a:solidFill>
                  <a:srgbClr val="64606A"/>
                </a:solidFill>
                <a:latin typeface="Arial"/>
                <a:ea typeface="Arial"/>
                <a:cs typeface="Arial"/>
              </a:rPr>
              <a:t>Original / restored PID</a:t>
            </a:r>
          </a:p>
        </p:txBody>
      </p:sp>
      <p:sp>
        <p:nvSpPr>
          <p:cNvPr id="8" name="">
            <a:extLst xmlns:a="http://schemas.openxmlformats.org/drawingml/2006/main">
              <a:ext uri="{FF2B5EF4-FFF2-40B4-BE49-F238E27FC236}">
                <a16:creationId xmlns:a16="http://schemas.microsoft.com/office/drawing/2014/main" id="{195D3C21-24FC-4B00-BB4A-4012CD387EFA}"/>
              </a:ext>
            </a:extLst>
          </p:cNvPr>
          <p:cNvSpPr>
            <a:spLocks xmlns:a="http://schemas.openxmlformats.org/drawingml/2006/main" noGrp="1"/>
          </p:cNvSpPr>
          <p:nvPr/>
        </p:nvSpPr>
        <p:spPr>
          <a:xfrm xmlns:a="http://schemas.openxmlformats.org/drawingml/2006/main">
            <a:off x="6248400" y="1352550"/>
            <a:ext cx="26574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56334C"/>
                </a:solidFill>
                <a:latin typeface="Arial"/>
                <a:ea typeface="Arial"/>
                <a:cs typeface="Arial"/>
              </a:defRPr>
            </a:defPPr>
          </a:lstStyle>
          <a:p xmlns:a="http://schemas.openxmlformats.org/drawingml/2006/main">
            <a:pPr>
              <a:defRPr sz="2850" b="1">
                <a:solidFill>
                  <a:srgbClr val="56334C"/>
                </a:solidFill>
                <a:latin typeface="Arial"/>
                <a:ea typeface="Arial"/>
                <a:cs typeface="Arial"/>
              </a:defRPr>
            </a:pPr>
            <a:r>
              <a:rPr sz="2850" b="1">
                <a:solidFill>
                  <a:srgbClr val="56334C"/>
                </a:solidFill>
                <a:latin typeface="Arial"/>
                <a:ea typeface="Arial"/>
                <a:cs typeface="Arial"/>
              </a:rPr>
              <a:t>+20</a:t>
            </a:r>
          </a:p>
        </p:txBody>
      </p:sp>
      <p:sp>
        <p:nvSpPr>
          <p:cNvPr id="9" name="">
            <a:extLst xmlns:a="http://schemas.openxmlformats.org/drawingml/2006/main">
              <a:ext uri="{FF2B5EF4-FFF2-40B4-BE49-F238E27FC236}">
                <a16:creationId xmlns:a16="http://schemas.microsoft.com/office/drawing/2014/main" id="{89992E9B-F83F-4D41-A626-E4CC01656179}"/>
              </a:ext>
            </a:extLst>
          </p:cNvPr>
          <p:cNvSpPr>
            <a:spLocks xmlns:a="http://schemas.openxmlformats.org/drawingml/2006/main" noGrp="1"/>
          </p:cNvSpPr>
          <p:nvPr/>
        </p:nvSpPr>
        <p:spPr>
          <a:xfrm xmlns:a="http://schemas.openxmlformats.org/drawingml/2006/main">
            <a:off x="6248400" y="1876425"/>
            <a:ext cx="26574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64606A"/>
                </a:solidFill>
                <a:latin typeface="Arial"/>
                <a:ea typeface="Arial"/>
                <a:cs typeface="Arial"/>
              </a:defRPr>
            </a:defPPr>
          </a:lstStyle>
          <a:p xmlns:a="http://schemas.openxmlformats.org/drawingml/2006/main">
            <a:pPr>
              <a:defRPr sz="1500" b="0">
                <a:solidFill>
                  <a:srgbClr val="64606A"/>
                </a:solidFill>
                <a:latin typeface="Arial"/>
                <a:ea typeface="Arial"/>
                <a:cs typeface="Arial"/>
              </a:defRPr>
            </a:pPr>
            <a:r>
              <a:rPr sz="1500" b="0">
                <a:solidFill>
                  <a:srgbClr val="64606A"/>
                </a:solidFill>
                <a:latin typeface="Arial"/>
                <a:ea typeface="Arial"/>
                <a:cs typeface="Arial"/>
              </a:rPr>
              <a:t>Counter delta</a:t>
            </a:r>
          </a:p>
        </p:txBody>
      </p:sp>
      <p:sp>
        <p:nvSpPr>
          <p:cNvPr id="10" name="">
            <a:extLst xmlns:a="http://schemas.openxmlformats.org/drawingml/2006/main">
              <a:ext uri="{FF2B5EF4-FFF2-40B4-BE49-F238E27FC236}">
                <a16:creationId xmlns:a16="http://schemas.microsoft.com/office/drawing/2014/main" id="{B7E9CF88-C3AE-4D2F-A559-169A90B49822}"/>
              </a:ext>
            </a:extLst>
          </p:cNvPr>
          <p:cNvSpPr>
            <a:spLocks xmlns:a="http://schemas.openxmlformats.org/drawingml/2006/main" noGrp="1"/>
          </p:cNvSpPr>
          <p:nvPr/>
        </p:nvSpPr>
        <p:spPr>
          <a:xfrm xmlns:a="http://schemas.openxmlformats.org/drawingml/2006/main">
            <a:off x="9067800" y="1352550"/>
            <a:ext cx="26574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246943"/>
                </a:solidFill>
                <a:latin typeface="Arial"/>
                <a:ea typeface="Arial"/>
                <a:cs typeface="Arial"/>
              </a:defRPr>
            </a:defPPr>
          </a:lstStyle>
          <a:p xmlns:a="http://schemas.openxmlformats.org/drawingml/2006/main">
            <a:pPr>
              <a:defRPr sz="2850" b="1">
                <a:solidFill>
                  <a:srgbClr val="246943"/>
                </a:solidFill>
                <a:latin typeface="Arial"/>
                <a:ea typeface="Arial"/>
                <a:cs typeface="Arial"/>
              </a:defRPr>
            </a:pPr>
            <a:r>
              <a:rPr sz="2850" b="1">
                <a:solidFill>
                  <a:srgbClr val="246943"/>
                </a:solidFill>
                <a:latin typeface="Arial"/>
                <a:ea typeface="Arial"/>
                <a:cs typeface="Arial"/>
              </a:rPr>
              <a:t>PASS</a:t>
            </a:r>
          </a:p>
        </p:txBody>
      </p:sp>
      <p:sp>
        <p:nvSpPr>
          <p:cNvPr id="11" name="">
            <a:extLst xmlns:a="http://schemas.openxmlformats.org/drawingml/2006/main">
              <a:ext uri="{FF2B5EF4-FFF2-40B4-BE49-F238E27FC236}">
                <a16:creationId xmlns:a16="http://schemas.microsoft.com/office/drawing/2014/main" id="{58528F50-135D-439D-BE69-EEB776667B3F}"/>
              </a:ext>
            </a:extLst>
          </p:cNvPr>
          <p:cNvSpPr>
            <a:spLocks xmlns:a="http://schemas.openxmlformats.org/drawingml/2006/main" noGrp="1"/>
          </p:cNvSpPr>
          <p:nvPr/>
        </p:nvSpPr>
        <p:spPr>
          <a:xfrm xmlns:a="http://schemas.openxmlformats.org/drawingml/2006/main">
            <a:off x="9067800" y="1876425"/>
            <a:ext cx="26574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64606A"/>
                </a:solidFill>
                <a:latin typeface="Arial"/>
                <a:ea typeface="Arial"/>
                <a:cs typeface="Arial"/>
              </a:defRPr>
            </a:defPPr>
          </a:lstStyle>
          <a:p xmlns:a="http://schemas.openxmlformats.org/drawingml/2006/main">
            <a:pPr>
              <a:defRPr sz="1500" b="0">
                <a:solidFill>
                  <a:srgbClr val="64606A"/>
                </a:solidFill>
                <a:latin typeface="Arial"/>
                <a:ea typeface="Arial"/>
                <a:cs typeface="Arial"/>
              </a:defRPr>
            </a:pPr>
            <a:r>
              <a:rPr sz="1500" b="0">
                <a:solidFill>
                  <a:srgbClr val="64606A"/>
                </a:solidFill>
                <a:latin typeface="Arial"/>
                <a:ea typeface="Arial"/>
                <a:cs typeface="Arial"/>
              </a:rPr>
              <a:t>Restored task running</a:t>
            </a:r>
          </a:p>
        </p:txBody>
      </p:sp>
      <p:pic>
        <p:nvPicPr>
          <p:cNvPr id="12" name="">
            <a:extLst xmlns:a="http://schemas.openxmlformats.org/drawingml/2006/main">
              <a:ext uri="{FF2B5EF4-FFF2-40B4-BE49-F238E27FC236}">
                <a16:creationId xmlns:a16="http://schemas.microsoft.com/office/drawing/2014/main" id="{46FF8100-F093-48DB-BFFA-8631322B6C83}"/>
              </a:ext>
            </a:extLst>
          </p:cNvPr>
          <p:cNvPicPr>
            <a:picLocks xmlns:a="http://schemas.openxmlformats.org/drawingml/2006/main" noChangeAspect="1"/>
          </p:cNvPicPr>
          <p:nvPr/>
        </p:nvPicPr>
        <p:blipFill>
          <a:blip xmlns:r="http://schemas.openxmlformats.org/officeDocument/2006/relationships" xmlns:a="http://schemas.openxmlformats.org/drawingml/2006/main" r:embed="Re753bf577d454130"/>
          <a:srcRect xmlns:a="http://schemas.openxmlformats.org/drawingml/2006/main" l="0" t="53611" r="26560" b="6850"/>
          <a:stretch xmlns:a="http://schemas.openxmlformats.org/drawingml/2006/main"/>
        </p:blipFill>
        <p:spPr>
          <a:xfrm xmlns:a="http://schemas.openxmlformats.org/drawingml/2006/main">
            <a:off x="609600" y="2400300"/>
            <a:ext cx="10972800" cy="3476625"/>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006E1E44-2791-470F-A5F8-7C4D7BA18722}"/>
              </a:ext>
            </a:extLst>
          </p:cNvPr>
          <p:cNvSpPr>
            <a:spLocks xmlns:a="http://schemas.openxmlformats.org/drawingml/2006/main" noGrp="1"/>
          </p:cNvSpPr>
          <p:nvPr/>
        </p:nvSpPr>
        <p:spPr>
          <a:xfrm xmlns:a="http://schemas.openxmlformats.org/drawingml/2006/main">
            <a:off x="609600" y="5934075"/>
            <a:ext cx="895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56334C"/>
                </a:solidFill>
                <a:latin typeface="Arial"/>
                <a:ea typeface="Arial"/>
                <a:cs typeface="Arial"/>
              </a:defRPr>
            </a:defPPr>
          </a:lstStyle>
          <a:p xmlns:a="http://schemas.openxmlformats.org/drawingml/2006/main">
            <a:pPr>
              <a:defRPr sz="1650" b="1">
                <a:solidFill>
                  <a:srgbClr val="56334C"/>
                </a:solidFill>
                <a:latin typeface="Arial"/>
                <a:ea typeface="Arial"/>
                <a:cs typeface="Arial"/>
              </a:defRPr>
            </a:pPr>
            <a:r>
              <a:rPr sz="1650" b="1">
                <a:solidFill>
                  <a:srgbClr val="56334C"/>
                </a:solidFill>
                <a:latin typeface="Arial"/>
                <a:ea typeface="Arial"/>
                <a:cs typeface="Arial"/>
                <a:hlinkClick xmlns:r="http://schemas.openxmlformats.org/officeDocument/2006/relationships" r:id="Ref198eeb39734527"/>
              </a:rPr>
              <a:t>Optional 36-second QEMU demonstration</a:t>
            </a:r>
          </a:p>
        </p:txBody>
      </p:sp>
    </p:spTree>
    <p:extLst>
      <p:ext uri="{BB962C8B-B14F-4D97-AF65-F5344CB8AC3E}">
        <p14:creationId xmlns:p14="http://schemas.microsoft.com/office/powerpoint/2010/main" val="104971870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C581343-E0B4-460C-B2D6-3B5B530C4743}"/>
              </a:ext>
            </a:extLst>
          </p:cNvPr>
          <p:cNvSpPr>
            <a:spLocks xmlns:a="http://schemas.openxmlformats.org/drawingml/2006/main" noGrp="1"/>
          </p:cNvSpPr>
          <p:nvPr/>
        </p:nvSpPr>
        <p:spPr>
          <a:xfrm xmlns:a="http://schemas.openxmlformats.org/drawingml/2006/main">
            <a:off x="609600" y="400050"/>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41C27"/>
                </a:solidFill>
                <a:latin typeface="Arial"/>
                <a:ea typeface="Arial"/>
                <a:cs typeface="Arial"/>
              </a:defRPr>
            </a:defPPr>
          </a:lstStyle>
          <a:p xmlns:a="http://schemas.openxmlformats.org/drawingml/2006/main">
            <a:pPr>
              <a:defRPr sz="3300" b="1">
                <a:solidFill>
                  <a:srgbClr val="241C27"/>
                </a:solidFill>
                <a:latin typeface="Arial"/>
                <a:ea typeface="Arial"/>
                <a:cs typeface="Arial"/>
              </a:defRPr>
            </a:pPr>
            <a:r>
              <a:rPr sz="3300" b="1">
                <a:solidFill>
                  <a:srgbClr val="241C27"/>
                </a:solidFill>
                <a:latin typeface="Arial"/>
                <a:ea typeface="Arial"/>
                <a:cs typeface="Arial"/>
              </a:rPr>
              <a:t>Transport reliability required a second iteration</a:t>
            </a:r>
          </a:p>
        </p:txBody>
      </p:sp>
      <p:sp>
        <p:nvSpPr>
          <p:cNvPr id="2" name="">
            <a:extLst xmlns:a="http://schemas.openxmlformats.org/drawingml/2006/main">
              <a:ext uri="{FF2B5EF4-FFF2-40B4-BE49-F238E27FC236}">
                <a16:creationId xmlns:a16="http://schemas.microsoft.com/office/drawing/2014/main" id="{C68327E3-7291-442F-BB61-6D2E22874C50}"/>
              </a:ext>
            </a:extLst>
          </p:cNvPr>
          <p:cNvSpPr>
            <a:spLocks xmlns:a="http://schemas.openxmlformats.org/drawingml/2006/main" noGrp="1"/>
          </p:cNvSpPr>
          <p:nvPr/>
        </p:nvSpPr>
        <p:spPr>
          <a:xfrm xmlns:a="http://schemas.openxmlformats.org/drawingml/2006/main">
            <a:off x="11239500" y="641032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4606A"/>
                </a:solidFill>
                <a:latin typeface="Arial"/>
                <a:ea typeface="Arial"/>
                <a:cs typeface="Arial"/>
              </a:defRPr>
            </a:defPPr>
          </a:lstStyle>
          <a:p xmlns:a="http://schemas.openxmlformats.org/drawingml/2006/main">
            <a:pPr>
              <a:defRPr sz="1125" b="0">
                <a:solidFill>
                  <a:srgbClr val="64606A"/>
                </a:solidFill>
                <a:latin typeface="Arial"/>
                <a:ea typeface="Arial"/>
                <a:cs typeface="Arial"/>
              </a:defRPr>
            </a:pPr>
            <a:r>
              <a:rPr sz="1125" b="0">
                <a:solidFill>
                  <a:srgbClr val="64606A"/>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9C962666-EDD3-4D50-B16D-EA65A0C47FE7}"/>
              </a:ext>
            </a:extLst>
          </p:cNvPr>
          <p:cNvSpPr>
            <a:spLocks xmlns:a="http://schemas.openxmlformats.org/drawingml/2006/main" noGrp="1"/>
          </p:cNvSpPr>
          <p:nvPr/>
        </p:nvSpPr>
        <p:spPr>
          <a:xfrm xmlns:a="http://schemas.openxmlformats.org/drawingml/2006/main">
            <a:off x="609600" y="633412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4606A"/>
                </a:solidFill>
                <a:latin typeface="Arial"/>
                <a:ea typeface="Arial"/>
                <a:cs typeface="Arial"/>
              </a:defRPr>
            </a:defPPr>
          </a:lstStyle>
          <a:p xmlns:a="http://schemas.openxmlformats.org/drawingml/2006/main">
            <a:pPr>
              <a:defRPr sz="1125" b="0">
                <a:solidFill>
                  <a:srgbClr val="64606A"/>
                </a:solidFill>
                <a:latin typeface="Arial"/>
                <a:ea typeface="Arial"/>
                <a:cs typeface="Arial"/>
              </a:defRPr>
            </a:pPr>
            <a:r>
              <a:rPr sz="1125" b="0">
                <a:solidFill>
                  <a:srgbClr val="64606A"/>
                </a:solidFill>
                <a:latin typeface="Arial"/>
                <a:ea typeface="Arial"/>
                <a:cs typeface="Arial"/>
              </a:rPr>
              <a:t>Report §4.2.5, §6.3.2. Original sample and later acceptance logs are separate.</a:t>
            </a:r>
          </a:p>
        </p:txBody>
      </p:sp>
      <p:sp>
        <p:nvSpPr>
          <p:cNvPr id="4" name="">
            <a:extLst xmlns:a="http://schemas.openxmlformats.org/drawingml/2006/main">
              <a:ext uri="{FF2B5EF4-FFF2-40B4-BE49-F238E27FC236}">
                <a16:creationId xmlns:a16="http://schemas.microsoft.com/office/drawing/2014/main" id="{DEB0D5B2-2D89-4EF1-AFA4-7E7396FD086A}"/>
              </a:ext>
            </a:extLst>
          </p:cNvPr>
          <p:cNvSpPr>
            <a:spLocks xmlns:a="http://schemas.openxmlformats.org/drawingml/2006/main" noGrp="1"/>
          </p:cNvSpPr>
          <p:nvPr/>
        </p:nvSpPr>
        <p:spPr>
          <a:xfrm xmlns:a="http://schemas.openxmlformats.org/drawingml/2006/main">
            <a:off x="609600" y="1590675"/>
            <a:ext cx="47339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000" b="1">
                <a:solidFill>
                  <a:srgbClr val="56334C"/>
                </a:solidFill>
                <a:latin typeface="Arial"/>
                <a:ea typeface="Arial"/>
                <a:cs typeface="Arial"/>
              </a:defRPr>
            </a:defPPr>
          </a:lstStyle>
          <a:p xmlns:a="http://schemas.openxmlformats.org/drawingml/2006/main">
            <a:pPr>
              <a:defRPr sz="6000" b="1">
                <a:solidFill>
                  <a:srgbClr val="56334C"/>
                </a:solidFill>
                <a:latin typeface="Arial"/>
                <a:ea typeface="Arial"/>
                <a:cs typeface="Arial"/>
              </a:defRPr>
            </a:pPr>
            <a:r>
              <a:rPr sz="6000" b="1">
                <a:solidFill>
                  <a:srgbClr val="56334C"/>
                </a:solidFill>
                <a:latin typeface="Arial"/>
                <a:ea typeface="Arial"/>
                <a:cs typeface="Arial"/>
              </a:rPr>
              <a:t>8 / 15</a:t>
            </a:r>
          </a:p>
        </p:txBody>
      </p:sp>
      <p:sp>
        <p:nvSpPr>
          <p:cNvPr id="5" name="">
            <a:extLst xmlns:a="http://schemas.openxmlformats.org/drawingml/2006/main">
              <a:ext uri="{FF2B5EF4-FFF2-40B4-BE49-F238E27FC236}">
                <a16:creationId xmlns:a16="http://schemas.microsoft.com/office/drawing/2014/main" id="{C20A4801-B8E6-48F7-9265-50B5B4AE22FC}"/>
              </a:ext>
            </a:extLst>
          </p:cNvPr>
          <p:cNvSpPr>
            <a:spLocks xmlns:a="http://schemas.openxmlformats.org/drawingml/2006/main" noGrp="1"/>
          </p:cNvSpPr>
          <p:nvPr/>
        </p:nvSpPr>
        <p:spPr>
          <a:xfrm xmlns:a="http://schemas.openxmlformats.org/drawingml/2006/main">
            <a:off x="657225" y="2676525"/>
            <a:ext cx="466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41C27"/>
                </a:solidFill>
                <a:latin typeface="Arial"/>
                <a:ea typeface="Arial"/>
                <a:cs typeface="Arial"/>
              </a:defRPr>
            </a:defPPr>
          </a:lstStyle>
          <a:p xmlns:a="http://schemas.openxmlformats.org/drawingml/2006/main">
            <a:pPr>
              <a:defRPr sz="2175" b="1">
                <a:solidFill>
                  <a:srgbClr val="241C27"/>
                </a:solidFill>
                <a:latin typeface="Arial"/>
                <a:ea typeface="Arial"/>
                <a:cs typeface="Arial"/>
              </a:defRPr>
            </a:pPr>
            <a:r>
              <a:rPr sz="2175" b="1">
                <a:solidFill>
                  <a:srgbClr val="241C27"/>
                </a:solidFill>
                <a:latin typeface="Arial"/>
                <a:ea typeface="Arial"/>
                <a:cs typeface="Arial"/>
              </a:rPr>
              <a:t>Original completions</a:t>
            </a:r>
          </a:p>
        </p:txBody>
      </p:sp>
      <p:sp>
        <p:nvSpPr>
          <p:cNvPr id="6" name="">
            <a:extLst xmlns:a="http://schemas.openxmlformats.org/drawingml/2006/main">
              <a:ext uri="{FF2B5EF4-FFF2-40B4-BE49-F238E27FC236}">
                <a16:creationId xmlns:a16="http://schemas.microsoft.com/office/drawing/2014/main" id="{944CF052-EEBE-4D5A-A166-8222FB836805}"/>
              </a:ext>
            </a:extLst>
          </p:cNvPr>
          <p:cNvSpPr>
            <a:spLocks xmlns:a="http://schemas.openxmlformats.org/drawingml/2006/main" noGrp="1"/>
          </p:cNvSpPr>
          <p:nvPr/>
        </p:nvSpPr>
        <p:spPr>
          <a:xfrm xmlns:a="http://schemas.openxmlformats.org/drawingml/2006/main">
            <a:off x="657225" y="3276600"/>
            <a:ext cx="46005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64606A"/>
                </a:solidFill>
                <a:latin typeface="Arial"/>
                <a:ea typeface="Arial"/>
                <a:cs typeface="Arial"/>
              </a:defRPr>
            </a:defPPr>
          </a:lstStyle>
          <a:p xmlns:a="http://schemas.openxmlformats.org/drawingml/2006/main">
            <a:pPr>
              <a:defRPr sz="2175" b="0">
                <a:solidFill>
                  <a:srgbClr val="64606A"/>
                </a:solidFill>
                <a:latin typeface="Arial"/>
                <a:ea typeface="Arial"/>
                <a:cs typeface="Arial"/>
              </a:defRPr>
            </a:pPr>
            <a:r>
              <a:rPr sz="2175" b="0">
                <a:solidFill>
                  <a:srgbClr val="64606A"/>
                </a:solidFill>
                <a:latin typeface="Arial"/>
                <a:ea typeface="Arial"/>
                <a:cs typeface="Arial"/>
              </a:rPr>
              <a:t>Best-effort multicast</a:t>
            </a:r>
          </a:p>
          <a:p xmlns:a="http://schemas.openxmlformats.org/drawingml/2006/main">
            <a:pPr>
              <a:defRPr sz="2175" b="0">
                <a:solidFill>
                  <a:srgbClr val="64606A"/>
                </a:solidFill>
                <a:latin typeface="Arial"/>
                <a:ea typeface="Arial"/>
                <a:cs typeface="Arial"/>
              </a:defRPr>
            </a:pPr>
            <a:r>
              <a:rPr sz="2175" b="0">
                <a:solidFill>
                  <a:srgbClr val="64606A"/>
                </a:solidFill>
                <a:latin typeface="Arial"/>
                <a:ea typeface="Arial"/>
                <a:cs typeface="Arial"/>
              </a:rPr>
              <a:t>No ACK or retransmission</a:t>
            </a:r>
          </a:p>
        </p:txBody>
      </p:sp>
      <p:sp>
        <p:nvSpPr>
          <p:cNvPr id="7" name="">
            <a:extLst xmlns:a="http://schemas.openxmlformats.org/drawingml/2006/main">
              <a:ext uri="{FF2B5EF4-FFF2-40B4-BE49-F238E27FC236}">
                <a16:creationId xmlns:a16="http://schemas.microsoft.com/office/drawing/2014/main" id="{C45B27A4-0D4C-4803-9832-5C89CFFEFF53}"/>
              </a:ext>
            </a:extLst>
          </p:cNvPr>
          <p:cNvSpPr>
            <a:spLocks xmlns:a="http://schemas.openxmlformats.org/drawingml/2006/main" noGrp="1"/>
          </p:cNvSpPr>
          <p:nvPr/>
        </p:nvSpPr>
        <p:spPr>
          <a:xfrm xmlns:a="http://schemas.openxmlformats.org/drawingml/2006/main">
            <a:off x="6591300" y="1590675"/>
            <a:ext cx="476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000" b="1">
                <a:solidFill>
                  <a:srgbClr val="C85230"/>
                </a:solidFill>
                <a:latin typeface="Arial"/>
                <a:ea typeface="Arial"/>
                <a:cs typeface="Arial"/>
              </a:defRPr>
            </a:defPPr>
          </a:lstStyle>
          <a:p xmlns:a="http://schemas.openxmlformats.org/drawingml/2006/main">
            <a:pPr>
              <a:defRPr sz="6000" b="1">
                <a:solidFill>
                  <a:srgbClr val="C85230"/>
                </a:solidFill>
                <a:latin typeface="Arial"/>
                <a:ea typeface="Arial"/>
                <a:cs typeface="Arial"/>
              </a:defRPr>
            </a:pPr>
            <a:r>
              <a:rPr sz="6000" b="1">
                <a:solidFill>
                  <a:srgbClr val="C85230"/>
                </a:solidFill>
                <a:latin typeface="Arial"/>
                <a:ea typeface="Arial"/>
                <a:cs typeface="Arial"/>
              </a:rPr>
              <a:t>15 / 15</a:t>
            </a:r>
          </a:p>
        </p:txBody>
      </p:sp>
      <p:sp>
        <p:nvSpPr>
          <p:cNvPr id="8" name="">
            <a:extLst xmlns:a="http://schemas.openxmlformats.org/drawingml/2006/main">
              <a:ext uri="{FF2B5EF4-FFF2-40B4-BE49-F238E27FC236}">
                <a16:creationId xmlns:a16="http://schemas.microsoft.com/office/drawing/2014/main" id="{6879E3C0-84D7-4F38-8DB9-AFBFA3BC2745}"/>
              </a:ext>
            </a:extLst>
          </p:cNvPr>
          <p:cNvSpPr>
            <a:spLocks xmlns:a="http://schemas.openxmlformats.org/drawingml/2006/main" noGrp="1"/>
          </p:cNvSpPr>
          <p:nvPr/>
        </p:nvSpPr>
        <p:spPr>
          <a:xfrm xmlns:a="http://schemas.openxmlformats.org/drawingml/2006/main">
            <a:off x="6638925" y="2676525"/>
            <a:ext cx="476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41C27"/>
                </a:solidFill>
                <a:latin typeface="Arial"/>
                <a:ea typeface="Arial"/>
                <a:cs typeface="Arial"/>
              </a:defRPr>
            </a:defPPr>
          </a:lstStyle>
          <a:p xmlns:a="http://schemas.openxmlformats.org/drawingml/2006/main">
            <a:pPr>
              <a:defRPr sz="2175" b="1">
                <a:solidFill>
                  <a:srgbClr val="241C27"/>
                </a:solidFill>
                <a:latin typeface="Arial"/>
                <a:ea typeface="Arial"/>
                <a:cs typeface="Arial"/>
              </a:defRPr>
            </a:pPr>
            <a:r>
              <a:rPr sz="2175" b="1">
                <a:solidFill>
                  <a:srgbClr val="241C27"/>
                </a:solidFill>
                <a:latin typeface="Arial"/>
                <a:ea typeface="Arial"/>
                <a:cs typeface="Arial"/>
              </a:rPr>
              <a:t>Later supervisor restores</a:t>
            </a:r>
          </a:p>
        </p:txBody>
      </p:sp>
      <p:sp>
        <p:nvSpPr>
          <p:cNvPr id="9" name="">
            <a:extLst xmlns:a="http://schemas.openxmlformats.org/drawingml/2006/main">
              <a:ext uri="{FF2B5EF4-FFF2-40B4-BE49-F238E27FC236}">
                <a16:creationId xmlns:a16="http://schemas.microsoft.com/office/drawing/2014/main" id="{33E6B2B3-716E-47BE-B0E8-FC481EECEEF2}"/>
              </a:ext>
            </a:extLst>
          </p:cNvPr>
          <p:cNvSpPr>
            <a:spLocks xmlns:a="http://schemas.openxmlformats.org/drawingml/2006/main" noGrp="1"/>
          </p:cNvSpPr>
          <p:nvPr/>
        </p:nvSpPr>
        <p:spPr>
          <a:xfrm xmlns:a="http://schemas.openxmlformats.org/drawingml/2006/main">
            <a:off x="6638925" y="3276600"/>
            <a:ext cx="47434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64606A"/>
                </a:solidFill>
                <a:latin typeface="Arial"/>
                <a:ea typeface="Arial"/>
                <a:cs typeface="Arial"/>
              </a:defRPr>
            </a:defPPr>
          </a:lstStyle>
          <a:p xmlns:a="http://schemas.openxmlformats.org/drawingml/2006/main">
            <a:pPr>
              <a:defRPr sz="2175" b="0">
                <a:solidFill>
                  <a:srgbClr val="64606A"/>
                </a:solidFill>
                <a:latin typeface="Arial"/>
                <a:ea typeface="Arial"/>
                <a:cs typeface="Arial"/>
              </a:defRPr>
            </a:pPr>
            <a:r>
              <a:rPr sz="2175" b="0">
                <a:solidFill>
                  <a:srgbClr val="64606A"/>
                </a:solidFill>
                <a:latin typeface="Arial"/>
                <a:ea typeface="Arial"/>
                <a:cs typeface="Arial"/>
              </a:rPr>
              <a:t>ACK/retry validation</a:t>
            </a:r>
          </a:p>
          <a:p xmlns:a="http://schemas.openxmlformats.org/drawingml/2006/main">
            <a:pPr>
              <a:defRPr sz="2175" b="0">
                <a:solidFill>
                  <a:srgbClr val="64606A"/>
                </a:solidFill>
                <a:latin typeface="Arial"/>
                <a:ea typeface="Arial"/>
                <a:cs typeface="Arial"/>
              </a:defRPr>
            </a:pPr>
            <a:r>
              <a:rPr sz="2175" b="0">
                <a:solidFill>
                  <a:srgbClr val="64606A"/>
                </a:solidFill>
                <a:latin typeface="Arial"/>
                <a:ea typeface="Arial"/>
                <a:cs typeface="Arial"/>
              </a:rPr>
              <a:t>Plus 1 isolated-task restore</a:t>
            </a:r>
          </a:p>
        </p:txBody>
      </p:sp>
      <p:sp>
        <p:nvSpPr>
          <p:cNvPr id="10" name="">
            <a:extLst xmlns:a="http://schemas.openxmlformats.org/drawingml/2006/main">
              <a:ext uri="{FF2B5EF4-FFF2-40B4-BE49-F238E27FC236}">
                <a16:creationId xmlns:a16="http://schemas.microsoft.com/office/drawing/2014/main" id="{871C803D-3477-49E6-A43F-6D50FB34F2E0}"/>
              </a:ext>
            </a:extLst>
          </p:cNvPr>
          <p:cNvSpPr>
            <a:spLocks xmlns:a="http://schemas.openxmlformats.org/drawingml/2006/main" noGrp="1"/>
          </p:cNvSpPr>
          <p:nvPr/>
        </p:nvSpPr>
        <p:spPr>
          <a:xfrm xmlns:a="http://schemas.openxmlformats.org/drawingml/2006/main">
            <a:off x="609600" y="4886325"/>
            <a:ext cx="10382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56334C"/>
                </a:solidFill>
                <a:latin typeface="Arial"/>
                <a:ea typeface="Arial"/>
                <a:cs typeface="Arial"/>
              </a:defRPr>
            </a:defPPr>
          </a:lstStyle>
          <a:p xmlns:a="http://schemas.openxmlformats.org/drawingml/2006/main">
            <a:pPr>
              <a:defRPr sz="1800" b="1">
                <a:solidFill>
                  <a:srgbClr val="56334C"/>
                </a:solidFill>
                <a:latin typeface="Arial"/>
                <a:ea typeface="Arial"/>
                <a:cs typeface="Arial"/>
              </a:defRPr>
            </a:pPr>
            <a:r>
              <a:rPr sz="1800" b="1">
                <a:solidFill>
                  <a:srgbClr val="56334C"/>
                </a:solidFill>
                <a:latin typeface="Arial"/>
                <a:ea typeface="Arial"/>
                <a:cs typeface="Arial"/>
              </a:rPr>
              <a:t>Current acceptance audit</a:t>
            </a:r>
          </a:p>
        </p:txBody>
      </p:sp>
      <p:sp>
        <p:nvSpPr>
          <p:cNvPr id="11" name="">
            <a:extLst xmlns:a="http://schemas.openxmlformats.org/drawingml/2006/main">
              <a:ext uri="{FF2B5EF4-FFF2-40B4-BE49-F238E27FC236}">
                <a16:creationId xmlns:a16="http://schemas.microsoft.com/office/drawing/2014/main" id="{16DADDE4-3EA0-4B1A-B435-F677383A46A6}"/>
              </a:ext>
            </a:extLst>
          </p:cNvPr>
          <p:cNvSpPr>
            <a:spLocks xmlns:a="http://schemas.openxmlformats.org/drawingml/2006/main" noGrp="1"/>
          </p:cNvSpPr>
          <p:nvPr/>
        </p:nvSpPr>
        <p:spPr>
          <a:xfrm xmlns:a="http://schemas.openxmlformats.org/drawingml/2006/main">
            <a:off x="609600" y="5410200"/>
            <a:ext cx="10925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241C27"/>
                </a:solidFill>
                <a:latin typeface="Courier New"/>
                <a:ea typeface="Courier New"/>
                <a:cs typeface="Courier New"/>
              </a:defRPr>
            </a:defPPr>
          </a:lstStyle>
          <a:p xmlns:a="http://schemas.openxmlformats.org/drawingml/2006/main">
            <a:pPr>
              <a:defRPr sz="1950" b="1">
                <a:solidFill>
                  <a:srgbClr val="241C27"/>
                </a:solidFill>
                <a:latin typeface="Courier New"/>
                <a:ea typeface="Courier New"/>
                <a:cs typeface="Courier New"/>
              </a:defRPr>
            </a:pPr>
            <a:r>
              <a:rPr sz="1950" b="1">
                <a:solidFill>
                  <a:srgbClr val="241C27"/>
                </a:solidFill>
                <a:latin typeface="Courier New"/>
                <a:ea typeface="Courier New"/>
                <a:cs typeface="Courier New"/>
              </a:rPr>
              <a:t>supervisor=15/15  isolated=1/1  acks=16/16  errors=0</a:t>
            </a:r>
          </a:p>
        </p:txBody>
      </p:sp>
    </p:spTree>
    <p:extLst>
      <p:ext uri="{BB962C8B-B14F-4D97-AF65-F5344CB8AC3E}">
        <p14:creationId xmlns:p14="http://schemas.microsoft.com/office/powerpoint/2010/main" val="109157687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1C067F8-1FE9-46C2-ABEA-BA97FF40F69E}"/>
              </a:ext>
            </a:extLst>
          </p:cNvPr>
          <p:cNvSpPr>
            <a:spLocks xmlns:a="http://schemas.openxmlformats.org/drawingml/2006/main" noGrp="1"/>
          </p:cNvSpPr>
          <p:nvPr/>
        </p:nvSpPr>
        <p:spPr>
          <a:xfrm xmlns:a="http://schemas.openxmlformats.org/drawingml/2006/main">
            <a:off x="609600" y="400050"/>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41C27"/>
                </a:solidFill>
                <a:latin typeface="Arial"/>
                <a:ea typeface="Arial"/>
                <a:cs typeface="Arial"/>
              </a:defRPr>
            </a:defPPr>
          </a:lstStyle>
          <a:p xmlns:a="http://schemas.openxmlformats.org/drawingml/2006/main">
            <a:pPr>
              <a:defRPr sz="3300" b="1">
                <a:solidFill>
                  <a:srgbClr val="241C27"/>
                </a:solidFill>
                <a:latin typeface="Arial"/>
                <a:ea typeface="Arial"/>
                <a:cs typeface="Arial"/>
              </a:defRPr>
            </a:pPr>
            <a:r>
              <a:rPr sz="3300" b="1">
                <a:solidFill>
                  <a:srgbClr val="241C27"/>
                </a:solidFill>
                <a:latin typeface="Arial"/>
                <a:ea typeface="Arial"/>
                <a:cs typeface="Arial"/>
              </a:rPr>
              <a:t>The adoption barriers depend on deployment context</a:t>
            </a:r>
          </a:p>
        </p:txBody>
      </p:sp>
      <p:sp>
        <p:nvSpPr>
          <p:cNvPr id="2" name="">
            <a:extLst xmlns:a="http://schemas.openxmlformats.org/drawingml/2006/main">
              <a:ext uri="{FF2B5EF4-FFF2-40B4-BE49-F238E27FC236}">
                <a16:creationId xmlns:a16="http://schemas.microsoft.com/office/drawing/2014/main" id="{B788791E-91CD-489E-B634-AA128D33CE76}"/>
              </a:ext>
            </a:extLst>
          </p:cNvPr>
          <p:cNvSpPr>
            <a:spLocks xmlns:a="http://schemas.openxmlformats.org/drawingml/2006/main" noGrp="1"/>
          </p:cNvSpPr>
          <p:nvPr/>
        </p:nvSpPr>
        <p:spPr>
          <a:xfrm xmlns:a="http://schemas.openxmlformats.org/drawingml/2006/main">
            <a:off x="11239500" y="641032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4606A"/>
                </a:solidFill>
                <a:latin typeface="Arial"/>
                <a:ea typeface="Arial"/>
                <a:cs typeface="Arial"/>
              </a:defRPr>
            </a:defPPr>
          </a:lstStyle>
          <a:p xmlns:a="http://schemas.openxmlformats.org/drawingml/2006/main">
            <a:pPr>
              <a:defRPr sz="1125" b="0">
                <a:solidFill>
                  <a:srgbClr val="64606A"/>
                </a:solidFill>
                <a:latin typeface="Arial"/>
                <a:ea typeface="Arial"/>
                <a:cs typeface="Arial"/>
              </a:defRPr>
            </a:pPr>
            <a:r>
              <a:rPr sz="1125" b="0">
                <a:solidFill>
                  <a:srgbClr val="64606A"/>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413F5093-A297-4E41-822E-18B858A31129}"/>
              </a:ext>
            </a:extLst>
          </p:cNvPr>
          <p:cNvSpPr>
            <a:spLocks xmlns:a="http://schemas.openxmlformats.org/drawingml/2006/main" noGrp="1"/>
          </p:cNvSpPr>
          <p:nvPr/>
        </p:nvSpPr>
        <p:spPr>
          <a:xfrm xmlns:a="http://schemas.openxmlformats.org/drawingml/2006/main">
            <a:off x="609600" y="633412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4606A"/>
                </a:solidFill>
                <a:latin typeface="Arial"/>
                <a:ea typeface="Arial"/>
                <a:cs typeface="Arial"/>
              </a:defRPr>
            </a:defPPr>
          </a:lstStyle>
          <a:p xmlns:a="http://schemas.openxmlformats.org/drawingml/2006/main">
            <a:pPr>
              <a:defRPr sz="1125" b="0">
                <a:solidFill>
                  <a:srgbClr val="64606A"/>
                </a:solidFill>
                <a:latin typeface="Arial"/>
                <a:ea typeface="Arial"/>
                <a:cs typeface="Arial"/>
              </a:defRPr>
            </a:pPr>
            <a:r>
              <a:rPr sz="1125" b="0">
                <a:solidFill>
                  <a:srgbClr val="64606A"/>
                </a:solidFill>
                <a:latin typeface="Arial"/>
                <a:ea typeface="Arial"/>
                <a:cs typeface="Arial"/>
              </a:rPr>
              <a:t>Report §6.2.2 and Fig. 6.1. Milojičić et al. (1999, §7.3).</a:t>
            </a:r>
          </a:p>
        </p:txBody>
      </p:sp>
      <p:graphicFrame>
        <p:nvGraphicFramePr>
          <p:cNvPr id="4" name="">
            <a:extLst xmlns:a="http://schemas.openxmlformats.org/drawingml/2006/main">
              <a:ext uri="{FF2B5EF4-FFF2-40B4-BE49-F238E27FC236}">
                <a16:creationId xmlns:a16="http://schemas.microsoft.com/office/drawing/2014/main" id="{6E35D019-759D-4469-8657-22736EE56AEA}"/>
              </a:ext>
            </a:extLst>
          </p:cNvPr>
          <p:cNvGraphicFramePr/>
          <p:nvPr/>
        </p:nvGraphicFramePr>
        <p:xfrm>
          <a:off xmlns:a="http://schemas.openxmlformats.org/drawingml/2006/main" x="609600" y="1628775"/>
          <a:ext xmlns:a="http://schemas.openxmlformats.org/drawingml/2006/main" cx="10972800" cy="3790950"/>
        </p:xfrm>
        <a:graphic xmlns:a="http://schemas.openxmlformats.org/drawingml/2006/main">
          <a:graphicData uri="http://schemas.openxmlformats.org/drawingml/2006/table">
            <a:tbl>
              <a:tblPr/>
              <a:tblGrid>
                <a:gridCol w="3905250"/>
                <a:gridCol w="7067550"/>
              </a:tblGrid>
              <a:tr h="758190">
                <a:tc>
                  <a:txBody>
                    <a:bodyPr wrap="square" lIns="114300" tIns="114300" rIns="114300" bIns="114300">
                      <a:noAutofit/>
                    </a:bodyPr>
                    <a:lstStyle/>
                    <a:p>
                      <a:r>
                        <a:rPr sz="1650" b="1">
                          <a:solidFill>
                            <a:srgbClr val="FFFFFF"/>
                          </a:solidFill>
                          <a:latin typeface="Arial"/>
                          <a:ea typeface="Arial"/>
                          <a:cs typeface="Arial"/>
                        </a:rPr>
                        <a:t>1999 barrier</a:t>
                      </a:r>
                    </a:p>
                  </a:txBody>
                  <a:tcPr marL="91440" marR="91440" marT="45720" marB="45720" anchor="ctr">
                    <a:lnL w="9525">
                      <a:solidFill>
                        <a:srgbClr val="DED9DF"/>
                      </a:solidFill>
                      <a:prstDash val="solid"/>
                    </a:lnL>
                    <a:lnR w="9525">
                      <a:solidFill>
                        <a:srgbClr val="DED9DF"/>
                      </a:solidFill>
                      <a:prstDash val="solid"/>
                    </a:lnR>
                    <a:lnT w="9525">
                      <a:solidFill>
                        <a:srgbClr val="DED9DF"/>
                      </a:solidFill>
                      <a:prstDash val="solid"/>
                    </a:lnT>
                    <a:lnB w="9525">
                      <a:solidFill>
                        <a:srgbClr val="DED9DF"/>
                      </a:solidFill>
                      <a:prstDash val="solid"/>
                    </a:lnB>
                    <a:solidFill>
                      <a:srgbClr val="56334C"/>
                    </a:solidFill>
                  </a:tcPr>
                </a:tc>
                <a:tc>
                  <a:txBody>
                    <a:bodyPr wrap="square" lIns="114300" tIns="114300" rIns="114300" bIns="114300">
                      <a:noAutofit/>
                    </a:bodyPr>
                    <a:lstStyle/>
                    <a:p>
                      <a:r>
                        <a:rPr sz="1650" b="1">
                          <a:solidFill>
                            <a:srgbClr val="FFFFFF"/>
                          </a:solidFill>
                          <a:latin typeface="Arial"/>
                          <a:ea typeface="Arial"/>
                          <a:cs typeface="Arial"/>
                        </a:rPr>
                        <a:t>Reassessment in the report</a:t>
                      </a:r>
                    </a:p>
                  </a:txBody>
                  <a:tcPr marL="91440" marR="91440" marT="45720" marB="45720" anchor="ctr">
                    <a:lnR w="9525">
                      <a:solidFill>
                        <a:srgbClr val="DED9DF"/>
                      </a:solidFill>
                      <a:prstDash val="solid"/>
                    </a:lnR>
                    <a:lnT w="9525">
                      <a:solidFill>
                        <a:srgbClr val="DED9DF"/>
                      </a:solidFill>
                      <a:prstDash val="solid"/>
                    </a:lnT>
                    <a:lnB w="9525">
                      <a:solidFill>
                        <a:srgbClr val="DED9DF"/>
                      </a:solidFill>
                      <a:prstDash val="solid"/>
                    </a:lnB>
                    <a:solidFill>
                      <a:srgbClr val="56334C"/>
                    </a:solidFill>
                  </a:tcPr>
                </a:tc>
              </a:tr>
              <a:tr h="758190">
                <a:tc>
                  <a:txBody>
                    <a:bodyPr wrap="square" lIns="114300" tIns="114300" rIns="114300" bIns="114300">
                      <a:noAutofit/>
                    </a:bodyPr>
                    <a:lstStyle/>
                    <a:p>
                      <a:r>
                        <a:rPr sz="1950" b="0">
                          <a:solidFill>
                            <a:srgbClr val="241C27"/>
                          </a:solidFill>
                          <a:latin typeface="Arial"/>
                          <a:ea typeface="Arial"/>
                          <a:cs typeface="Arial"/>
                        </a:rPr>
                        <a:t>Lack of applications</a:t>
                      </a:r>
                    </a:p>
                  </a:txBody>
                  <a:tcPr marL="91440" marR="91440" marT="45720" marB="45720" anchor="ctr">
                    <a:lnL w="9525">
                      <a:solidFill>
                        <a:srgbClr val="DED9DF"/>
                      </a:solidFill>
                      <a:prstDash val="solid"/>
                    </a:lnL>
                    <a:lnR w="9525">
                      <a:solidFill>
                        <a:srgbClr val="DED9DF"/>
                      </a:solidFill>
                      <a:prstDash val="solid"/>
                    </a:lnR>
                    <a:lnB w="9525">
                      <a:solidFill>
                        <a:srgbClr val="DED9DF"/>
                      </a:solidFill>
                      <a:prstDash val="solid"/>
                    </a:lnB>
                    <a:solidFill>
                      <a:srgbClr val="FFFFFF"/>
                    </a:solidFill>
                  </a:tcPr>
                </a:tc>
                <a:tc>
                  <a:txBody>
                    <a:bodyPr wrap="square" lIns="114300" tIns="114300" rIns="114300" bIns="114300">
                      <a:noAutofit/>
                    </a:bodyPr>
                    <a:lstStyle/>
                    <a:p>
                      <a:r>
                        <a:rPr sz="1950" b="0">
                          <a:solidFill>
                            <a:srgbClr val="241C27"/>
                          </a:solidFill>
                          <a:latin typeface="Arial"/>
                          <a:ea typeface="Arial"/>
                          <a:cs typeface="Arial"/>
                        </a:rPr>
                        <a:t>Weaker in selected state-preservation use cases</a:t>
                      </a:r>
                    </a:p>
                  </a:txBody>
                  <a:tcPr marL="91440" marR="91440" marT="45720" marB="45720" anchor="ctr">
                    <a:lnR w="9525">
                      <a:solidFill>
                        <a:srgbClr val="DED9DF"/>
                      </a:solidFill>
                      <a:prstDash val="solid"/>
                    </a:lnR>
                    <a:lnB w="9525">
                      <a:solidFill>
                        <a:srgbClr val="DED9DF"/>
                      </a:solidFill>
                      <a:prstDash val="solid"/>
                    </a:lnB>
                    <a:solidFill>
                      <a:srgbClr val="FFFFFF"/>
                    </a:solidFill>
                  </a:tcPr>
                </a:tc>
              </a:tr>
              <a:tr h="758190">
                <a:tc>
                  <a:txBody>
                    <a:bodyPr wrap="square" lIns="114300" tIns="114300" rIns="114300" bIns="114300">
                      <a:noAutofit/>
                    </a:bodyPr>
                    <a:lstStyle/>
                    <a:p>
                      <a:r>
                        <a:rPr sz="1950" b="0">
                          <a:solidFill>
                            <a:srgbClr val="241C27"/>
                          </a:solidFill>
                          <a:latin typeface="Arial"/>
                          <a:ea typeface="Arial"/>
                          <a:cs typeface="Arial"/>
                        </a:rPr>
                        <a:t>Lack of infrastructure</a:t>
                      </a:r>
                    </a:p>
                  </a:txBody>
                  <a:tcPr marL="91440" marR="91440" marT="45720" marB="45720" anchor="ctr">
                    <a:lnL w="9525">
                      <a:solidFill>
                        <a:srgbClr val="DED9DF"/>
                      </a:solidFill>
                      <a:prstDash val="solid"/>
                    </a:lnL>
                    <a:lnR w="9525">
                      <a:solidFill>
                        <a:srgbClr val="DED9DF"/>
                      </a:solidFill>
                      <a:prstDash val="solid"/>
                    </a:lnR>
                    <a:lnB w="9525">
                      <a:solidFill>
                        <a:srgbClr val="DED9DF"/>
                      </a:solidFill>
                      <a:prstDash val="solid"/>
                    </a:lnB>
                    <a:solidFill>
                      <a:srgbClr val="F5F3F6"/>
                    </a:solidFill>
                  </a:tcPr>
                </a:tc>
                <a:tc>
                  <a:txBody>
                    <a:bodyPr wrap="square" lIns="114300" tIns="114300" rIns="114300" bIns="114300">
                      <a:noAutofit/>
                    </a:bodyPr>
                    <a:lstStyle/>
                    <a:p>
                      <a:r>
                        <a:rPr sz="1950" b="0">
                          <a:solidFill>
                            <a:srgbClr val="241C27"/>
                          </a:solidFill>
                          <a:latin typeface="Arial"/>
                          <a:ea typeface="Arial"/>
                          <a:cs typeface="Arial"/>
                        </a:rPr>
                        <a:t>Weaker, with platform support still varying</a:t>
                      </a:r>
                    </a:p>
                  </a:txBody>
                  <a:tcPr marL="91440" marR="91440" marT="45720" marB="45720" anchor="ctr">
                    <a:lnR w="9525">
                      <a:solidFill>
                        <a:srgbClr val="DED9DF"/>
                      </a:solidFill>
                      <a:prstDash val="solid"/>
                    </a:lnR>
                    <a:lnB w="9525">
                      <a:solidFill>
                        <a:srgbClr val="DED9DF"/>
                      </a:solidFill>
                      <a:prstDash val="solid"/>
                    </a:lnB>
                    <a:solidFill>
                      <a:srgbClr val="F5F3F6"/>
                    </a:solidFill>
                  </a:tcPr>
                </a:tc>
              </a:tr>
              <a:tr h="758190">
                <a:tc>
                  <a:txBody>
                    <a:bodyPr wrap="square" lIns="114300" tIns="114300" rIns="114300" bIns="114300">
                      <a:noAutofit/>
                    </a:bodyPr>
                    <a:lstStyle/>
                    <a:p>
                      <a:r>
                        <a:rPr sz="1950" b="0">
                          <a:solidFill>
                            <a:srgbClr val="241C27"/>
                          </a:solidFill>
                          <a:latin typeface="Arial"/>
                          <a:ea typeface="Arial"/>
                          <a:cs typeface="Arial"/>
                        </a:rPr>
                        <a:t>Simpler alternatives</a:t>
                      </a:r>
                    </a:p>
                  </a:txBody>
                  <a:tcPr marL="91440" marR="91440" marT="45720" marB="45720" anchor="ctr">
                    <a:lnL w="9525">
                      <a:solidFill>
                        <a:srgbClr val="DED9DF"/>
                      </a:solidFill>
                      <a:prstDash val="solid"/>
                    </a:lnL>
                    <a:lnR w="9525">
                      <a:solidFill>
                        <a:srgbClr val="DED9DF"/>
                      </a:solidFill>
                      <a:prstDash val="solid"/>
                    </a:lnR>
                    <a:lnB w="9525">
                      <a:solidFill>
                        <a:srgbClr val="DED9DF"/>
                      </a:solidFill>
                      <a:prstDash val="solid"/>
                    </a:lnB>
                    <a:solidFill>
                      <a:srgbClr val="FFFFFF"/>
                    </a:solidFill>
                  </a:tcPr>
                </a:tc>
                <a:tc>
                  <a:txBody>
                    <a:bodyPr wrap="square" lIns="114300" tIns="114300" rIns="114300" bIns="114300">
                      <a:noAutofit/>
                    </a:bodyPr>
                    <a:lstStyle/>
                    <a:p>
                      <a:r>
                        <a:rPr sz="1950" b="0">
                          <a:solidFill>
                            <a:srgbClr val="241C27"/>
                          </a:solidFill>
                          <a:latin typeface="Arial"/>
                          <a:ea typeface="Arial"/>
                          <a:cs typeface="Arial"/>
                        </a:rPr>
                        <a:t>Depends on whether execution state must persist</a:t>
                      </a:r>
                    </a:p>
                  </a:txBody>
                  <a:tcPr marL="91440" marR="91440" marT="45720" marB="45720" anchor="ctr">
                    <a:lnR w="9525">
                      <a:solidFill>
                        <a:srgbClr val="DED9DF"/>
                      </a:solidFill>
                      <a:prstDash val="solid"/>
                    </a:lnR>
                    <a:lnB w="9525">
                      <a:solidFill>
                        <a:srgbClr val="DED9DF"/>
                      </a:solidFill>
                      <a:prstDash val="solid"/>
                    </a:lnB>
                    <a:solidFill>
                      <a:srgbClr val="FFFFFF"/>
                    </a:solidFill>
                  </a:tcPr>
                </a:tc>
              </a:tr>
              <a:tr h="758190">
                <a:tc>
                  <a:txBody>
                    <a:bodyPr wrap="square" lIns="114300" tIns="114300" rIns="114300" bIns="114300">
                      <a:noAutofit/>
                    </a:bodyPr>
                    <a:lstStyle/>
                    <a:p>
                      <a:r>
                        <a:rPr sz="1950" b="0">
                          <a:solidFill>
                            <a:srgbClr val="241C27"/>
                          </a:solidFill>
                          <a:latin typeface="Arial"/>
                          <a:ea typeface="Arial"/>
                          <a:cs typeface="Arial"/>
                        </a:rPr>
                        <a:t>Sociological resistance</a:t>
                      </a:r>
                    </a:p>
                  </a:txBody>
                  <a:tcPr marL="91440" marR="91440" marT="45720" marB="45720" anchor="ctr">
                    <a:lnL w="9525">
                      <a:solidFill>
                        <a:srgbClr val="DED9DF"/>
                      </a:solidFill>
                      <a:prstDash val="solid"/>
                    </a:lnL>
                    <a:lnR w="9525">
                      <a:solidFill>
                        <a:srgbClr val="DED9DF"/>
                      </a:solidFill>
                      <a:prstDash val="solid"/>
                    </a:lnR>
                    <a:lnB w="9525">
                      <a:solidFill>
                        <a:srgbClr val="DED9DF"/>
                      </a:solidFill>
                      <a:prstDash val="solid"/>
                    </a:lnB>
                    <a:solidFill>
                      <a:srgbClr val="F5F3F6"/>
                    </a:solidFill>
                  </a:tcPr>
                </a:tc>
                <a:tc>
                  <a:txBody>
                    <a:bodyPr wrap="square" lIns="114300" tIns="114300" rIns="114300" bIns="114300">
                      <a:noAutofit/>
                    </a:bodyPr>
                    <a:lstStyle/>
                    <a:p>
                      <a:r>
                        <a:rPr sz="1950" b="0">
                          <a:solidFill>
                            <a:srgbClr val="241C27"/>
                          </a:solidFill>
                          <a:latin typeface="Arial"/>
                          <a:ea typeface="Arial"/>
                          <a:cs typeface="Arial"/>
                        </a:rPr>
                        <a:t>Depends on ownership, tenancy and policy</a:t>
                      </a:r>
                    </a:p>
                  </a:txBody>
                  <a:tcPr marL="91440" marR="91440" marT="45720" marB="45720" anchor="ctr">
                    <a:lnR w="9525">
                      <a:solidFill>
                        <a:srgbClr val="DED9DF"/>
                      </a:solidFill>
                      <a:prstDash val="solid"/>
                    </a:lnR>
                    <a:lnB w="9525">
                      <a:solidFill>
                        <a:srgbClr val="DED9DF"/>
                      </a:solidFill>
                      <a:prstDash val="solid"/>
                    </a:lnB>
                    <a:solidFill>
                      <a:srgbClr val="F5F3F6"/>
                    </a:solidFill>
                  </a:tcPr>
                </a:tc>
              </a:tr>
            </a:tbl>
          </a:graphicData>
        </a:graphic>
      </p:graphicFrame>
      <p:sp>
        <p:nvSpPr>
          <p:cNvPr id="5" name="">
            <a:extLst xmlns:a="http://schemas.openxmlformats.org/drawingml/2006/main">
              <a:ext uri="{FF2B5EF4-FFF2-40B4-BE49-F238E27FC236}">
                <a16:creationId xmlns:a16="http://schemas.microsoft.com/office/drawing/2014/main" id="{52250E9F-6813-46E4-B943-E3DCE04379E8}"/>
              </a:ext>
            </a:extLst>
          </p:cNvPr>
          <p:cNvSpPr>
            <a:spLocks xmlns:a="http://schemas.openxmlformats.org/drawingml/2006/main" noGrp="1"/>
          </p:cNvSpPr>
          <p:nvPr/>
        </p:nvSpPr>
        <p:spPr>
          <a:xfrm xmlns:a="http://schemas.openxmlformats.org/drawingml/2006/main">
            <a:off x="609600" y="58007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56334C"/>
                </a:solidFill>
                <a:latin typeface="Arial"/>
                <a:ea typeface="Arial"/>
                <a:cs typeface="Arial"/>
              </a:defRPr>
            </a:defPPr>
          </a:lstStyle>
          <a:p xmlns:a="http://schemas.openxmlformats.org/drawingml/2006/main">
            <a:pPr>
              <a:defRPr sz="1725" b="1">
                <a:solidFill>
                  <a:srgbClr val="56334C"/>
                </a:solidFill>
                <a:latin typeface="Arial"/>
                <a:ea typeface="Arial"/>
                <a:cs typeface="Arial"/>
              </a:defRPr>
            </a:pPr>
            <a:r>
              <a:rPr sz="1725" b="1">
                <a:solidFill>
                  <a:srgbClr val="56334C"/>
                </a:solidFill>
                <a:latin typeface="Arial"/>
                <a:ea typeface="Arial"/>
                <a:cs typeface="Arial"/>
              </a:rPr>
              <a:t>Contextual interpretation alongside the measurements. No universal architectural verdict.</a:t>
            </a:r>
          </a:p>
        </p:txBody>
      </p:sp>
    </p:spTree>
    <p:extLst>
      <p:ext uri="{BB962C8B-B14F-4D97-AF65-F5344CB8AC3E}">
        <p14:creationId xmlns:p14="http://schemas.microsoft.com/office/powerpoint/2010/main" val="107767846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748ABAB-72C7-489C-88F7-81A3F8C26FC3}"/>
              </a:ext>
            </a:extLst>
          </p:cNvPr>
          <p:cNvSpPr>
            <a:spLocks xmlns:a="http://schemas.openxmlformats.org/drawingml/2006/main" noGrp="1"/>
          </p:cNvSpPr>
          <p:nvPr/>
        </p:nvSpPr>
        <p:spPr>
          <a:xfrm xmlns:a="http://schemas.openxmlformats.org/drawingml/2006/main">
            <a:off x="609600" y="400050"/>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41C27"/>
                </a:solidFill>
                <a:latin typeface="Arial"/>
                <a:ea typeface="Arial"/>
                <a:cs typeface="Arial"/>
              </a:defRPr>
            </a:defPPr>
          </a:lstStyle>
          <a:p xmlns:a="http://schemas.openxmlformats.org/drawingml/2006/main">
            <a:pPr>
              <a:defRPr sz="3300" b="1">
                <a:solidFill>
                  <a:srgbClr val="241C27"/>
                </a:solidFill>
                <a:latin typeface="Arial"/>
                <a:ea typeface="Arial"/>
                <a:cs typeface="Arial"/>
              </a:defRPr>
            </a:pPr>
            <a:r>
              <a:rPr sz="3300" b="1">
                <a:solidFill>
                  <a:srgbClr val="241C27"/>
                </a:solidFill>
                <a:latin typeface="Arial"/>
                <a:ea typeface="Arial"/>
                <a:cs typeface="Arial"/>
              </a:rPr>
              <a:t>Limitations and next measurements</a:t>
            </a:r>
          </a:p>
        </p:txBody>
      </p:sp>
      <p:sp>
        <p:nvSpPr>
          <p:cNvPr id="2" name="">
            <a:extLst xmlns:a="http://schemas.openxmlformats.org/drawingml/2006/main">
              <a:ext uri="{FF2B5EF4-FFF2-40B4-BE49-F238E27FC236}">
                <a16:creationId xmlns:a16="http://schemas.microsoft.com/office/drawing/2014/main" id="{55F14E6E-5D48-4C32-8904-1F9958F9C011}"/>
              </a:ext>
            </a:extLst>
          </p:cNvPr>
          <p:cNvSpPr>
            <a:spLocks xmlns:a="http://schemas.openxmlformats.org/drawingml/2006/main" noGrp="1"/>
          </p:cNvSpPr>
          <p:nvPr/>
        </p:nvSpPr>
        <p:spPr>
          <a:xfrm xmlns:a="http://schemas.openxmlformats.org/drawingml/2006/main">
            <a:off x="11239500" y="641032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4606A"/>
                </a:solidFill>
                <a:latin typeface="Arial"/>
                <a:ea typeface="Arial"/>
                <a:cs typeface="Arial"/>
              </a:defRPr>
            </a:defPPr>
          </a:lstStyle>
          <a:p xmlns:a="http://schemas.openxmlformats.org/drawingml/2006/main">
            <a:pPr>
              <a:defRPr sz="1125" b="0">
                <a:solidFill>
                  <a:srgbClr val="64606A"/>
                </a:solidFill>
                <a:latin typeface="Arial"/>
                <a:ea typeface="Arial"/>
                <a:cs typeface="Arial"/>
              </a:defRPr>
            </a:pPr>
            <a:r>
              <a:rPr sz="1125" b="0">
                <a:solidFill>
                  <a:srgbClr val="64606A"/>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0C4E1E25-25C5-41AB-8718-8122BEDCECBA}"/>
              </a:ext>
            </a:extLst>
          </p:cNvPr>
          <p:cNvSpPr>
            <a:spLocks xmlns:a="http://schemas.openxmlformats.org/drawingml/2006/main" noGrp="1"/>
          </p:cNvSpPr>
          <p:nvPr/>
        </p:nvSpPr>
        <p:spPr>
          <a:xfrm xmlns:a="http://schemas.openxmlformats.org/drawingml/2006/main">
            <a:off x="609600" y="633412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4606A"/>
                </a:solidFill>
                <a:latin typeface="Arial"/>
                <a:ea typeface="Arial"/>
                <a:cs typeface="Arial"/>
              </a:defRPr>
            </a:defPPr>
          </a:lstStyle>
          <a:p xmlns:a="http://schemas.openxmlformats.org/drawingml/2006/main">
            <a:pPr>
              <a:defRPr sz="1125" b="0">
                <a:solidFill>
                  <a:srgbClr val="64606A"/>
                </a:solidFill>
                <a:latin typeface="Arial"/>
                <a:ea typeface="Arial"/>
                <a:cs typeface="Arial"/>
              </a:defRPr>
            </a:pPr>
            <a:r>
              <a:rPr sz="1125" b="0">
                <a:solidFill>
                  <a:srgbClr val="64606A"/>
                </a:solidFill>
                <a:latin typeface="Arial"/>
                <a:ea typeface="Arial"/>
                <a:cs typeface="Arial"/>
              </a:rPr>
              <a:t>Report §§1.7, 4.2.10, 6.2.4 and 6.3. Later hardening is separate evidence.</a:t>
            </a:r>
          </a:p>
        </p:txBody>
      </p:sp>
      <p:graphicFrame>
        <p:nvGraphicFramePr>
          <p:cNvPr id="4" name="">
            <a:extLst xmlns:a="http://schemas.openxmlformats.org/drawingml/2006/main">
              <a:ext uri="{FF2B5EF4-FFF2-40B4-BE49-F238E27FC236}">
                <a16:creationId xmlns:a16="http://schemas.microsoft.com/office/drawing/2014/main" id="{B95F4F74-8765-4D48-A1AA-5ED5F8FC27A7}"/>
              </a:ext>
            </a:extLst>
          </p:cNvPr>
          <p:cNvGraphicFramePr/>
          <p:nvPr/>
        </p:nvGraphicFramePr>
        <p:xfrm>
          <a:off xmlns:a="http://schemas.openxmlformats.org/drawingml/2006/main" x="609600" y="1562100"/>
          <a:ext xmlns:a="http://schemas.openxmlformats.org/drawingml/2006/main" cx="10972800" cy="4210050"/>
        </p:xfrm>
        <a:graphic xmlns:a="http://schemas.openxmlformats.org/drawingml/2006/main">
          <a:graphicData uri="http://schemas.openxmlformats.org/drawingml/2006/table">
            <a:tbl>
              <a:tblPr/>
              <a:tblGrid>
                <a:gridCol w="4333875"/>
                <a:gridCol w="6638925"/>
              </a:tblGrid>
              <a:tr h="842010">
                <a:tc>
                  <a:txBody>
                    <a:bodyPr wrap="square" lIns="114300" tIns="114300" rIns="114300" bIns="114300">
                      <a:noAutofit/>
                    </a:bodyPr>
                    <a:lstStyle/>
                    <a:p>
                      <a:r>
                        <a:rPr sz="1650" b="1">
                          <a:solidFill>
                            <a:srgbClr val="FFFFFF"/>
                          </a:solidFill>
                          <a:latin typeface="Arial"/>
                          <a:ea typeface="Arial"/>
                          <a:cs typeface="Arial"/>
                        </a:rPr>
                        <a:t>Experimental limit</a:t>
                      </a:r>
                    </a:p>
                  </a:txBody>
                  <a:tcPr marL="91440" marR="91440" marT="45720" marB="45720" anchor="ctr">
                    <a:lnL w="9525">
                      <a:solidFill>
                        <a:srgbClr val="DED9DF"/>
                      </a:solidFill>
                      <a:prstDash val="solid"/>
                    </a:lnL>
                    <a:lnR w="9525">
                      <a:solidFill>
                        <a:srgbClr val="DED9DF"/>
                      </a:solidFill>
                      <a:prstDash val="solid"/>
                    </a:lnR>
                    <a:lnT w="9525">
                      <a:solidFill>
                        <a:srgbClr val="DED9DF"/>
                      </a:solidFill>
                      <a:prstDash val="solid"/>
                    </a:lnT>
                    <a:lnB w="9525">
                      <a:solidFill>
                        <a:srgbClr val="DED9DF"/>
                      </a:solidFill>
                      <a:prstDash val="solid"/>
                    </a:lnB>
                    <a:solidFill>
                      <a:srgbClr val="56334C"/>
                    </a:solidFill>
                  </a:tcPr>
                </a:tc>
                <a:tc>
                  <a:txBody>
                    <a:bodyPr wrap="square" lIns="114300" tIns="114300" rIns="114300" bIns="114300">
                      <a:noAutofit/>
                    </a:bodyPr>
                    <a:lstStyle/>
                    <a:p>
                      <a:r>
                        <a:rPr sz="1650" b="1">
                          <a:solidFill>
                            <a:srgbClr val="FFFFFF"/>
                          </a:solidFill>
                          <a:latin typeface="Arial"/>
                          <a:ea typeface="Arial"/>
                          <a:cs typeface="Arial"/>
                        </a:rPr>
                        <a:t>Required follow-on measurement</a:t>
                      </a:r>
                    </a:p>
                  </a:txBody>
                  <a:tcPr marL="91440" marR="91440" marT="45720" marB="45720" anchor="ctr">
                    <a:lnR w="9525">
                      <a:solidFill>
                        <a:srgbClr val="DED9DF"/>
                      </a:solidFill>
                      <a:prstDash val="solid"/>
                    </a:lnR>
                    <a:lnT w="9525">
                      <a:solidFill>
                        <a:srgbClr val="DED9DF"/>
                      </a:solidFill>
                      <a:prstDash val="solid"/>
                    </a:lnT>
                    <a:lnB w="9525">
                      <a:solidFill>
                        <a:srgbClr val="DED9DF"/>
                      </a:solidFill>
                      <a:prstDash val="solid"/>
                    </a:lnB>
                    <a:solidFill>
                      <a:srgbClr val="56334C"/>
                    </a:solidFill>
                  </a:tcPr>
                </a:tc>
              </a:tr>
              <a:tr h="842010">
                <a:tc>
                  <a:txBody>
                    <a:bodyPr wrap="square" lIns="114300" tIns="114300" rIns="114300" bIns="114300">
                      <a:noAutofit/>
                    </a:bodyPr>
                    <a:lstStyle/>
                    <a:p>
                      <a:r>
                        <a:rPr sz="1875" b="0">
                          <a:solidFill>
                            <a:srgbClr val="241C27"/>
                          </a:solidFill>
                          <a:latin typeface="Arial"/>
                          <a:ea typeface="Arial"/>
                          <a:cs typeface="Arial"/>
                        </a:rPr>
                        <a:t>Supervisor-mode comparison</a:t>
                      </a:r>
                    </a:p>
                  </a:txBody>
                  <a:tcPr marL="91440" marR="91440" marT="45720" marB="45720" anchor="ctr">
                    <a:lnL w="9525">
                      <a:solidFill>
                        <a:srgbClr val="DED9DF"/>
                      </a:solidFill>
                      <a:prstDash val="solid"/>
                    </a:lnL>
                    <a:lnR w="9525">
                      <a:solidFill>
                        <a:srgbClr val="DED9DF"/>
                      </a:solidFill>
                      <a:prstDash val="solid"/>
                    </a:lnR>
                    <a:lnB w="9525">
                      <a:solidFill>
                        <a:srgbClr val="DED9DF"/>
                      </a:solidFill>
                      <a:prstDash val="solid"/>
                    </a:lnB>
                    <a:solidFill>
                      <a:srgbClr val="FFFFFF"/>
                    </a:solidFill>
                  </a:tcPr>
                </a:tc>
                <a:tc>
                  <a:txBody>
                    <a:bodyPr wrap="square" lIns="114300" tIns="114300" rIns="114300" bIns="114300">
                      <a:noAutofit/>
                    </a:bodyPr>
                    <a:lstStyle/>
                    <a:p>
                      <a:r>
                        <a:rPr sz="1875" b="0">
                          <a:solidFill>
                            <a:srgbClr val="241C27"/>
                          </a:solidFill>
                          <a:latin typeface="Arial"/>
                          <a:ea typeface="Arial"/>
                          <a:cs typeface="Arial"/>
                        </a:rPr>
                        <a:t>Measure real protected-server transitions and IPC</a:t>
                      </a:r>
                    </a:p>
                  </a:txBody>
                  <a:tcPr marL="91440" marR="91440" marT="45720" marB="45720" anchor="ctr">
                    <a:lnR w="9525">
                      <a:solidFill>
                        <a:srgbClr val="DED9DF"/>
                      </a:solidFill>
                      <a:prstDash val="solid"/>
                    </a:lnR>
                    <a:lnB w="9525">
                      <a:solidFill>
                        <a:srgbClr val="DED9DF"/>
                      </a:solidFill>
                      <a:prstDash val="solid"/>
                    </a:lnB>
                    <a:solidFill>
                      <a:srgbClr val="FFFFFF"/>
                    </a:solidFill>
                  </a:tcPr>
                </a:tc>
              </a:tr>
              <a:tr h="842010">
                <a:tc>
                  <a:txBody>
                    <a:bodyPr wrap="square" lIns="114300" tIns="114300" rIns="114300" bIns="114300">
                      <a:noAutofit/>
                    </a:bodyPr>
                    <a:lstStyle/>
                    <a:p>
                      <a:r>
                        <a:rPr sz="1875" b="0">
                          <a:solidFill>
                            <a:srgbClr val="241C27"/>
                          </a:solidFill>
                          <a:latin typeface="Arial"/>
                          <a:ea typeface="Arial"/>
                          <a:cs typeface="Arial"/>
                        </a:rPr>
                        <a:t>QEMU execution</a:t>
                      </a:r>
                    </a:p>
                  </a:txBody>
                  <a:tcPr marL="91440" marR="91440" marT="45720" marB="45720" anchor="ctr">
                    <a:lnL w="9525">
                      <a:solidFill>
                        <a:srgbClr val="DED9DF"/>
                      </a:solidFill>
                      <a:prstDash val="solid"/>
                    </a:lnL>
                    <a:lnR w="9525">
                      <a:solidFill>
                        <a:srgbClr val="DED9DF"/>
                      </a:solidFill>
                      <a:prstDash val="solid"/>
                    </a:lnR>
                    <a:lnB w="9525">
                      <a:solidFill>
                        <a:srgbClr val="DED9DF"/>
                      </a:solidFill>
                      <a:prstDash val="solid"/>
                    </a:lnB>
                    <a:solidFill>
                      <a:srgbClr val="F5F3F6"/>
                    </a:solidFill>
                  </a:tcPr>
                </a:tc>
                <a:tc>
                  <a:txBody>
                    <a:bodyPr wrap="square" lIns="114300" tIns="114300" rIns="114300" bIns="114300">
                      <a:noAutofit/>
                    </a:bodyPr>
                    <a:lstStyle/>
                    <a:p>
                      <a:r>
                        <a:rPr sz="1875" b="0">
                          <a:solidFill>
                            <a:srgbClr val="241C27"/>
                          </a:solidFill>
                          <a:latin typeface="Arial"/>
                          <a:ea typeface="Arial"/>
                          <a:cs typeface="Arial"/>
                        </a:rPr>
                        <a:t>Repeat on calibrated physical RISC-V hardware</a:t>
                      </a:r>
                    </a:p>
                  </a:txBody>
                  <a:tcPr marL="91440" marR="91440" marT="45720" marB="45720" anchor="ctr">
                    <a:lnR w="9525">
                      <a:solidFill>
                        <a:srgbClr val="DED9DF"/>
                      </a:solidFill>
                      <a:prstDash val="solid"/>
                    </a:lnR>
                    <a:lnB w="9525">
                      <a:solidFill>
                        <a:srgbClr val="DED9DF"/>
                      </a:solidFill>
                      <a:prstDash val="solid"/>
                    </a:lnB>
                    <a:solidFill>
                      <a:srgbClr val="F5F3F6"/>
                    </a:solidFill>
                  </a:tcPr>
                </a:tc>
              </a:tr>
              <a:tr h="842010">
                <a:tc>
                  <a:txBody>
                    <a:bodyPr wrap="square" lIns="114300" tIns="114300" rIns="114300" bIns="114300">
                      <a:noAutofit/>
                    </a:bodyPr>
                    <a:lstStyle/>
                    <a:p>
                      <a:r>
                        <a:rPr sz="1875" b="0">
                          <a:solidFill>
                            <a:srgbClr val="241C27"/>
                          </a:solidFill>
                          <a:latin typeface="Arial"/>
                          <a:ea typeface="Arial"/>
                          <a:cs typeface="Arial"/>
                        </a:rPr>
                        <a:t>Bounded process state</a:t>
                      </a:r>
                    </a:p>
                  </a:txBody>
                  <a:tcPr marL="91440" marR="91440" marT="45720" marB="45720" anchor="ctr">
                    <a:lnL w="9525">
                      <a:solidFill>
                        <a:srgbClr val="DED9DF"/>
                      </a:solidFill>
                      <a:prstDash val="solid"/>
                    </a:lnL>
                    <a:lnR w="9525">
                      <a:solidFill>
                        <a:srgbClr val="DED9DF"/>
                      </a:solidFill>
                      <a:prstDash val="solid"/>
                    </a:lnR>
                    <a:lnB w="9525">
                      <a:solidFill>
                        <a:srgbClr val="DED9DF"/>
                      </a:solidFill>
                      <a:prstDash val="solid"/>
                    </a:lnB>
                    <a:solidFill>
                      <a:srgbClr val="FFFFFF"/>
                    </a:solidFill>
                  </a:tcPr>
                </a:tc>
                <a:tc>
                  <a:txBody>
                    <a:bodyPr wrap="square" lIns="114300" tIns="114300" rIns="114300" bIns="114300">
                      <a:noAutofit/>
                    </a:bodyPr>
                    <a:lstStyle/>
                    <a:p>
                      <a:r>
                        <a:rPr sz="1875" b="0">
                          <a:solidFill>
                            <a:srgbClr val="241C27"/>
                          </a:solidFill>
                          <a:latin typeface="Arial"/>
                          <a:ea typeface="Arial"/>
                          <a:cs typeface="Arial"/>
                        </a:rPr>
                        <a:t>Test private heaps and external resource ownership</a:t>
                      </a:r>
                    </a:p>
                  </a:txBody>
                  <a:tcPr marL="91440" marR="91440" marT="45720" marB="45720" anchor="ctr">
                    <a:lnR w="9525">
                      <a:solidFill>
                        <a:srgbClr val="DED9DF"/>
                      </a:solidFill>
                      <a:prstDash val="solid"/>
                    </a:lnR>
                    <a:lnB w="9525">
                      <a:solidFill>
                        <a:srgbClr val="DED9DF"/>
                      </a:solidFill>
                      <a:prstDash val="solid"/>
                    </a:lnB>
                    <a:solidFill>
                      <a:srgbClr val="FFFFFF"/>
                    </a:solidFill>
                  </a:tcPr>
                </a:tc>
              </a:tr>
              <a:tr h="842010">
                <a:tc>
                  <a:txBody>
                    <a:bodyPr wrap="square" lIns="114300" tIns="114300" rIns="114300" bIns="114300">
                      <a:noAutofit/>
                    </a:bodyPr>
                    <a:lstStyle/>
                    <a:p>
                      <a:r>
                        <a:rPr sz="1875" b="0">
                          <a:solidFill>
                            <a:srgbClr val="241C27"/>
                          </a:solidFill>
                          <a:latin typeface="Arial"/>
                          <a:ea typeface="Arial"/>
                          <a:cs typeface="Arial"/>
                        </a:rPr>
                        <a:t>Best-effort original transport</a:t>
                      </a:r>
                    </a:p>
                  </a:txBody>
                  <a:tcPr marL="91440" marR="91440" marT="45720" marB="45720" anchor="ctr">
                    <a:lnL w="9525">
                      <a:solidFill>
                        <a:srgbClr val="DED9DF"/>
                      </a:solidFill>
                      <a:prstDash val="solid"/>
                    </a:lnL>
                    <a:lnR w="9525">
                      <a:solidFill>
                        <a:srgbClr val="DED9DF"/>
                      </a:solidFill>
                      <a:prstDash val="solid"/>
                    </a:lnR>
                    <a:lnB w="9525">
                      <a:solidFill>
                        <a:srgbClr val="DED9DF"/>
                      </a:solidFill>
                      <a:prstDash val="solid"/>
                    </a:lnB>
                    <a:solidFill>
                      <a:srgbClr val="F5F3F6"/>
                    </a:solidFill>
                  </a:tcPr>
                </a:tc>
                <a:tc>
                  <a:txBody>
                    <a:bodyPr wrap="square" lIns="114300" tIns="114300" rIns="114300" bIns="114300">
                      <a:noAutofit/>
                    </a:bodyPr>
                    <a:lstStyle/>
                    <a:p>
                      <a:r>
                        <a:rPr sz="1875" b="0">
                          <a:solidFill>
                            <a:srgbClr val="241C27"/>
                          </a:solidFill>
                          <a:latin typeface="Arial"/>
                          <a:ea typeface="Arial"/>
                          <a:cs typeface="Arial"/>
                        </a:rPr>
                        <a:t>Measure retries, loss, failed attempts and tail latency</a:t>
                      </a:r>
                    </a:p>
                  </a:txBody>
                  <a:tcPr marL="91440" marR="91440" marT="45720" marB="45720" anchor="ctr">
                    <a:lnR w="9525">
                      <a:solidFill>
                        <a:srgbClr val="DED9DF"/>
                      </a:solidFill>
                      <a:prstDash val="solid"/>
                    </a:lnR>
                    <a:lnB w="9525">
                      <a:solidFill>
                        <a:srgbClr val="DED9DF"/>
                      </a:solidFill>
                      <a:prstDash val="solid"/>
                    </a:lnB>
                    <a:solidFill>
                      <a:srgbClr val="F5F3F6"/>
                    </a:solidFill>
                  </a:tcPr>
                </a:tc>
              </a:tr>
            </a:tbl>
          </a:graphicData>
        </a:graphic>
      </p:graphicFrame>
      <p:sp>
        <p:nvSpPr>
          <p:cNvPr id="5" name="">
            <a:extLst xmlns:a="http://schemas.openxmlformats.org/drawingml/2006/main">
              <a:ext uri="{FF2B5EF4-FFF2-40B4-BE49-F238E27FC236}">
                <a16:creationId xmlns:a16="http://schemas.microsoft.com/office/drawing/2014/main" id="{77CE4715-A397-4D39-9964-31CBB827CDD1}"/>
              </a:ext>
            </a:extLst>
          </p:cNvPr>
          <p:cNvSpPr>
            <a:spLocks xmlns:a="http://schemas.openxmlformats.org/drawingml/2006/main" noGrp="1"/>
          </p:cNvSpPr>
          <p:nvPr/>
        </p:nvSpPr>
        <p:spPr>
          <a:xfrm xmlns:a="http://schemas.openxmlformats.org/drawingml/2006/main">
            <a:off x="609600" y="596265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64606A"/>
                </a:solidFill>
                <a:latin typeface="Arial"/>
                <a:ea typeface="Arial"/>
                <a:cs typeface="Arial"/>
              </a:defRPr>
            </a:defPPr>
          </a:lstStyle>
          <a:p xmlns:a="http://schemas.openxmlformats.org/drawingml/2006/main">
            <a:pPr>
              <a:defRPr sz="1650" b="0">
                <a:solidFill>
                  <a:srgbClr val="64606A"/>
                </a:solidFill>
                <a:latin typeface="Arial"/>
                <a:ea typeface="Arial"/>
                <a:cs typeface="Arial"/>
              </a:defRPr>
            </a:pPr>
            <a:r>
              <a:rPr sz="1650" b="0">
                <a:solidFill>
                  <a:srgbClr val="64606A"/>
                </a:solidFill>
                <a:latin typeface="Arial"/>
                <a:ea typeface="Arial"/>
                <a:cs typeface="Arial"/>
              </a:rPr>
              <a:t>Production suitability and statistical equivalence remain questions for further experiments.</a:t>
            </a:r>
          </a:p>
        </p:txBody>
      </p:sp>
    </p:spTree>
    <p:extLst>
      <p:ext uri="{BB962C8B-B14F-4D97-AF65-F5344CB8AC3E}">
        <p14:creationId xmlns:p14="http://schemas.microsoft.com/office/powerpoint/2010/main" val="393981228"/>
      </p:ext>
    </p:extLst>
  </p:cSld>
</p:sld>
</file>

<file path=ppt/slides/slide12.xml><?xml version="1.0" encoding="utf-8"?>
<p:sld xmlns:p="http://schemas.openxmlformats.org/presentationml/2006/main">
  <p:cSld>
    <p:bg>
      <p:bgPr>
        <a:solidFill xmlns:a="http://schemas.openxmlformats.org/drawingml/2006/main">
          <a:srgbClr val="241C2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E5C001C-15D7-4019-A5D2-C351EF378412}"/>
              </a:ext>
            </a:extLst>
          </p:cNvPr>
          <p:cNvSpPr>
            <a:spLocks xmlns:a="http://schemas.openxmlformats.org/drawingml/2006/main" noGrp="1"/>
          </p:cNvSpPr>
          <p:nvPr/>
        </p:nvSpPr>
        <p:spPr>
          <a:xfrm xmlns:a="http://schemas.openxmlformats.org/drawingml/2006/main">
            <a:off x="609600" y="400050"/>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FFFFF"/>
                </a:solidFill>
                <a:latin typeface="Arial"/>
                <a:ea typeface="Arial"/>
                <a:cs typeface="Arial"/>
              </a:defRPr>
            </a:def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What the project established</a:t>
            </a:r>
          </a:p>
        </p:txBody>
      </p:sp>
      <p:sp>
        <p:nvSpPr>
          <p:cNvPr id="2" name="">
            <a:extLst xmlns:a="http://schemas.openxmlformats.org/drawingml/2006/main">
              <a:ext uri="{FF2B5EF4-FFF2-40B4-BE49-F238E27FC236}">
                <a16:creationId xmlns:a16="http://schemas.microsoft.com/office/drawing/2014/main" id="{AE02D25B-15D4-435E-88BC-21DF5A9AED41}"/>
              </a:ext>
            </a:extLst>
          </p:cNvPr>
          <p:cNvSpPr>
            <a:spLocks xmlns:a="http://schemas.openxmlformats.org/drawingml/2006/main" noGrp="1"/>
          </p:cNvSpPr>
          <p:nvPr/>
        </p:nvSpPr>
        <p:spPr>
          <a:xfrm xmlns:a="http://schemas.openxmlformats.org/drawingml/2006/main">
            <a:off x="11239500" y="641032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CBBFC9"/>
                </a:solidFill>
                <a:latin typeface="Arial"/>
                <a:ea typeface="Arial"/>
                <a:cs typeface="Arial"/>
              </a:defRPr>
            </a:defPPr>
          </a:lstStyle>
          <a:p xmlns:a="http://schemas.openxmlformats.org/drawingml/2006/main">
            <a:pPr>
              <a:defRPr sz="1125" b="0">
                <a:solidFill>
                  <a:srgbClr val="CBBFC9"/>
                </a:solidFill>
                <a:latin typeface="Arial"/>
                <a:ea typeface="Arial"/>
                <a:cs typeface="Arial"/>
              </a:defRPr>
            </a:pPr>
            <a:r>
              <a:rPr sz="1125" b="0">
                <a:solidFill>
                  <a:srgbClr val="CBBFC9"/>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82123B8B-5AF4-445A-8D05-435DBEED06A9}"/>
              </a:ext>
            </a:extLst>
          </p:cNvPr>
          <p:cNvSpPr>
            <a:spLocks xmlns:a="http://schemas.openxmlformats.org/drawingml/2006/main" noGrp="1"/>
          </p:cNvSpPr>
          <p:nvPr/>
        </p:nvSpPr>
        <p:spPr>
          <a:xfrm xmlns:a="http://schemas.openxmlformats.org/drawingml/2006/main">
            <a:off x="609600" y="633412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CBBFC9"/>
                </a:solidFill>
                <a:latin typeface="Arial"/>
                <a:ea typeface="Arial"/>
                <a:cs typeface="Arial"/>
              </a:defRPr>
            </a:defPPr>
          </a:lstStyle>
          <a:p xmlns:a="http://schemas.openxmlformats.org/drawingml/2006/main">
            <a:pPr>
              <a:defRPr sz="1125" b="0">
                <a:solidFill>
                  <a:srgbClr val="CBBFC9"/>
                </a:solidFill>
                <a:latin typeface="Arial"/>
                <a:ea typeface="Arial"/>
                <a:cs typeface="Arial"/>
              </a:defRPr>
            </a:pPr>
            <a:r>
              <a:rPr sz="1125" b="0">
                <a:solidFill>
                  <a:srgbClr val="CBBFC9"/>
                </a:solidFill>
                <a:latin typeface="Arial"/>
                <a:ea typeface="Arial"/>
                <a:cs typeface="Arial"/>
              </a:rPr>
              <a:t>Report abstract and Chapter 6. Repository, retained datasets and demo evidence archive.</a:t>
            </a:r>
          </a:p>
        </p:txBody>
      </p:sp>
      <p:sp>
        <p:nvSpPr>
          <p:cNvPr id="4" name="">
            <a:extLst xmlns:a="http://schemas.openxmlformats.org/drawingml/2006/main">
              <a:ext uri="{FF2B5EF4-FFF2-40B4-BE49-F238E27FC236}">
                <a16:creationId xmlns:a16="http://schemas.microsoft.com/office/drawing/2014/main" id="{B48E31D6-D4B1-416A-8AD7-61EEA5E5F995}"/>
              </a:ext>
            </a:extLst>
          </p:cNvPr>
          <p:cNvSpPr>
            <a:spLocks xmlns:a="http://schemas.openxmlformats.org/drawingml/2006/main" noGrp="1"/>
          </p:cNvSpPr>
          <p:nvPr/>
        </p:nvSpPr>
        <p:spPr>
          <a:xfrm xmlns:a="http://schemas.openxmlformats.org/drawingml/2006/main">
            <a:off x="609600" y="1333500"/>
            <a:ext cx="10953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FFFFF"/>
                </a:solidFill>
                <a:latin typeface="Arial"/>
                <a:ea typeface="Arial"/>
                <a:cs typeface="Arial"/>
              </a:defRPr>
            </a:defPPr>
          </a:lstStyle>
          <a:p xmlns:a="http://schemas.openxmlformats.org/drawingml/2006/main">
            <a:pPr>
              <a:defRPr sz="2850" b="1">
                <a:solidFill>
                  <a:srgbClr val="FFFFFF"/>
                </a:solidFill>
                <a:latin typeface="Arial"/>
                <a:ea typeface="Arial"/>
                <a:cs typeface="Arial"/>
              </a:defRPr>
            </a:pPr>
            <a:r>
              <a:rPr sz="2850" b="1">
                <a:solidFill>
                  <a:srgbClr val="FFFFFF"/>
                </a:solidFill>
                <a:latin typeface="Arial"/>
                <a:ea typeface="Arial"/>
                <a:cs typeface="Arial"/>
              </a:rPr>
              <a:t>Small observed wrapper cost in the measured baseline</a:t>
            </a:r>
          </a:p>
        </p:txBody>
      </p:sp>
      <p:graphicFrame>
        <p:nvGraphicFramePr>
          <p:cNvPr id="5" name="">
            <a:extLst xmlns:a="http://schemas.openxmlformats.org/drawingml/2006/main">
              <a:ext uri="{FF2B5EF4-FFF2-40B4-BE49-F238E27FC236}">
                <a16:creationId xmlns:a16="http://schemas.microsoft.com/office/drawing/2014/main" id="{52BF4EA9-843D-42D4-B8C9-AC50620A1F1F}"/>
              </a:ext>
            </a:extLst>
          </p:cNvPr>
          <p:cNvGraphicFramePr/>
          <p:nvPr/>
        </p:nvGraphicFramePr>
        <p:xfrm>
          <a:off xmlns:a="http://schemas.openxmlformats.org/drawingml/2006/main" x="609600" y="2419350"/>
          <a:ext xmlns:a="http://schemas.openxmlformats.org/drawingml/2006/main" cx="10972800" cy="3048000"/>
        </p:xfrm>
        <a:graphic xmlns:a="http://schemas.openxmlformats.org/drawingml/2006/main">
          <a:graphicData uri="http://schemas.openxmlformats.org/drawingml/2006/table">
            <a:tbl>
              <a:tblPr/>
              <a:tblGrid>
                <a:gridCol w="2190750"/>
                <a:gridCol w="8782050"/>
              </a:tblGrid>
              <a:tr h="508000">
                <a:tc>
                  <a:txBody>
                    <a:bodyPr wrap="square" lIns="114300" tIns="114300" rIns="114300" bIns="114300">
                      <a:noAutofit/>
                    </a:bodyPr>
                    <a:lstStyle/>
                    <a:p>
                      <a:r>
                        <a:rPr sz="1650" b="1">
                          <a:solidFill>
                            <a:srgbClr val="FFFFFF"/>
                          </a:solidFill>
                          <a:latin typeface="Arial"/>
                          <a:ea typeface="Arial"/>
                          <a:cs typeface="Arial"/>
                        </a:rPr>
                        <a:t>Objective</a:t>
                      </a:r>
                    </a:p>
                  </a:txBody>
                  <a:tcPr marL="91440" marR="91440" marT="45720" marB="45720" anchor="ctr">
                    <a:lnL w="9525">
                      <a:solidFill>
                        <a:srgbClr val="DED9DF"/>
                      </a:solidFill>
                      <a:prstDash val="solid"/>
                    </a:lnL>
                    <a:lnR w="9525">
                      <a:solidFill>
                        <a:srgbClr val="DED9DF"/>
                      </a:solidFill>
                      <a:prstDash val="solid"/>
                    </a:lnR>
                    <a:lnT w="9525">
                      <a:solidFill>
                        <a:srgbClr val="DED9DF"/>
                      </a:solidFill>
                      <a:prstDash val="solid"/>
                    </a:lnT>
                    <a:lnB w="9525">
                      <a:solidFill>
                        <a:srgbClr val="DED9DF"/>
                      </a:solidFill>
                      <a:prstDash val="solid"/>
                    </a:lnB>
                    <a:solidFill>
                      <a:srgbClr val="56334C"/>
                    </a:solidFill>
                  </a:tcPr>
                </a:tc>
                <a:tc>
                  <a:txBody>
                    <a:bodyPr wrap="square" lIns="114300" tIns="114300" rIns="114300" bIns="114300">
                      <a:noAutofit/>
                    </a:bodyPr>
                    <a:lstStyle/>
                    <a:p>
                      <a:r>
                        <a:rPr sz="1650" b="1">
                          <a:solidFill>
                            <a:srgbClr val="FFFFFF"/>
                          </a:solidFill>
                          <a:latin typeface="Arial"/>
                          <a:ea typeface="Arial"/>
                          <a:cs typeface="Arial"/>
                        </a:rPr>
                        <a:t>Evidence retained</a:t>
                      </a:r>
                    </a:p>
                  </a:txBody>
                  <a:tcPr marL="91440" marR="91440" marT="45720" marB="45720" anchor="ctr">
                    <a:lnR w="9525">
                      <a:solidFill>
                        <a:srgbClr val="DED9DF"/>
                      </a:solidFill>
                      <a:prstDash val="solid"/>
                    </a:lnR>
                    <a:lnT w="9525">
                      <a:solidFill>
                        <a:srgbClr val="DED9DF"/>
                      </a:solidFill>
                      <a:prstDash val="solid"/>
                    </a:lnT>
                    <a:lnB w="9525">
                      <a:solidFill>
                        <a:srgbClr val="DED9DF"/>
                      </a:solidFill>
                      <a:prstDash val="solid"/>
                    </a:lnB>
                    <a:solidFill>
                      <a:srgbClr val="56334C"/>
                    </a:solidFill>
                  </a:tcPr>
                </a:tc>
              </a:tr>
              <a:tr h="508000">
                <a:tc>
                  <a:txBody>
                    <a:bodyPr wrap="square" lIns="114300" tIns="114300" rIns="114300" bIns="114300">
                      <a:noAutofit/>
                    </a:bodyPr>
                    <a:lstStyle/>
                    <a:p>
                      <a:r>
                        <a:rPr sz="1800" b="0">
                          <a:solidFill>
                            <a:srgbClr val="241C27"/>
                          </a:solidFill>
                          <a:latin typeface="Arial"/>
                          <a:ea typeface="Arial"/>
                          <a:cs typeface="Arial"/>
                        </a:rPr>
                        <a:t>Implement</a:t>
                      </a:r>
                    </a:p>
                  </a:txBody>
                  <a:tcPr marL="91440" marR="91440" marT="45720" marB="45720" anchor="ctr">
                    <a:lnL w="9525">
                      <a:solidFill>
                        <a:srgbClr val="DED9DF"/>
                      </a:solidFill>
                      <a:prstDash val="solid"/>
                    </a:lnL>
                    <a:lnR w="9525">
                      <a:solidFill>
                        <a:srgbClr val="DED9DF"/>
                      </a:solidFill>
                      <a:prstDash val="solid"/>
                    </a:lnR>
                    <a:lnB w="9525">
                      <a:solidFill>
                        <a:srgbClr val="DED9DF"/>
                      </a:solidFill>
                      <a:prstDash val="solid"/>
                    </a:lnB>
                    <a:solidFill>
                      <a:srgbClr val="FFFFFF"/>
                    </a:solidFill>
                  </a:tcPr>
                </a:tc>
                <a:tc>
                  <a:txBody>
                    <a:bodyPr wrap="square" lIns="114300" tIns="114300" rIns="114300" bIns="114300">
                      <a:noAutofit/>
                    </a:bodyPr>
                    <a:lstStyle/>
                    <a:p>
                      <a:r>
                        <a:rPr sz="1800" b="0">
                          <a:solidFill>
                            <a:srgbClr val="241C27"/>
                          </a:solidFill>
                          <a:latin typeface="Arial"/>
                          <a:ea typeface="Arial"/>
                          <a:cs typeface="Arial"/>
                        </a:rPr>
                        <a:t>Two mode builds and shared checkpoint/restore primitives</a:t>
                      </a:r>
                    </a:p>
                  </a:txBody>
                  <a:tcPr marL="91440" marR="91440" marT="45720" marB="45720" anchor="ctr">
                    <a:lnR w="9525">
                      <a:solidFill>
                        <a:srgbClr val="DED9DF"/>
                      </a:solidFill>
                      <a:prstDash val="solid"/>
                    </a:lnR>
                    <a:lnB w="9525">
                      <a:solidFill>
                        <a:srgbClr val="DED9DF"/>
                      </a:solidFill>
                      <a:prstDash val="solid"/>
                    </a:lnB>
                    <a:solidFill>
                      <a:srgbClr val="FFFFFF"/>
                    </a:solidFill>
                  </a:tcPr>
                </a:tc>
              </a:tr>
              <a:tr h="508000">
                <a:tc>
                  <a:txBody>
                    <a:bodyPr wrap="square" lIns="114300" tIns="114300" rIns="114300" bIns="114300">
                      <a:noAutofit/>
                    </a:bodyPr>
                    <a:lstStyle/>
                    <a:p>
                      <a:r>
                        <a:rPr sz="1800" b="0">
                          <a:solidFill>
                            <a:srgbClr val="241C27"/>
                          </a:solidFill>
                          <a:latin typeface="Arial"/>
                          <a:ea typeface="Arial"/>
                          <a:cs typeface="Arial"/>
                        </a:rPr>
                        <a:t>Measure</a:t>
                      </a:r>
                    </a:p>
                  </a:txBody>
                  <a:tcPr marL="91440" marR="91440" marT="45720" marB="45720" anchor="ctr">
                    <a:lnL w="9525">
                      <a:solidFill>
                        <a:srgbClr val="DED9DF"/>
                      </a:solidFill>
                      <a:prstDash val="solid"/>
                    </a:lnL>
                    <a:lnR w="9525">
                      <a:solidFill>
                        <a:srgbClr val="DED9DF"/>
                      </a:solidFill>
                      <a:prstDash val="solid"/>
                    </a:lnR>
                    <a:lnB w="9525">
                      <a:solidFill>
                        <a:srgbClr val="DED9DF"/>
                      </a:solidFill>
                      <a:prstDash val="solid"/>
                    </a:lnB>
                    <a:solidFill>
                      <a:srgbClr val="F5F3F6"/>
                    </a:solidFill>
                  </a:tcPr>
                </a:tc>
                <a:tc>
                  <a:txBody>
                    <a:bodyPr wrap="square" lIns="114300" tIns="114300" rIns="114300" bIns="114300">
                      <a:noAutofit/>
                    </a:bodyPr>
                    <a:lstStyle/>
                    <a:p>
                      <a:r>
                        <a:rPr sz="1800" b="0">
                          <a:solidFill>
                            <a:srgbClr val="241C27"/>
                          </a:solidFill>
                          <a:latin typeface="Arial"/>
                          <a:ea typeface="Arial"/>
                          <a:cs typeface="Arial"/>
                        </a:rPr>
                        <a:t>BENCH intervals, source calls and contribution records</a:t>
                      </a:r>
                    </a:p>
                  </a:txBody>
                  <a:tcPr marL="91440" marR="91440" marT="45720" marB="45720" anchor="ctr">
                    <a:lnR w="9525">
                      <a:solidFill>
                        <a:srgbClr val="DED9DF"/>
                      </a:solidFill>
                      <a:prstDash val="solid"/>
                    </a:lnR>
                    <a:lnB w="9525">
                      <a:solidFill>
                        <a:srgbClr val="DED9DF"/>
                      </a:solidFill>
                      <a:prstDash val="solid"/>
                    </a:lnB>
                    <a:solidFill>
                      <a:srgbClr val="F5F3F6"/>
                    </a:solidFill>
                  </a:tcPr>
                </a:tc>
              </a:tr>
              <a:tr h="508000">
                <a:tc>
                  <a:txBody>
                    <a:bodyPr wrap="square" lIns="114300" tIns="114300" rIns="114300" bIns="114300">
                      <a:noAutofit/>
                    </a:bodyPr>
                    <a:lstStyle/>
                    <a:p>
                      <a:r>
                        <a:rPr sz="1800" b="0">
                          <a:solidFill>
                            <a:srgbClr val="241C27"/>
                          </a:solidFill>
                          <a:latin typeface="Arial"/>
                          <a:ea typeface="Arial"/>
                          <a:cs typeface="Arial"/>
                        </a:rPr>
                        <a:t>Compare</a:t>
                      </a:r>
                    </a:p>
                  </a:txBody>
                  <a:tcPr marL="91440" marR="91440" marT="45720" marB="45720" anchor="ctr">
                    <a:lnL w="9525">
                      <a:solidFill>
                        <a:srgbClr val="DED9DF"/>
                      </a:solidFill>
                      <a:prstDash val="solid"/>
                    </a:lnL>
                    <a:lnR w="9525">
                      <a:solidFill>
                        <a:srgbClr val="DED9DF"/>
                      </a:solidFill>
                      <a:prstDash val="solid"/>
                    </a:lnR>
                    <a:lnB w="9525">
                      <a:solidFill>
                        <a:srgbClr val="DED9DF"/>
                      </a:solidFill>
                      <a:prstDash val="solid"/>
                    </a:lnB>
                    <a:solidFill>
                      <a:srgbClr val="FFFFFF"/>
                    </a:solidFill>
                  </a:tcPr>
                </a:tc>
                <a:tc>
                  <a:txBody>
                    <a:bodyPr wrap="square" lIns="114300" tIns="114300" rIns="114300" bIns="114300">
                      <a:noAutofit/>
                    </a:bodyPr>
                    <a:lstStyle/>
                    <a:p>
                      <a:r>
                        <a:rPr sz="1800" b="0">
                          <a:solidFill>
                            <a:srgbClr val="241C27"/>
                          </a:solidFill>
                          <a:latin typeface="Arial"/>
                          <a:ea typeface="Arial"/>
                          <a:cs typeface="Arial"/>
                        </a:rPr>
                        <a:t>60 observations per mode and matched-size analysis</a:t>
                      </a:r>
                    </a:p>
                  </a:txBody>
                  <a:tcPr marL="91440" marR="91440" marT="45720" marB="45720" anchor="ctr">
                    <a:lnR w="9525">
                      <a:solidFill>
                        <a:srgbClr val="DED9DF"/>
                      </a:solidFill>
                      <a:prstDash val="solid"/>
                    </a:lnR>
                    <a:lnB w="9525">
                      <a:solidFill>
                        <a:srgbClr val="DED9DF"/>
                      </a:solidFill>
                      <a:prstDash val="solid"/>
                    </a:lnB>
                    <a:solidFill>
                      <a:srgbClr val="FFFFFF"/>
                    </a:solidFill>
                  </a:tcPr>
                </a:tc>
              </a:tr>
              <a:tr h="508000">
                <a:tc>
                  <a:txBody>
                    <a:bodyPr wrap="square" lIns="114300" tIns="114300" rIns="114300" bIns="114300">
                      <a:noAutofit/>
                    </a:bodyPr>
                    <a:lstStyle/>
                    <a:p>
                      <a:r>
                        <a:rPr sz="1800" b="0">
                          <a:solidFill>
                            <a:srgbClr val="241C27"/>
                          </a:solidFill>
                          <a:latin typeface="Arial"/>
                          <a:ea typeface="Arial"/>
                          <a:cs typeface="Arial"/>
                        </a:rPr>
                        <a:t>Reassess</a:t>
                      </a:r>
                    </a:p>
                  </a:txBody>
                  <a:tcPr marL="91440" marR="91440" marT="45720" marB="45720" anchor="ctr">
                    <a:lnL w="9525">
                      <a:solidFill>
                        <a:srgbClr val="DED9DF"/>
                      </a:solidFill>
                      <a:prstDash val="solid"/>
                    </a:lnL>
                    <a:lnR w="9525">
                      <a:solidFill>
                        <a:srgbClr val="DED9DF"/>
                      </a:solidFill>
                      <a:prstDash val="solid"/>
                    </a:lnR>
                    <a:lnB w="9525">
                      <a:solidFill>
                        <a:srgbClr val="DED9DF"/>
                      </a:solidFill>
                      <a:prstDash val="solid"/>
                    </a:lnB>
                    <a:solidFill>
                      <a:srgbClr val="F5F3F6"/>
                    </a:solidFill>
                  </a:tcPr>
                </a:tc>
                <a:tc>
                  <a:txBody>
                    <a:bodyPr wrap="square" lIns="114300" tIns="114300" rIns="114300" bIns="114300">
                      <a:noAutofit/>
                    </a:bodyPr>
                    <a:lstStyle/>
                    <a:p>
                      <a:r>
                        <a:rPr sz="1800" b="0">
                          <a:solidFill>
                            <a:srgbClr val="241C27"/>
                          </a:solidFill>
                          <a:latin typeface="Arial"/>
                          <a:ea typeface="Arial"/>
                          <a:cs typeface="Arial"/>
                        </a:rPr>
                        <a:t>Cited analysis of historical findings and barriers</a:t>
                      </a:r>
                    </a:p>
                  </a:txBody>
                  <a:tcPr marL="91440" marR="91440" marT="45720" marB="45720" anchor="ctr">
                    <a:lnR w="9525">
                      <a:solidFill>
                        <a:srgbClr val="DED9DF"/>
                      </a:solidFill>
                      <a:prstDash val="solid"/>
                    </a:lnR>
                    <a:lnB w="9525">
                      <a:solidFill>
                        <a:srgbClr val="DED9DF"/>
                      </a:solidFill>
                      <a:prstDash val="solid"/>
                    </a:lnB>
                    <a:solidFill>
                      <a:srgbClr val="F5F3F6"/>
                    </a:solidFill>
                  </a:tcPr>
                </a:tc>
              </a:tr>
              <a:tr h="508000">
                <a:tc>
                  <a:txBody>
                    <a:bodyPr wrap="square" lIns="114300" tIns="114300" rIns="114300" bIns="114300">
                      <a:noAutofit/>
                    </a:bodyPr>
                    <a:lstStyle/>
                    <a:p>
                      <a:r>
                        <a:rPr sz="1800" b="0">
                          <a:solidFill>
                            <a:srgbClr val="241C27"/>
                          </a:solidFill>
                          <a:latin typeface="Arial"/>
                          <a:ea typeface="Arial"/>
                          <a:cs typeface="Arial"/>
                        </a:rPr>
                        <a:t>Reproduce</a:t>
                      </a:r>
                    </a:p>
                  </a:txBody>
                  <a:tcPr marL="91440" marR="91440" marT="45720" marB="45720" anchor="ctr">
                    <a:lnL w="9525">
                      <a:solidFill>
                        <a:srgbClr val="DED9DF"/>
                      </a:solidFill>
                      <a:prstDash val="solid"/>
                    </a:lnL>
                    <a:lnR w="9525">
                      <a:solidFill>
                        <a:srgbClr val="DED9DF"/>
                      </a:solidFill>
                      <a:prstDash val="solid"/>
                    </a:lnR>
                    <a:lnB w="9525">
                      <a:solidFill>
                        <a:srgbClr val="DED9DF"/>
                      </a:solidFill>
                      <a:prstDash val="solid"/>
                    </a:lnB>
                    <a:solidFill>
                      <a:srgbClr val="FFFFFF"/>
                    </a:solidFill>
                  </a:tcPr>
                </a:tc>
                <a:tc>
                  <a:txBody>
                    <a:bodyPr wrap="square" lIns="114300" tIns="114300" rIns="114300" bIns="114300">
                      <a:noAutofit/>
                    </a:bodyPr>
                    <a:lstStyle/>
                    <a:p>
                      <a:r>
                        <a:rPr sz="1800" b="0">
                          <a:solidFill>
                            <a:srgbClr val="241C27"/>
                          </a:solidFill>
                          <a:latin typeface="Arial"/>
                          <a:ea typeface="Arial"/>
                          <a:cs typeface="Arial"/>
                        </a:rPr>
                        <a:t>Source, raw logs, test scripts and capture metadata</a:t>
                      </a:r>
                    </a:p>
                  </a:txBody>
                  <a:tcPr marL="91440" marR="91440" marT="45720" marB="45720" anchor="ctr">
                    <a:lnR w="9525">
                      <a:solidFill>
                        <a:srgbClr val="DED9DF"/>
                      </a:solidFill>
                      <a:prstDash val="solid"/>
                    </a:lnR>
                    <a:lnB w="9525">
                      <a:solidFill>
                        <a:srgbClr val="DED9DF"/>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EA7C6953-8C25-4918-A9C4-AFFE3FEB5716}"/>
              </a:ext>
            </a:extLst>
          </p:cNvPr>
          <p:cNvSpPr>
            <a:spLocks xmlns:a="http://schemas.openxmlformats.org/drawingml/2006/main" noGrp="1"/>
          </p:cNvSpPr>
          <p:nvPr/>
        </p:nvSpPr>
        <p:spPr>
          <a:xfrm xmlns:a="http://schemas.openxmlformats.org/drawingml/2006/main">
            <a:off x="609600" y="5791200"/>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E5D8E2"/>
                </a:solidFill>
                <a:latin typeface="Arial"/>
                <a:ea typeface="Arial"/>
                <a:cs typeface="Arial"/>
              </a:defRPr>
            </a:defPPr>
          </a:lstStyle>
          <a:p xmlns:a="http://schemas.openxmlformats.org/drawingml/2006/main">
            <a:pPr>
              <a:defRPr sz="1875" b="1">
                <a:solidFill>
                  <a:srgbClr val="E5D8E2"/>
                </a:solidFill>
                <a:latin typeface="Arial"/>
                <a:ea typeface="Arial"/>
                <a:cs typeface="Arial"/>
              </a:defRPr>
            </a:pPr>
            <a:r>
              <a:rPr sz="1875" b="1">
                <a:solidFill>
                  <a:srgbClr val="E5D8E2"/>
                </a:solidFill>
                <a:latin typeface="Arial"/>
                <a:ea typeface="Arial"/>
                <a:cs typeface="Arial"/>
                <a:hlinkClick xmlns:r="http://schemas.openxmlformats.org/officeDocument/2006/relationships" r:id="Ra66ad7b8f239478d"/>
              </a:rPr>
              <a:t>github.com/sahanruwantha/Hydra-Microkernal</a:t>
            </a:r>
          </a:p>
        </p:txBody>
      </p:sp>
    </p:spTree>
    <p:extLst>
      <p:ext uri="{BB962C8B-B14F-4D97-AF65-F5344CB8AC3E}">
        <p14:creationId xmlns:p14="http://schemas.microsoft.com/office/powerpoint/2010/main" val="59840176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38317B4-4BF9-483D-B115-ED2CCDB2EB25}"/>
              </a:ext>
            </a:extLst>
          </p:cNvPr>
          <p:cNvSpPr>
            <a:spLocks xmlns:a="http://schemas.openxmlformats.org/drawingml/2006/main" noGrp="1"/>
          </p:cNvSpPr>
          <p:nvPr/>
        </p:nvSpPr>
        <p:spPr>
          <a:xfrm xmlns:a="http://schemas.openxmlformats.org/drawingml/2006/main">
            <a:off x="609600" y="400050"/>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41C27"/>
                </a:solidFill>
                <a:latin typeface="Arial"/>
                <a:ea typeface="Arial"/>
                <a:cs typeface="Arial"/>
              </a:defRPr>
            </a:defPPr>
          </a:lstStyle>
          <a:p xmlns:a="http://schemas.openxmlformats.org/drawingml/2006/main">
            <a:pPr>
              <a:defRPr sz="3300" b="1">
                <a:solidFill>
                  <a:srgbClr val="241C27"/>
                </a:solidFill>
                <a:latin typeface="Arial"/>
                <a:ea typeface="Arial"/>
                <a:cs typeface="Arial"/>
              </a:defRPr>
            </a:pPr>
            <a:r>
              <a:rPr sz="3300" b="1">
                <a:solidFill>
                  <a:srgbClr val="241C27"/>
                </a:solidFill>
                <a:latin typeface="Arial"/>
                <a:ea typeface="Arial"/>
                <a:cs typeface="Arial"/>
              </a:rPr>
              <a:t>Backup: phase means and uncertainty</a:t>
            </a:r>
          </a:p>
        </p:txBody>
      </p:sp>
      <p:sp>
        <p:nvSpPr>
          <p:cNvPr id="2" name="">
            <a:extLst xmlns:a="http://schemas.openxmlformats.org/drawingml/2006/main">
              <a:ext uri="{FF2B5EF4-FFF2-40B4-BE49-F238E27FC236}">
                <a16:creationId xmlns:a16="http://schemas.microsoft.com/office/drawing/2014/main" id="{AB8136EE-F03A-4E96-A778-78ECC6F6AFE5}"/>
              </a:ext>
            </a:extLst>
          </p:cNvPr>
          <p:cNvSpPr>
            <a:spLocks xmlns:a="http://schemas.openxmlformats.org/drawingml/2006/main" noGrp="1"/>
          </p:cNvSpPr>
          <p:nvPr/>
        </p:nvSpPr>
        <p:spPr>
          <a:xfrm xmlns:a="http://schemas.openxmlformats.org/drawingml/2006/main">
            <a:off x="11239500" y="641032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4606A"/>
                </a:solidFill>
                <a:latin typeface="Arial"/>
                <a:ea typeface="Arial"/>
                <a:cs typeface="Arial"/>
              </a:defRPr>
            </a:defPPr>
          </a:lstStyle>
          <a:p xmlns:a="http://schemas.openxmlformats.org/drawingml/2006/main">
            <a:pPr>
              <a:defRPr sz="1125" b="0">
                <a:solidFill>
                  <a:srgbClr val="64606A"/>
                </a:solidFill>
                <a:latin typeface="Arial"/>
                <a:ea typeface="Arial"/>
                <a:cs typeface="Arial"/>
              </a:defRPr>
            </a:pPr>
            <a:r>
              <a:rPr sz="1125" b="0">
                <a:solidFill>
                  <a:srgbClr val="64606A"/>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FBCED640-7AB9-4647-9A49-1CFA9BD9098A}"/>
              </a:ext>
            </a:extLst>
          </p:cNvPr>
          <p:cNvSpPr>
            <a:spLocks xmlns:a="http://schemas.openxmlformats.org/drawingml/2006/main" noGrp="1"/>
          </p:cNvSpPr>
          <p:nvPr/>
        </p:nvSpPr>
        <p:spPr>
          <a:xfrm xmlns:a="http://schemas.openxmlformats.org/drawingml/2006/main">
            <a:off x="609600" y="633412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4606A"/>
                </a:solidFill>
                <a:latin typeface="Arial"/>
                <a:ea typeface="Arial"/>
                <a:cs typeface="Arial"/>
              </a:defRPr>
            </a:defPPr>
          </a:lstStyle>
          <a:p xmlns:a="http://schemas.openxmlformats.org/drawingml/2006/main">
            <a:pPr>
              <a:defRPr sz="1125" b="0">
                <a:solidFill>
                  <a:srgbClr val="64606A"/>
                </a:solidFill>
                <a:latin typeface="Arial"/>
                <a:ea typeface="Arial"/>
                <a:cs typeface="Arial"/>
              </a:defRPr>
            </a:pPr>
            <a:r>
              <a:rPr sz="1125" b="0">
                <a:solidFill>
                  <a:srgbClr val="64606A"/>
                </a:solidFill>
                <a:latin typeface="Arial"/>
                <a:ea typeface="Arial"/>
                <a:cs typeface="Arial"/>
              </a:rPr>
              <a:t>bench/results/comparison.txt. Report Tables 4.1–4.2 and §§4.2.7, 5.2.1.</a:t>
            </a:r>
          </a:p>
        </p:txBody>
      </p:sp>
      <p:graphicFrame>
        <p:nvGraphicFramePr>
          <p:cNvPr id="4" name="">
            <a:extLst xmlns:a="http://schemas.openxmlformats.org/drawingml/2006/main">
              <a:ext uri="{FF2B5EF4-FFF2-40B4-BE49-F238E27FC236}">
                <a16:creationId xmlns:a16="http://schemas.microsoft.com/office/drawing/2014/main" id="{7DD3549B-5552-47EC-A0F1-343575D16A03}"/>
              </a:ext>
            </a:extLst>
          </p:cNvPr>
          <p:cNvGraphicFramePr/>
          <p:nvPr/>
        </p:nvGraphicFramePr>
        <p:xfrm>
          <a:off xmlns:a="http://schemas.openxmlformats.org/drawingml/2006/main" x="609600" y="1600200"/>
          <a:ext xmlns:a="http://schemas.openxmlformats.org/drawingml/2006/main" cx="10972800" cy="3810000"/>
        </p:xfrm>
        <a:graphic xmlns:a="http://schemas.openxmlformats.org/drawingml/2006/main">
          <a:graphicData uri="http://schemas.openxmlformats.org/drawingml/2006/table">
            <a:tbl>
              <a:tblPr/>
              <a:tblGrid>
                <a:gridCol w="3048000"/>
                <a:gridCol w="3962400"/>
                <a:gridCol w="3962400"/>
              </a:tblGrid>
              <a:tr h="635000">
                <a:tc>
                  <a:txBody>
                    <a:bodyPr wrap="square" lIns="114300" tIns="114300" rIns="114300" bIns="114300">
                      <a:noAutofit/>
                    </a:bodyPr>
                    <a:lstStyle/>
                    <a:p>
                      <a:r>
                        <a:rPr sz="1650" b="1">
                          <a:solidFill>
                            <a:srgbClr val="FFFFFF"/>
                          </a:solidFill>
                          <a:latin typeface="Arial"/>
                          <a:ea typeface="Arial"/>
                          <a:cs typeface="Arial"/>
                        </a:rPr>
                        <a:t>Metric (cycles)</a:t>
                      </a:r>
                    </a:p>
                  </a:txBody>
                  <a:tcPr marL="91440" marR="91440" marT="45720" marB="45720" anchor="ctr">
                    <a:lnL w="9525">
                      <a:solidFill>
                        <a:srgbClr val="DED9DF"/>
                      </a:solidFill>
                      <a:prstDash val="solid"/>
                    </a:lnL>
                    <a:lnR w="9525">
                      <a:solidFill>
                        <a:srgbClr val="DED9DF"/>
                      </a:solidFill>
                      <a:prstDash val="solid"/>
                    </a:lnR>
                    <a:lnT w="9525">
                      <a:solidFill>
                        <a:srgbClr val="DED9DF"/>
                      </a:solidFill>
                      <a:prstDash val="solid"/>
                    </a:lnT>
                    <a:lnB w="9525">
                      <a:solidFill>
                        <a:srgbClr val="DED9DF"/>
                      </a:solidFill>
                      <a:prstDash val="solid"/>
                    </a:lnB>
                    <a:solidFill>
                      <a:srgbClr val="56334C"/>
                    </a:solidFill>
                  </a:tcPr>
                </a:tc>
                <a:tc>
                  <a:txBody>
                    <a:bodyPr wrap="square" lIns="114300" tIns="114300" rIns="114300" bIns="114300">
                      <a:noAutofit/>
                    </a:bodyPr>
                    <a:lstStyle/>
                    <a:p>
                      <a:r>
                        <a:rPr sz="1650" b="1">
                          <a:solidFill>
                            <a:srgbClr val="FFFFFF"/>
                          </a:solidFill>
                          <a:latin typeface="Arial"/>
                          <a:ea typeface="Arial"/>
                          <a:cs typeface="Arial"/>
                        </a:rPr>
                        <a:t>KERNEL mean ± 95% half-width</a:t>
                      </a:r>
                    </a:p>
                  </a:txBody>
                  <a:tcPr marL="91440" marR="91440" marT="45720" marB="45720" anchor="ctr">
                    <a:lnR w="9525">
                      <a:solidFill>
                        <a:srgbClr val="DED9DF"/>
                      </a:solidFill>
                      <a:prstDash val="solid"/>
                    </a:lnR>
                    <a:lnT w="9525">
                      <a:solidFill>
                        <a:srgbClr val="DED9DF"/>
                      </a:solidFill>
                      <a:prstDash val="solid"/>
                    </a:lnT>
                    <a:lnB w="9525">
                      <a:solidFill>
                        <a:srgbClr val="DED9DF"/>
                      </a:solidFill>
                      <a:prstDash val="solid"/>
                    </a:lnB>
                    <a:solidFill>
                      <a:srgbClr val="56334C"/>
                    </a:solidFill>
                  </a:tcPr>
                </a:tc>
                <a:tc>
                  <a:txBody>
                    <a:bodyPr wrap="square" lIns="114300" tIns="114300" rIns="114300" bIns="114300">
                      <a:noAutofit/>
                    </a:bodyPr>
                    <a:lstStyle/>
                    <a:p>
                      <a:r>
                        <a:rPr sz="1650" b="1">
                          <a:solidFill>
                            <a:srgbClr val="FFFFFF"/>
                          </a:solidFill>
                          <a:latin typeface="Arial"/>
                          <a:ea typeface="Arial"/>
                          <a:cs typeface="Arial"/>
                        </a:rPr>
                        <a:t>USERSPACE mean ± 95% half-width</a:t>
                      </a:r>
                    </a:p>
                  </a:txBody>
                  <a:tcPr marL="91440" marR="91440" marT="45720" marB="45720" anchor="ctr">
                    <a:lnR w="9525">
                      <a:solidFill>
                        <a:srgbClr val="DED9DF"/>
                      </a:solidFill>
                      <a:prstDash val="solid"/>
                    </a:lnR>
                    <a:lnT w="9525">
                      <a:solidFill>
                        <a:srgbClr val="DED9DF"/>
                      </a:solidFill>
                      <a:prstDash val="solid"/>
                    </a:lnT>
                    <a:lnB w="9525">
                      <a:solidFill>
                        <a:srgbClr val="DED9DF"/>
                      </a:solidFill>
                      <a:prstDash val="solid"/>
                    </a:lnB>
                    <a:solidFill>
                      <a:srgbClr val="56334C"/>
                    </a:solidFill>
                  </a:tcPr>
                </a:tc>
              </a:tr>
              <a:tr h="635000">
                <a:tc>
                  <a:txBody>
                    <a:bodyPr wrap="square" lIns="114300" tIns="114300" rIns="114300" bIns="114300">
                      <a:noAutofit/>
                    </a:bodyPr>
                    <a:lstStyle/>
                    <a:p>
                      <a:r>
                        <a:rPr sz="1800" b="0">
                          <a:solidFill>
                            <a:srgbClr val="241C27"/>
                          </a:solidFill>
                          <a:latin typeface="Arial"/>
                          <a:ea typeface="Arial"/>
                          <a:cs typeface="Arial"/>
                        </a:rPr>
                        <a:t>Freeze</a:t>
                      </a:r>
                    </a:p>
                  </a:txBody>
                  <a:tcPr marL="91440" marR="91440" marT="45720" marB="45720" anchor="ctr">
                    <a:lnL w="9525">
                      <a:solidFill>
                        <a:srgbClr val="DED9DF"/>
                      </a:solidFill>
                      <a:prstDash val="solid"/>
                    </a:lnL>
                    <a:lnR w="9525">
                      <a:solidFill>
                        <a:srgbClr val="DED9DF"/>
                      </a:solidFill>
                      <a:prstDash val="solid"/>
                    </a:lnR>
                    <a:lnB w="9525">
                      <a:solidFill>
                        <a:srgbClr val="DED9DF"/>
                      </a:solidFill>
                      <a:prstDash val="solid"/>
                    </a:lnB>
                    <a:solidFill>
                      <a:srgbClr val="FFFFFF"/>
                    </a:solidFill>
                  </a:tcPr>
                </a:tc>
                <a:tc>
                  <a:txBody>
                    <a:bodyPr wrap="square" lIns="114300" tIns="114300" rIns="114300" bIns="114300">
                      <a:noAutofit/>
                    </a:bodyPr>
                    <a:lstStyle/>
                    <a:p>
                      <a:r>
                        <a:rPr sz="1800" b="0">
                          <a:solidFill>
                            <a:srgbClr val="241C27"/>
                          </a:solidFill>
                          <a:latin typeface="Arial"/>
                          <a:ea typeface="Arial"/>
                          <a:cs typeface="Arial"/>
                        </a:rPr>
                        <a:t>275,362 ± 9,117</a:t>
                      </a:r>
                    </a:p>
                  </a:txBody>
                  <a:tcPr marL="91440" marR="91440" marT="45720" marB="45720" anchor="ctr">
                    <a:lnR w="9525">
                      <a:solidFill>
                        <a:srgbClr val="DED9DF"/>
                      </a:solidFill>
                      <a:prstDash val="solid"/>
                    </a:lnR>
                    <a:lnB w="9525">
                      <a:solidFill>
                        <a:srgbClr val="DED9DF"/>
                      </a:solidFill>
                      <a:prstDash val="solid"/>
                    </a:lnB>
                    <a:solidFill>
                      <a:srgbClr val="FFFFFF"/>
                    </a:solidFill>
                  </a:tcPr>
                </a:tc>
                <a:tc>
                  <a:txBody>
                    <a:bodyPr wrap="square" lIns="114300" tIns="114300" rIns="114300" bIns="114300">
                      <a:noAutofit/>
                    </a:bodyPr>
                    <a:lstStyle/>
                    <a:p>
                      <a:r>
                        <a:rPr sz="1800" b="0">
                          <a:solidFill>
                            <a:srgbClr val="241C27"/>
                          </a:solidFill>
                          <a:latin typeface="Arial"/>
                          <a:ea typeface="Arial"/>
                          <a:cs typeface="Arial"/>
                        </a:rPr>
                        <a:t>272,834 ± 7,245</a:t>
                      </a:r>
                    </a:p>
                  </a:txBody>
                  <a:tcPr marL="91440" marR="91440" marT="45720" marB="45720" anchor="ctr">
                    <a:lnR w="9525">
                      <a:solidFill>
                        <a:srgbClr val="DED9DF"/>
                      </a:solidFill>
                      <a:prstDash val="solid"/>
                    </a:lnR>
                    <a:lnB w="9525">
                      <a:solidFill>
                        <a:srgbClr val="DED9DF"/>
                      </a:solidFill>
                      <a:prstDash val="solid"/>
                    </a:lnB>
                    <a:solidFill>
                      <a:srgbClr val="FFFFFF"/>
                    </a:solidFill>
                  </a:tcPr>
                </a:tc>
              </a:tr>
              <a:tr h="635000">
                <a:tc>
                  <a:txBody>
                    <a:bodyPr wrap="square" lIns="114300" tIns="114300" rIns="114300" bIns="114300">
                      <a:noAutofit/>
                    </a:bodyPr>
                    <a:lstStyle/>
                    <a:p>
                      <a:r>
                        <a:rPr sz="1800" b="0">
                          <a:solidFill>
                            <a:srgbClr val="241C27"/>
                          </a:solidFill>
                          <a:latin typeface="Arial"/>
                          <a:ea typeface="Arial"/>
                          <a:cs typeface="Arial"/>
                        </a:rPr>
                        <a:t>Serialize</a:t>
                      </a:r>
                    </a:p>
                  </a:txBody>
                  <a:tcPr marL="91440" marR="91440" marT="45720" marB="45720" anchor="ctr">
                    <a:lnL w="9525">
                      <a:solidFill>
                        <a:srgbClr val="DED9DF"/>
                      </a:solidFill>
                      <a:prstDash val="solid"/>
                    </a:lnL>
                    <a:lnR w="9525">
                      <a:solidFill>
                        <a:srgbClr val="DED9DF"/>
                      </a:solidFill>
                      <a:prstDash val="solid"/>
                    </a:lnR>
                    <a:lnB w="9525">
                      <a:solidFill>
                        <a:srgbClr val="DED9DF"/>
                      </a:solidFill>
                      <a:prstDash val="solid"/>
                    </a:lnB>
                    <a:solidFill>
                      <a:srgbClr val="F5F3F6"/>
                    </a:solidFill>
                  </a:tcPr>
                </a:tc>
                <a:tc>
                  <a:txBody>
                    <a:bodyPr wrap="square" lIns="114300" tIns="114300" rIns="114300" bIns="114300">
                      <a:noAutofit/>
                    </a:bodyPr>
                    <a:lstStyle/>
                    <a:p>
                      <a:r>
                        <a:rPr sz="1800" b="0">
                          <a:solidFill>
                            <a:srgbClr val="241C27"/>
                          </a:solidFill>
                          <a:latin typeface="Arial"/>
                          <a:ea typeface="Arial"/>
                          <a:cs typeface="Arial"/>
                        </a:rPr>
                        <a:t>1,078,726 ± 55,295</a:t>
                      </a:r>
                    </a:p>
                  </a:txBody>
                  <a:tcPr marL="91440" marR="91440" marT="45720" marB="45720" anchor="ctr">
                    <a:lnR w="9525">
                      <a:solidFill>
                        <a:srgbClr val="DED9DF"/>
                      </a:solidFill>
                      <a:prstDash val="solid"/>
                    </a:lnR>
                    <a:lnB w="9525">
                      <a:solidFill>
                        <a:srgbClr val="DED9DF"/>
                      </a:solidFill>
                      <a:prstDash val="solid"/>
                    </a:lnB>
                    <a:solidFill>
                      <a:srgbClr val="F5F3F6"/>
                    </a:solidFill>
                  </a:tcPr>
                </a:tc>
                <a:tc>
                  <a:txBody>
                    <a:bodyPr wrap="square" lIns="114300" tIns="114300" rIns="114300" bIns="114300">
                      <a:noAutofit/>
                    </a:bodyPr>
                    <a:lstStyle/>
                    <a:p>
                      <a:r>
                        <a:rPr sz="1800" b="0">
                          <a:solidFill>
                            <a:srgbClr val="241C27"/>
                          </a:solidFill>
                          <a:latin typeface="Arial"/>
                          <a:ea typeface="Arial"/>
                          <a:cs typeface="Arial"/>
                        </a:rPr>
                        <a:t>1,076,715 ± 48,517</a:t>
                      </a:r>
                    </a:p>
                  </a:txBody>
                  <a:tcPr marL="91440" marR="91440" marT="45720" marB="45720" anchor="ctr">
                    <a:lnR w="9525">
                      <a:solidFill>
                        <a:srgbClr val="DED9DF"/>
                      </a:solidFill>
                      <a:prstDash val="solid"/>
                    </a:lnR>
                    <a:lnB w="9525">
                      <a:solidFill>
                        <a:srgbClr val="DED9DF"/>
                      </a:solidFill>
                      <a:prstDash val="solid"/>
                    </a:lnB>
                    <a:solidFill>
                      <a:srgbClr val="F5F3F6"/>
                    </a:solidFill>
                  </a:tcPr>
                </a:tc>
              </a:tr>
              <a:tr h="635000">
                <a:tc>
                  <a:txBody>
                    <a:bodyPr wrap="square" lIns="114300" tIns="114300" rIns="114300" bIns="114300">
                      <a:noAutofit/>
                    </a:bodyPr>
                    <a:lstStyle/>
                    <a:p>
                      <a:r>
                        <a:rPr sz="1800" b="0">
                          <a:solidFill>
                            <a:srgbClr val="241C27"/>
                          </a:solidFill>
                          <a:latin typeface="Arial"/>
                          <a:ea typeface="Arial"/>
                          <a:cs typeface="Arial"/>
                        </a:rPr>
                        <a:t>Local transport tags</a:t>
                      </a:r>
                    </a:p>
                  </a:txBody>
                  <a:tcPr marL="91440" marR="91440" marT="45720" marB="45720" anchor="ctr">
                    <a:lnL w="9525">
                      <a:solidFill>
                        <a:srgbClr val="DED9DF"/>
                      </a:solidFill>
                      <a:prstDash val="solid"/>
                    </a:lnL>
                    <a:lnR w="9525">
                      <a:solidFill>
                        <a:srgbClr val="DED9DF"/>
                      </a:solidFill>
                      <a:prstDash val="solid"/>
                    </a:lnR>
                    <a:lnB w="9525">
                      <a:solidFill>
                        <a:srgbClr val="DED9DF"/>
                      </a:solidFill>
                      <a:prstDash val="solid"/>
                    </a:lnB>
                    <a:solidFill>
                      <a:srgbClr val="FFFFFF"/>
                    </a:solidFill>
                  </a:tcPr>
                </a:tc>
                <a:tc>
                  <a:txBody>
                    <a:bodyPr wrap="square" lIns="114300" tIns="114300" rIns="114300" bIns="114300">
                      <a:noAutofit/>
                    </a:bodyPr>
                    <a:lstStyle/>
                    <a:p>
                      <a:r>
                        <a:rPr sz="1800" b="0">
                          <a:solidFill>
                            <a:srgbClr val="241C27"/>
                          </a:solidFill>
                          <a:latin typeface="Arial"/>
                          <a:ea typeface="Arial"/>
                          <a:cs typeface="Arial"/>
                        </a:rPr>
                        <a:t>782,891 ± 15,123</a:t>
                      </a:r>
                    </a:p>
                  </a:txBody>
                  <a:tcPr marL="91440" marR="91440" marT="45720" marB="45720" anchor="ctr">
                    <a:lnR w="9525">
                      <a:solidFill>
                        <a:srgbClr val="DED9DF"/>
                      </a:solidFill>
                      <a:prstDash val="solid"/>
                    </a:lnR>
                    <a:lnB w="9525">
                      <a:solidFill>
                        <a:srgbClr val="DED9DF"/>
                      </a:solidFill>
                      <a:prstDash val="solid"/>
                    </a:lnB>
                    <a:solidFill>
                      <a:srgbClr val="FFFFFF"/>
                    </a:solidFill>
                  </a:tcPr>
                </a:tc>
                <a:tc>
                  <a:txBody>
                    <a:bodyPr wrap="square" lIns="114300" tIns="114300" rIns="114300" bIns="114300">
                      <a:noAutofit/>
                    </a:bodyPr>
                    <a:lstStyle/>
                    <a:p>
                      <a:r>
                        <a:rPr sz="1800" b="0">
                          <a:solidFill>
                            <a:srgbClr val="241C27"/>
                          </a:solidFill>
                          <a:latin typeface="Arial"/>
                          <a:ea typeface="Arial"/>
                          <a:cs typeface="Arial"/>
                        </a:rPr>
                        <a:t>785,910 ± 14,762</a:t>
                      </a:r>
                    </a:p>
                  </a:txBody>
                  <a:tcPr marL="91440" marR="91440" marT="45720" marB="45720" anchor="ctr">
                    <a:lnR w="9525">
                      <a:solidFill>
                        <a:srgbClr val="DED9DF"/>
                      </a:solidFill>
                      <a:prstDash val="solid"/>
                    </a:lnR>
                    <a:lnB w="9525">
                      <a:solidFill>
                        <a:srgbClr val="DED9DF"/>
                      </a:solidFill>
                      <a:prstDash val="solid"/>
                    </a:lnB>
                    <a:solidFill>
                      <a:srgbClr val="FFFFFF"/>
                    </a:solidFill>
                  </a:tcPr>
                </a:tc>
              </a:tr>
              <a:tr h="635000">
                <a:tc>
                  <a:txBody>
                    <a:bodyPr wrap="square" lIns="114300" tIns="114300" rIns="114300" bIns="114300">
                      <a:noAutofit/>
                    </a:bodyPr>
                    <a:lstStyle/>
                    <a:p>
                      <a:r>
                        <a:rPr sz="1800" b="0">
                          <a:solidFill>
                            <a:srgbClr val="241C27"/>
                          </a:solidFill>
                          <a:latin typeface="Arial"/>
                          <a:ea typeface="Arial"/>
                          <a:cs typeface="Arial"/>
                        </a:rPr>
                        <a:t>Deserialize</a:t>
                      </a:r>
                    </a:p>
                  </a:txBody>
                  <a:tcPr marL="91440" marR="91440" marT="45720" marB="45720" anchor="ctr">
                    <a:lnL w="9525">
                      <a:solidFill>
                        <a:srgbClr val="DED9DF"/>
                      </a:solidFill>
                      <a:prstDash val="solid"/>
                    </a:lnL>
                    <a:lnR w="9525">
                      <a:solidFill>
                        <a:srgbClr val="DED9DF"/>
                      </a:solidFill>
                      <a:prstDash val="solid"/>
                    </a:lnR>
                    <a:lnB w="9525">
                      <a:solidFill>
                        <a:srgbClr val="DED9DF"/>
                      </a:solidFill>
                      <a:prstDash val="solid"/>
                    </a:lnB>
                    <a:solidFill>
                      <a:srgbClr val="F5F3F6"/>
                    </a:solidFill>
                  </a:tcPr>
                </a:tc>
                <a:tc>
                  <a:txBody>
                    <a:bodyPr wrap="square" lIns="114300" tIns="114300" rIns="114300" bIns="114300">
                      <a:noAutofit/>
                    </a:bodyPr>
                    <a:lstStyle/>
                    <a:p>
                      <a:r>
                        <a:rPr sz="1800" b="0">
                          <a:solidFill>
                            <a:srgbClr val="241C27"/>
                          </a:solidFill>
                          <a:latin typeface="Arial"/>
                          <a:ea typeface="Arial"/>
                          <a:cs typeface="Arial"/>
                        </a:rPr>
                        <a:t>1,029,199 ± 70,017</a:t>
                      </a:r>
                    </a:p>
                  </a:txBody>
                  <a:tcPr marL="91440" marR="91440" marT="45720" marB="45720" anchor="ctr">
                    <a:lnR w="9525">
                      <a:solidFill>
                        <a:srgbClr val="DED9DF"/>
                      </a:solidFill>
                      <a:prstDash val="solid"/>
                    </a:lnR>
                    <a:lnB w="9525">
                      <a:solidFill>
                        <a:srgbClr val="DED9DF"/>
                      </a:solidFill>
                      <a:prstDash val="solid"/>
                    </a:lnB>
                    <a:solidFill>
                      <a:srgbClr val="F5F3F6"/>
                    </a:solidFill>
                  </a:tcPr>
                </a:tc>
                <a:tc>
                  <a:txBody>
                    <a:bodyPr wrap="square" lIns="114300" tIns="114300" rIns="114300" bIns="114300">
                      <a:noAutofit/>
                    </a:bodyPr>
                    <a:lstStyle/>
                    <a:p>
                      <a:r>
                        <a:rPr sz="1800" b="0">
                          <a:solidFill>
                            <a:srgbClr val="241C27"/>
                          </a:solidFill>
                          <a:latin typeface="Arial"/>
                          <a:ea typeface="Arial"/>
                          <a:cs typeface="Arial"/>
                        </a:rPr>
                        <a:t>1,016,759 ± 59,260</a:t>
                      </a:r>
                    </a:p>
                  </a:txBody>
                  <a:tcPr marL="91440" marR="91440" marT="45720" marB="45720" anchor="ctr">
                    <a:lnR w="9525">
                      <a:solidFill>
                        <a:srgbClr val="DED9DF"/>
                      </a:solidFill>
                      <a:prstDash val="solid"/>
                    </a:lnR>
                    <a:lnB w="9525">
                      <a:solidFill>
                        <a:srgbClr val="DED9DF"/>
                      </a:solidFill>
                      <a:prstDash val="solid"/>
                    </a:lnB>
                    <a:solidFill>
                      <a:srgbClr val="F5F3F6"/>
                    </a:solidFill>
                  </a:tcPr>
                </a:tc>
              </a:tr>
              <a:tr h="635000">
                <a:tc>
                  <a:txBody>
                    <a:bodyPr wrap="square" lIns="114300" tIns="114300" rIns="114300" bIns="114300">
                      <a:noAutofit/>
                    </a:bodyPr>
                    <a:lstStyle/>
                    <a:p>
                      <a:r>
                        <a:rPr sz="1800" b="0">
                          <a:solidFill>
                            <a:srgbClr val="241C27"/>
                          </a:solidFill>
                          <a:latin typeface="Arial"/>
                          <a:ea typeface="Arial"/>
                          <a:cs typeface="Arial"/>
                        </a:rPr>
                        <a:t>Total to READY</a:t>
                      </a:r>
                    </a:p>
                  </a:txBody>
                  <a:tcPr marL="91440" marR="91440" marT="45720" marB="45720" anchor="ctr">
                    <a:lnL w="9525">
                      <a:solidFill>
                        <a:srgbClr val="DED9DF"/>
                      </a:solidFill>
                      <a:prstDash val="solid"/>
                    </a:lnL>
                    <a:lnR w="9525">
                      <a:solidFill>
                        <a:srgbClr val="DED9DF"/>
                      </a:solidFill>
                      <a:prstDash val="solid"/>
                    </a:lnR>
                    <a:lnB w="9525">
                      <a:solidFill>
                        <a:srgbClr val="DED9DF"/>
                      </a:solidFill>
                      <a:prstDash val="solid"/>
                    </a:lnB>
                    <a:solidFill>
                      <a:srgbClr val="FFFFFF"/>
                    </a:solidFill>
                  </a:tcPr>
                </a:tc>
                <a:tc>
                  <a:txBody>
                    <a:bodyPr wrap="square" lIns="114300" tIns="114300" rIns="114300" bIns="114300">
                      <a:noAutofit/>
                    </a:bodyPr>
                    <a:lstStyle/>
                    <a:p>
                      <a:r>
                        <a:rPr sz="1800" b="0">
                          <a:solidFill>
                            <a:srgbClr val="241C27"/>
                          </a:solidFill>
                          <a:latin typeface="Arial"/>
                          <a:ea typeface="Arial"/>
                          <a:cs typeface="Arial"/>
                        </a:rPr>
                        <a:t>4,061,687 ± 145,479</a:t>
                      </a:r>
                    </a:p>
                  </a:txBody>
                  <a:tcPr marL="91440" marR="91440" marT="45720" marB="45720" anchor="ctr">
                    <a:lnR w="9525">
                      <a:solidFill>
                        <a:srgbClr val="DED9DF"/>
                      </a:solidFill>
                      <a:prstDash val="solid"/>
                    </a:lnR>
                    <a:lnB w="9525">
                      <a:solidFill>
                        <a:srgbClr val="DED9DF"/>
                      </a:solidFill>
                      <a:prstDash val="solid"/>
                    </a:lnB>
                    <a:solidFill>
                      <a:srgbClr val="FFFFFF"/>
                    </a:solidFill>
                  </a:tcPr>
                </a:tc>
                <a:tc>
                  <a:txBody>
                    <a:bodyPr wrap="square" lIns="114300" tIns="114300" rIns="114300" bIns="114300">
                      <a:noAutofit/>
                    </a:bodyPr>
                    <a:lstStyle/>
                    <a:p>
                      <a:r>
                        <a:rPr sz="1800" b="0">
                          <a:solidFill>
                            <a:srgbClr val="241C27"/>
                          </a:solidFill>
                          <a:latin typeface="Arial"/>
                          <a:ea typeface="Arial"/>
                          <a:cs typeface="Arial"/>
                        </a:rPr>
                        <a:t>4,061,801 ± 118,173</a:t>
                      </a:r>
                    </a:p>
                  </a:txBody>
                  <a:tcPr marL="91440" marR="91440" marT="45720" marB="45720" anchor="ctr">
                    <a:lnR w="9525">
                      <a:solidFill>
                        <a:srgbClr val="DED9DF"/>
                      </a:solidFill>
                      <a:prstDash val="solid"/>
                    </a:lnR>
                    <a:lnB w="9525">
                      <a:solidFill>
                        <a:srgbClr val="DED9DF"/>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02493AA-5BA4-4753-A43E-AEA5E746AF75}"/>
              </a:ext>
            </a:extLst>
          </p:cNvPr>
          <p:cNvSpPr>
            <a:spLocks xmlns:a="http://schemas.openxmlformats.org/drawingml/2006/main" noGrp="1"/>
          </p:cNvSpPr>
          <p:nvPr/>
        </p:nvSpPr>
        <p:spPr>
          <a:xfrm xmlns:a="http://schemas.openxmlformats.org/drawingml/2006/main">
            <a:off x="609600" y="5781675"/>
            <a:ext cx="10877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56334C"/>
                </a:solidFill>
                <a:latin typeface="Arial"/>
                <a:ea typeface="Arial"/>
                <a:cs typeface="Arial"/>
              </a:defRPr>
            </a:defPPr>
          </a:lstStyle>
          <a:p xmlns:a="http://schemas.openxmlformats.org/drawingml/2006/main">
            <a:pPr>
              <a:defRPr sz="1875" b="1">
                <a:solidFill>
                  <a:srgbClr val="56334C"/>
                </a:solidFill>
                <a:latin typeface="Arial"/>
                <a:ea typeface="Arial"/>
                <a:cs typeface="Arial"/>
              </a:defRPr>
            </a:pPr>
            <a:r>
              <a:rPr sz="1875" b="1">
                <a:solidFill>
                  <a:srgbClr val="56334C"/>
                </a:solidFill>
                <a:latin typeface="Arial"/>
                <a:ea typeface="Arial"/>
                <a:cs typeface="Arial"/>
              </a:rPr>
              <a:t>Migration primitives: 319 C lines + 74 header lines = 393 lines</a:t>
            </a:r>
          </a:p>
        </p:txBody>
      </p:sp>
    </p:spTree>
    <p:extLst>
      <p:ext uri="{BB962C8B-B14F-4D97-AF65-F5344CB8AC3E}">
        <p14:creationId xmlns:p14="http://schemas.microsoft.com/office/powerpoint/2010/main" val="48346247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93A6E5B-9FED-405A-AAFB-721BCAC1AA3F}"/>
              </a:ext>
            </a:extLst>
          </p:cNvPr>
          <p:cNvSpPr>
            <a:spLocks xmlns:a="http://schemas.openxmlformats.org/drawingml/2006/main" noGrp="1"/>
          </p:cNvSpPr>
          <p:nvPr/>
        </p:nvSpPr>
        <p:spPr>
          <a:xfrm xmlns:a="http://schemas.openxmlformats.org/drawingml/2006/main">
            <a:off x="609600" y="400050"/>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41C27"/>
                </a:solidFill>
                <a:latin typeface="Arial"/>
                <a:ea typeface="Arial"/>
                <a:cs typeface="Arial"/>
              </a:defRPr>
            </a:defPPr>
          </a:lstStyle>
          <a:p xmlns:a="http://schemas.openxmlformats.org/drawingml/2006/main">
            <a:pPr>
              <a:defRPr sz="3300" b="1">
                <a:solidFill>
                  <a:srgbClr val="241C27"/>
                </a:solidFill>
                <a:latin typeface="Arial"/>
                <a:ea typeface="Arial"/>
                <a:cs typeface="Arial"/>
              </a:defRPr>
            </a:pPr>
            <a:r>
              <a:rPr sz="3300" b="1">
                <a:solidFill>
                  <a:srgbClr val="241C27"/>
                </a:solidFill>
                <a:latin typeface="Arial"/>
                <a:ea typeface="Arial"/>
                <a:cs typeface="Arial"/>
              </a:rPr>
              <a:t>Backup: controlled task recovery</a:t>
            </a:r>
          </a:p>
        </p:txBody>
      </p:sp>
      <p:sp>
        <p:nvSpPr>
          <p:cNvPr id="2" name="">
            <a:extLst xmlns:a="http://schemas.openxmlformats.org/drawingml/2006/main">
              <a:ext uri="{FF2B5EF4-FFF2-40B4-BE49-F238E27FC236}">
                <a16:creationId xmlns:a16="http://schemas.microsoft.com/office/drawing/2014/main" id="{E309D81D-1482-464A-8B7D-AEEFF46CF3A1}"/>
              </a:ext>
            </a:extLst>
          </p:cNvPr>
          <p:cNvSpPr>
            <a:spLocks xmlns:a="http://schemas.openxmlformats.org/drawingml/2006/main" noGrp="1"/>
          </p:cNvSpPr>
          <p:nvPr/>
        </p:nvSpPr>
        <p:spPr>
          <a:xfrm xmlns:a="http://schemas.openxmlformats.org/drawingml/2006/main">
            <a:off x="11239500" y="641032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4606A"/>
                </a:solidFill>
                <a:latin typeface="Arial"/>
                <a:ea typeface="Arial"/>
                <a:cs typeface="Arial"/>
              </a:defRPr>
            </a:defPPr>
          </a:lstStyle>
          <a:p xmlns:a="http://schemas.openxmlformats.org/drawingml/2006/main">
            <a:pPr>
              <a:defRPr sz="1125" b="0">
                <a:solidFill>
                  <a:srgbClr val="64606A"/>
                </a:solidFill>
                <a:latin typeface="Arial"/>
                <a:ea typeface="Arial"/>
                <a:cs typeface="Arial"/>
              </a:defRPr>
            </a:pPr>
            <a:r>
              <a:rPr sz="1125" b="0">
                <a:solidFill>
                  <a:srgbClr val="64606A"/>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B3F3ACF7-8E54-4120-962E-D8D5D58C24A0}"/>
              </a:ext>
            </a:extLst>
          </p:cNvPr>
          <p:cNvSpPr>
            <a:spLocks xmlns:a="http://schemas.openxmlformats.org/drawingml/2006/main" noGrp="1"/>
          </p:cNvSpPr>
          <p:nvPr/>
        </p:nvSpPr>
        <p:spPr>
          <a:xfrm xmlns:a="http://schemas.openxmlformats.org/drawingml/2006/main">
            <a:off x="609600" y="633412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4606A"/>
                </a:solidFill>
                <a:latin typeface="Arial"/>
                <a:ea typeface="Arial"/>
                <a:cs typeface="Arial"/>
              </a:defRPr>
            </a:defPPr>
          </a:lstStyle>
          <a:p xmlns:a="http://schemas.openxmlformats.org/drawingml/2006/main">
            <a:pPr>
              <a:defRPr sz="1125" b="0">
                <a:solidFill>
                  <a:srgbClr val="64606A"/>
                </a:solidFill>
                <a:latin typeface="Arial"/>
                <a:ea typeface="Arial"/>
                <a:cs typeface="Arial"/>
              </a:defRPr>
            </a:pPr>
            <a:r>
              <a:rPr sz="1125" b="0">
                <a:solidFill>
                  <a:srgbClr val="64606A"/>
                </a:solidFill>
                <a:latin typeface="Arial"/>
                <a:ea typeface="Arial"/>
                <a:cs typeface="Arial"/>
              </a:rPr>
              <a:t>Later QEMU r-command recording. Report §4.2.6 describes the bounded task-recovery demonstration.</a:t>
            </a:r>
          </a:p>
        </p:txBody>
      </p:sp>
      <p:sp>
        <p:nvSpPr>
          <p:cNvPr id="4" name="">
            <a:extLst xmlns:a="http://schemas.openxmlformats.org/drawingml/2006/main">
              <a:ext uri="{FF2B5EF4-FFF2-40B4-BE49-F238E27FC236}">
                <a16:creationId xmlns:a16="http://schemas.microsoft.com/office/drawing/2014/main" id="{73B59316-DC98-491D-8E95-E80EBB76384D}"/>
              </a:ext>
            </a:extLst>
          </p:cNvPr>
          <p:cNvSpPr>
            <a:spLocks xmlns:a="http://schemas.openxmlformats.org/drawingml/2006/main" noGrp="1"/>
          </p:cNvSpPr>
          <p:nvPr/>
        </p:nvSpPr>
        <p:spPr>
          <a:xfrm xmlns:a="http://schemas.openxmlformats.org/drawingml/2006/main">
            <a:off x="609600" y="1343025"/>
            <a:ext cx="51149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56334C"/>
                </a:solidFill>
                <a:latin typeface="Arial"/>
                <a:ea typeface="Arial"/>
                <a:cs typeface="Arial"/>
              </a:defRPr>
            </a:defPPr>
          </a:lstStyle>
          <a:p xmlns:a="http://schemas.openxmlformats.org/drawingml/2006/main">
            <a:pPr>
              <a:defRPr sz="2625" b="1">
                <a:solidFill>
                  <a:srgbClr val="56334C"/>
                </a:solidFill>
                <a:latin typeface="Arial"/>
                <a:ea typeface="Arial"/>
                <a:cs typeface="Arial"/>
              </a:defRPr>
            </a:pPr>
            <a:r>
              <a:rPr sz="2625" b="1">
                <a:solidFill>
                  <a:srgbClr val="56334C"/>
                </a:solidFill>
                <a:latin typeface="Arial"/>
                <a:ea typeface="Arial"/>
                <a:cs typeface="Arial"/>
              </a:rPr>
              <a:t>Frozen counter: 59</a:t>
            </a:r>
          </a:p>
        </p:txBody>
      </p:sp>
      <p:sp>
        <p:nvSpPr>
          <p:cNvPr id="5" name="">
            <a:extLst xmlns:a="http://schemas.openxmlformats.org/drawingml/2006/main">
              <a:ext uri="{FF2B5EF4-FFF2-40B4-BE49-F238E27FC236}">
                <a16:creationId xmlns:a16="http://schemas.microsoft.com/office/drawing/2014/main" id="{C13949F0-9311-41F1-A758-F16B0A6829CA}"/>
              </a:ext>
            </a:extLst>
          </p:cNvPr>
          <p:cNvSpPr>
            <a:spLocks xmlns:a="http://schemas.openxmlformats.org/drawingml/2006/main" noGrp="1"/>
          </p:cNvSpPr>
          <p:nvPr/>
        </p:nvSpPr>
        <p:spPr>
          <a:xfrm xmlns:a="http://schemas.openxmlformats.org/drawingml/2006/main">
            <a:off x="6410325" y="1343025"/>
            <a:ext cx="51530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C85230"/>
                </a:solidFill>
                <a:latin typeface="Arial"/>
                <a:ea typeface="Arial"/>
                <a:cs typeface="Arial"/>
              </a:defRPr>
            </a:defPPr>
          </a:lstStyle>
          <a:p xmlns:a="http://schemas.openxmlformats.org/drawingml/2006/main">
            <a:pPr>
              <a:defRPr sz="2625" b="1">
                <a:solidFill>
                  <a:srgbClr val="C85230"/>
                </a:solidFill>
                <a:latin typeface="Arial"/>
                <a:ea typeface="Arial"/>
                <a:cs typeface="Arial"/>
              </a:defRPr>
            </a:pPr>
            <a:r>
              <a:rPr sz="2625" b="1">
                <a:solidFill>
                  <a:srgbClr val="C85230"/>
                </a:solidFill>
                <a:latin typeface="Arial"/>
                <a:ea typeface="Arial"/>
                <a:cs typeface="Arial"/>
              </a:rPr>
              <a:t>After recovery: 88 (+29)</a:t>
            </a:r>
          </a:p>
        </p:txBody>
      </p:sp>
      <p:pic>
        <p:nvPicPr>
          <p:cNvPr id="6" name="">
            <a:extLst xmlns:a="http://schemas.openxmlformats.org/drawingml/2006/main">
              <a:ext uri="{FF2B5EF4-FFF2-40B4-BE49-F238E27FC236}">
                <a16:creationId xmlns:a16="http://schemas.microsoft.com/office/drawing/2014/main" id="{41D16FF9-9BFA-4620-B1D9-1E6BCDA95D47}"/>
              </a:ext>
            </a:extLst>
          </p:cNvPr>
          <p:cNvPicPr>
            <a:picLocks xmlns:a="http://schemas.openxmlformats.org/drawingml/2006/main" noChangeAspect="1"/>
          </p:cNvPicPr>
          <p:nvPr/>
        </p:nvPicPr>
        <p:blipFill>
          <a:blip xmlns:r="http://schemas.openxmlformats.org/officeDocument/2006/relationships" xmlns:a="http://schemas.openxmlformats.org/drawingml/2006/main" r:embed="R298551803f554901"/>
          <a:srcRect xmlns:a="http://schemas.openxmlformats.org/drawingml/2006/main" l="0" t="45833" r="20000" b="7000"/>
          <a:stretch xmlns:a="http://schemas.openxmlformats.org/drawingml/2006/main"/>
        </p:blipFill>
        <p:spPr>
          <a:xfrm xmlns:a="http://schemas.openxmlformats.org/drawingml/2006/main">
            <a:off x="609600" y="2105025"/>
            <a:ext cx="10972800" cy="3886200"/>
          </a:xfrm>
          <a:prstGeom xmlns:a="http://schemas.openxmlformats.org/drawingml/2006/main" prst="rect">
            <a:avLst/>
          </a:prstGeom>
        </p:spPr>
      </p:pic>
    </p:spTree>
    <p:extLst>
      <p:ext uri="{BB962C8B-B14F-4D97-AF65-F5344CB8AC3E}">
        <p14:creationId xmlns:p14="http://schemas.microsoft.com/office/powerpoint/2010/main" val="210792358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2DE624C-514A-4A28-A89F-C0AE71FFF967}"/>
              </a:ext>
            </a:extLst>
          </p:cNvPr>
          <p:cNvSpPr>
            <a:spLocks xmlns:a="http://schemas.openxmlformats.org/drawingml/2006/main" noGrp="1"/>
          </p:cNvSpPr>
          <p:nvPr/>
        </p:nvSpPr>
        <p:spPr>
          <a:xfrm xmlns:a="http://schemas.openxmlformats.org/drawingml/2006/main">
            <a:off x="609600" y="400050"/>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41C27"/>
                </a:solidFill>
                <a:latin typeface="Arial"/>
                <a:ea typeface="Arial"/>
                <a:cs typeface="Arial"/>
              </a:defRPr>
            </a:defPPr>
          </a:lstStyle>
          <a:p xmlns:a="http://schemas.openxmlformats.org/drawingml/2006/main">
            <a:pPr>
              <a:defRPr sz="3300" b="1">
                <a:solidFill>
                  <a:srgbClr val="241C27"/>
                </a:solidFill>
                <a:latin typeface="Arial"/>
                <a:ea typeface="Arial"/>
                <a:cs typeface="Arial"/>
              </a:defRPr>
            </a:pPr>
            <a:r>
              <a:rPr sz="3300" b="1">
                <a:solidFill>
                  <a:srgbClr val="241C27"/>
                </a:solidFill>
                <a:latin typeface="Arial"/>
                <a:ea typeface="Arial"/>
                <a:cs typeface="Arial"/>
              </a:rPr>
              <a:t>Selected references</a:t>
            </a:r>
          </a:p>
        </p:txBody>
      </p:sp>
      <p:sp>
        <p:nvSpPr>
          <p:cNvPr id="2" name="">
            <a:extLst xmlns:a="http://schemas.openxmlformats.org/drawingml/2006/main">
              <a:ext uri="{FF2B5EF4-FFF2-40B4-BE49-F238E27FC236}">
                <a16:creationId xmlns:a16="http://schemas.microsoft.com/office/drawing/2014/main" id="{6C0C86FE-7AF7-443A-8A25-8344B822C073}"/>
              </a:ext>
            </a:extLst>
          </p:cNvPr>
          <p:cNvSpPr>
            <a:spLocks xmlns:a="http://schemas.openxmlformats.org/drawingml/2006/main" noGrp="1"/>
          </p:cNvSpPr>
          <p:nvPr/>
        </p:nvSpPr>
        <p:spPr>
          <a:xfrm xmlns:a="http://schemas.openxmlformats.org/drawingml/2006/main">
            <a:off x="11239500" y="641032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4606A"/>
                </a:solidFill>
                <a:latin typeface="Arial"/>
                <a:ea typeface="Arial"/>
                <a:cs typeface="Arial"/>
              </a:defRPr>
            </a:defPPr>
          </a:lstStyle>
          <a:p xmlns:a="http://schemas.openxmlformats.org/drawingml/2006/main">
            <a:pPr>
              <a:defRPr sz="1125" b="0">
                <a:solidFill>
                  <a:srgbClr val="64606A"/>
                </a:solidFill>
                <a:latin typeface="Arial"/>
                <a:ea typeface="Arial"/>
                <a:cs typeface="Arial"/>
              </a:defRPr>
            </a:pPr>
            <a:r>
              <a:rPr sz="1125" b="0">
                <a:solidFill>
                  <a:srgbClr val="64606A"/>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E1F36D54-304E-4EFD-9AAC-F2B58CC9DB79}"/>
              </a:ext>
            </a:extLst>
          </p:cNvPr>
          <p:cNvSpPr>
            <a:spLocks xmlns:a="http://schemas.openxmlformats.org/drawingml/2006/main" noGrp="1"/>
          </p:cNvSpPr>
          <p:nvPr/>
        </p:nvSpPr>
        <p:spPr>
          <a:xfrm xmlns:a="http://schemas.openxmlformats.org/drawingml/2006/main">
            <a:off x="609600" y="6334125"/>
            <a:ext cx="10287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4606A"/>
                </a:solidFill>
                <a:latin typeface="Arial"/>
                <a:ea typeface="Arial"/>
                <a:cs typeface="Arial"/>
              </a:defRPr>
            </a:defPPr>
          </a:lstStyle>
          <a:p xmlns:a="http://schemas.openxmlformats.org/drawingml/2006/main">
            <a:pPr>
              <a:defRPr sz="1125" b="0">
                <a:solidFill>
                  <a:srgbClr val="64606A"/>
                </a:solidFill>
                <a:latin typeface="Arial"/>
                <a:ea typeface="Arial"/>
                <a:cs typeface="Arial"/>
              </a:defRPr>
            </a:pPr>
            <a:r>
              <a:rPr sz="1125" b="0">
                <a:solidFill>
                  <a:srgbClr val="64606A"/>
                </a:solidFill>
                <a:latin typeface="Arial"/>
                <a:ea typeface="Arial"/>
                <a:cs typeface="Arial"/>
              </a:rPr>
              <a:t>Full Harvard reference list: Final_Report.docx, References. Figure/data sources appear in slide notes.</a:t>
            </a:r>
          </a:p>
        </p:txBody>
      </p:sp>
      <p:sp>
        <p:nvSpPr>
          <p:cNvPr id="4" name="">
            <a:extLst xmlns:a="http://schemas.openxmlformats.org/drawingml/2006/main">
              <a:ext uri="{FF2B5EF4-FFF2-40B4-BE49-F238E27FC236}">
                <a16:creationId xmlns:a16="http://schemas.microsoft.com/office/drawing/2014/main" id="{A4F1EA3D-0CFD-495A-8E7E-DEF620597B1C}"/>
              </a:ext>
            </a:extLst>
          </p:cNvPr>
          <p:cNvSpPr>
            <a:spLocks xmlns:a="http://schemas.openxmlformats.org/drawingml/2006/main" noGrp="1"/>
          </p:cNvSpPr>
          <p:nvPr/>
        </p:nvSpPr>
        <p:spPr>
          <a:xfrm xmlns:a="http://schemas.openxmlformats.org/drawingml/2006/main">
            <a:off x="609600" y="1495425"/>
            <a:ext cx="3095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56334C"/>
                </a:solidFill>
                <a:latin typeface="Arial"/>
                <a:ea typeface="Arial"/>
                <a:cs typeface="Arial"/>
              </a:defRPr>
            </a:defPPr>
          </a:lstStyle>
          <a:p xmlns:a="http://schemas.openxmlformats.org/drawingml/2006/main">
            <a:pPr>
              <a:defRPr sz="1800" b="1">
                <a:solidFill>
                  <a:srgbClr val="56334C"/>
                </a:solidFill>
                <a:latin typeface="Arial"/>
                <a:ea typeface="Arial"/>
                <a:cs typeface="Arial"/>
              </a:defRPr>
            </a:pPr>
            <a:r>
              <a:rPr sz="1800" b="1">
                <a:solidFill>
                  <a:srgbClr val="56334C"/>
                </a:solidFill>
                <a:latin typeface="Arial"/>
                <a:ea typeface="Arial"/>
                <a:cs typeface="Arial"/>
              </a:rPr>
              <a:t>Milojičić et al. (1993)</a:t>
            </a:r>
          </a:p>
        </p:txBody>
      </p:sp>
      <p:sp>
        <p:nvSpPr>
          <p:cNvPr id="5" name="">
            <a:extLst xmlns:a="http://schemas.openxmlformats.org/drawingml/2006/main">
              <a:ext uri="{FF2B5EF4-FFF2-40B4-BE49-F238E27FC236}">
                <a16:creationId xmlns:a16="http://schemas.microsoft.com/office/drawing/2014/main" id="{C3C536FD-C7AA-4C6B-B2C5-4F647F4C2B90}"/>
              </a:ext>
            </a:extLst>
          </p:cNvPr>
          <p:cNvSpPr>
            <a:spLocks xmlns:a="http://schemas.openxmlformats.org/drawingml/2006/main" noGrp="1"/>
          </p:cNvSpPr>
          <p:nvPr/>
        </p:nvSpPr>
        <p:spPr>
          <a:xfrm xmlns:a="http://schemas.openxmlformats.org/drawingml/2006/main">
            <a:off x="3933825" y="1495425"/>
            <a:ext cx="74961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241C27"/>
                </a:solidFill>
                <a:latin typeface="Arial"/>
                <a:ea typeface="Arial"/>
                <a:cs typeface="Arial"/>
              </a:defRPr>
            </a:defPPr>
          </a:lstStyle>
          <a:p xmlns:a="http://schemas.openxmlformats.org/drawingml/2006/main">
            <a:pPr>
              <a:defRPr sz="1725" b="0">
                <a:solidFill>
                  <a:srgbClr val="241C27"/>
                </a:solidFill>
                <a:latin typeface="Arial"/>
                <a:ea typeface="Arial"/>
                <a:cs typeface="Arial"/>
              </a:defRPr>
            </a:pPr>
            <a:r>
              <a:rPr sz="1725" b="0">
                <a:solidFill>
                  <a:srgbClr val="241C27"/>
                </a:solidFill>
                <a:latin typeface="Arial"/>
                <a:ea typeface="Arial"/>
                <a:cs typeface="Arial"/>
              </a:rPr>
              <a:t>Task Migration on Top of the Mach Microkernel. USENIX Mach Symposium, pp. 273–290.</a:t>
            </a:r>
          </a:p>
        </p:txBody>
      </p:sp>
      <p:sp>
        <p:nvSpPr>
          <p:cNvPr id="6" name="">
            <a:extLst xmlns:a="http://schemas.openxmlformats.org/drawingml/2006/main">
              <a:ext uri="{FF2B5EF4-FFF2-40B4-BE49-F238E27FC236}">
                <a16:creationId xmlns:a16="http://schemas.microsoft.com/office/drawing/2014/main" id="{7FA23684-16CB-44B7-8F0D-6BAF5D0C9EE2}"/>
              </a:ext>
            </a:extLst>
          </p:cNvPr>
          <p:cNvSpPr>
            <a:spLocks xmlns:a="http://schemas.openxmlformats.org/drawingml/2006/main" noGrp="1"/>
          </p:cNvSpPr>
          <p:nvPr/>
        </p:nvSpPr>
        <p:spPr>
          <a:xfrm xmlns:a="http://schemas.openxmlformats.org/drawingml/2006/main">
            <a:off x="609600" y="2266950"/>
            <a:ext cx="3095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56334C"/>
                </a:solidFill>
                <a:latin typeface="Arial"/>
                <a:ea typeface="Arial"/>
                <a:cs typeface="Arial"/>
              </a:defRPr>
            </a:defPPr>
          </a:lstStyle>
          <a:p xmlns:a="http://schemas.openxmlformats.org/drawingml/2006/main">
            <a:pPr>
              <a:defRPr sz="1800" b="1">
                <a:solidFill>
                  <a:srgbClr val="56334C"/>
                </a:solidFill>
                <a:latin typeface="Arial"/>
                <a:ea typeface="Arial"/>
                <a:cs typeface="Arial"/>
              </a:defRPr>
            </a:pPr>
            <a:r>
              <a:rPr sz="1800" b="1">
                <a:solidFill>
                  <a:srgbClr val="56334C"/>
                </a:solidFill>
                <a:latin typeface="Arial"/>
                <a:ea typeface="Arial"/>
                <a:cs typeface="Arial"/>
              </a:rPr>
              <a:t>Milojičić et al. (1999)</a:t>
            </a:r>
          </a:p>
        </p:txBody>
      </p:sp>
      <p:sp>
        <p:nvSpPr>
          <p:cNvPr id="7" name="">
            <a:extLst xmlns:a="http://schemas.openxmlformats.org/drawingml/2006/main">
              <a:ext uri="{FF2B5EF4-FFF2-40B4-BE49-F238E27FC236}">
                <a16:creationId xmlns:a16="http://schemas.microsoft.com/office/drawing/2014/main" id="{9CEF93C5-E4F2-46A0-8B2C-3B7DEB2DA1C0}"/>
              </a:ext>
            </a:extLst>
          </p:cNvPr>
          <p:cNvSpPr>
            <a:spLocks xmlns:a="http://schemas.openxmlformats.org/drawingml/2006/main" noGrp="1"/>
          </p:cNvSpPr>
          <p:nvPr/>
        </p:nvSpPr>
        <p:spPr>
          <a:xfrm xmlns:a="http://schemas.openxmlformats.org/drawingml/2006/main">
            <a:off x="3933825" y="2266950"/>
            <a:ext cx="74961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241C27"/>
                </a:solidFill>
                <a:latin typeface="Arial"/>
                <a:ea typeface="Arial"/>
                <a:cs typeface="Arial"/>
              </a:defRPr>
            </a:defPPr>
          </a:lstStyle>
          <a:p xmlns:a="http://schemas.openxmlformats.org/drawingml/2006/main">
            <a:pPr>
              <a:defRPr sz="1725" b="0">
                <a:solidFill>
                  <a:srgbClr val="241C27"/>
                </a:solidFill>
                <a:latin typeface="Arial"/>
                <a:ea typeface="Arial"/>
                <a:cs typeface="Arial"/>
              </a:defRPr>
            </a:pPr>
            <a:r>
              <a:rPr sz="1725" b="0">
                <a:solidFill>
                  <a:srgbClr val="241C27"/>
                </a:solidFill>
                <a:latin typeface="Arial"/>
                <a:ea typeface="Arial"/>
                <a:cs typeface="Arial"/>
              </a:rPr>
              <a:t>Process Migration. HP Laboratories Technical Report HPL-1999-21.</a:t>
            </a:r>
          </a:p>
        </p:txBody>
      </p:sp>
      <p:sp>
        <p:nvSpPr>
          <p:cNvPr id="8" name="">
            <a:extLst xmlns:a="http://schemas.openxmlformats.org/drawingml/2006/main">
              <a:ext uri="{FF2B5EF4-FFF2-40B4-BE49-F238E27FC236}">
                <a16:creationId xmlns:a16="http://schemas.microsoft.com/office/drawing/2014/main" id="{803C793A-4D7A-43A5-8B26-6B2297B19EF7}"/>
              </a:ext>
            </a:extLst>
          </p:cNvPr>
          <p:cNvSpPr>
            <a:spLocks xmlns:a="http://schemas.openxmlformats.org/drawingml/2006/main" noGrp="1"/>
          </p:cNvSpPr>
          <p:nvPr/>
        </p:nvSpPr>
        <p:spPr>
          <a:xfrm xmlns:a="http://schemas.openxmlformats.org/drawingml/2006/main">
            <a:off x="609600" y="3038475"/>
            <a:ext cx="3095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56334C"/>
                </a:solidFill>
                <a:latin typeface="Arial"/>
                <a:ea typeface="Arial"/>
                <a:cs typeface="Arial"/>
              </a:defRPr>
            </a:defPPr>
          </a:lstStyle>
          <a:p xmlns:a="http://schemas.openxmlformats.org/drawingml/2006/main">
            <a:pPr>
              <a:defRPr sz="1800" b="1">
                <a:solidFill>
                  <a:srgbClr val="56334C"/>
                </a:solidFill>
                <a:latin typeface="Arial"/>
                <a:ea typeface="Arial"/>
                <a:cs typeface="Arial"/>
              </a:defRPr>
            </a:pPr>
            <a:r>
              <a:rPr sz="1800" b="1">
                <a:solidFill>
                  <a:srgbClr val="56334C"/>
                </a:solidFill>
                <a:latin typeface="Arial"/>
                <a:ea typeface="Arial"/>
                <a:cs typeface="Arial"/>
              </a:rPr>
              <a:t>Gu et al. (2020)</a:t>
            </a:r>
          </a:p>
        </p:txBody>
      </p:sp>
      <p:sp>
        <p:nvSpPr>
          <p:cNvPr id="9" name="">
            <a:extLst xmlns:a="http://schemas.openxmlformats.org/drawingml/2006/main">
              <a:ext uri="{FF2B5EF4-FFF2-40B4-BE49-F238E27FC236}">
                <a16:creationId xmlns:a16="http://schemas.microsoft.com/office/drawing/2014/main" id="{D7CA53F8-9A87-4D35-8808-B3F5C446866E}"/>
              </a:ext>
            </a:extLst>
          </p:cNvPr>
          <p:cNvSpPr>
            <a:spLocks xmlns:a="http://schemas.openxmlformats.org/drawingml/2006/main" noGrp="1"/>
          </p:cNvSpPr>
          <p:nvPr/>
        </p:nvSpPr>
        <p:spPr>
          <a:xfrm xmlns:a="http://schemas.openxmlformats.org/drawingml/2006/main">
            <a:off x="3933825" y="3038475"/>
            <a:ext cx="74961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241C27"/>
                </a:solidFill>
                <a:latin typeface="Arial"/>
                <a:ea typeface="Arial"/>
                <a:cs typeface="Arial"/>
              </a:defRPr>
            </a:defPPr>
          </a:lstStyle>
          <a:p xmlns:a="http://schemas.openxmlformats.org/drawingml/2006/main">
            <a:pPr>
              <a:defRPr sz="1725" b="0">
                <a:solidFill>
                  <a:srgbClr val="241C27"/>
                </a:solidFill>
                <a:latin typeface="Arial"/>
                <a:ea typeface="Arial"/>
                <a:cs typeface="Arial"/>
              </a:defRPr>
            </a:pPr>
            <a:r>
              <a:rPr sz="1725" b="0">
                <a:solidFill>
                  <a:srgbClr val="241C27"/>
                </a:solidFill>
                <a:latin typeface="Arial"/>
                <a:ea typeface="Arial"/>
                <a:cs typeface="Arial"/>
              </a:rPr>
              <a:t>Harmonizing Performance and Isolation in Microkernels with Efficient Intra-kernel Isolation and Communication. USENIX ATC, pp. 401–417.</a:t>
            </a:r>
          </a:p>
        </p:txBody>
      </p:sp>
      <p:sp>
        <p:nvSpPr>
          <p:cNvPr id="10" name="">
            <a:extLst xmlns:a="http://schemas.openxmlformats.org/drawingml/2006/main">
              <a:ext uri="{FF2B5EF4-FFF2-40B4-BE49-F238E27FC236}">
                <a16:creationId xmlns:a16="http://schemas.microsoft.com/office/drawing/2014/main" id="{9DE06D48-1CB2-4F87-A3CE-73ABE815C9E6}"/>
              </a:ext>
            </a:extLst>
          </p:cNvPr>
          <p:cNvSpPr>
            <a:spLocks xmlns:a="http://schemas.openxmlformats.org/drawingml/2006/main" noGrp="1"/>
          </p:cNvSpPr>
          <p:nvPr/>
        </p:nvSpPr>
        <p:spPr>
          <a:xfrm xmlns:a="http://schemas.openxmlformats.org/drawingml/2006/main">
            <a:off x="609600" y="3810000"/>
            <a:ext cx="3095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56334C"/>
                </a:solidFill>
                <a:latin typeface="Arial"/>
                <a:ea typeface="Arial"/>
                <a:cs typeface="Arial"/>
              </a:defRPr>
            </a:defPPr>
          </a:lstStyle>
          <a:p xmlns:a="http://schemas.openxmlformats.org/drawingml/2006/main">
            <a:pPr>
              <a:defRPr sz="1800" b="1">
                <a:solidFill>
                  <a:srgbClr val="56334C"/>
                </a:solidFill>
                <a:latin typeface="Arial"/>
                <a:ea typeface="Arial"/>
                <a:cs typeface="Arial"/>
              </a:defRPr>
            </a:pPr>
            <a:r>
              <a:rPr sz="1800" b="1">
                <a:solidFill>
                  <a:srgbClr val="56334C"/>
                </a:solidFill>
                <a:latin typeface="Arial"/>
                <a:ea typeface="Arial"/>
                <a:cs typeface="Arial"/>
              </a:rPr>
              <a:t>Chen et al. (2024)</a:t>
            </a:r>
          </a:p>
        </p:txBody>
      </p:sp>
      <p:sp>
        <p:nvSpPr>
          <p:cNvPr id="11" name="">
            <a:extLst xmlns:a="http://schemas.openxmlformats.org/drawingml/2006/main">
              <a:ext uri="{FF2B5EF4-FFF2-40B4-BE49-F238E27FC236}">
                <a16:creationId xmlns:a16="http://schemas.microsoft.com/office/drawing/2014/main" id="{D4BEF912-261D-4036-BFA6-6FCB7EAA4ED4}"/>
              </a:ext>
            </a:extLst>
          </p:cNvPr>
          <p:cNvSpPr>
            <a:spLocks xmlns:a="http://schemas.openxmlformats.org/drawingml/2006/main" noGrp="1"/>
          </p:cNvSpPr>
          <p:nvPr/>
        </p:nvSpPr>
        <p:spPr>
          <a:xfrm xmlns:a="http://schemas.openxmlformats.org/drawingml/2006/main">
            <a:off x="3933825" y="3810000"/>
            <a:ext cx="74961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241C27"/>
                </a:solidFill>
                <a:latin typeface="Arial"/>
                <a:ea typeface="Arial"/>
                <a:cs typeface="Arial"/>
              </a:defRPr>
            </a:defPPr>
          </a:lstStyle>
          <a:p xmlns:a="http://schemas.openxmlformats.org/drawingml/2006/main">
            <a:pPr>
              <a:defRPr sz="1725" b="0">
                <a:solidFill>
                  <a:srgbClr val="241C27"/>
                </a:solidFill>
                <a:latin typeface="Arial"/>
                <a:ea typeface="Arial"/>
                <a:cs typeface="Arial"/>
              </a:defRPr>
            </a:pPr>
            <a:r>
              <a:rPr sz="1725" b="0">
                <a:solidFill>
                  <a:srgbClr val="241C27"/>
                </a:solidFill>
                <a:latin typeface="Arial"/>
                <a:ea typeface="Arial"/>
                <a:cs typeface="Arial"/>
              </a:rPr>
              <a:t>Microkernel Goes General: Performance and Compatibility in the HongMeng Production Microkernel. USENIX OSDI, pp. 465–485.</a:t>
            </a:r>
          </a:p>
        </p:txBody>
      </p:sp>
      <p:sp>
        <p:nvSpPr>
          <p:cNvPr id="12" name="">
            <a:extLst xmlns:a="http://schemas.openxmlformats.org/drawingml/2006/main">
              <a:ext uri="{FF2B5EF4-FFF2-40B4-BE49-F238E27FC236}">
                <a16:creationId xmlns:a16="http://schemas.microsoft.com/office/drawing/2014/main" id="{18F1EA48-E14B-4584-853A-BE56332A08C8}"/>
              </a:ext>
            </a:extLst>
          </p:cNvPr>
          <p:cNvSpPr>
            <a:spLocks xmlns:a="http://schemas.openxmlformats.org/drawingml/2006/main" noGrp="1"/>
          </p:cNvSpPr>
          <p:nvPr/>
        </p:nvSpPr>
        <p:spPr>
          <a:xfrm xmlns:a="http://schemas.openxmlformats.org/drawingml/2006/main">
            <a:off x="609600" y="4581525"/>
            <a:ext cx="3095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56334C"/>
                </a:solidFill>
                <a:latin typeface="Arial"/>
                <a:ea typeface="Arial"/>
                <a:cs typeface="Arial"/>
              </a:defRPr>
            </a:defPPr>
          </a:lstStyle>
          <a:p xmlns:a="http://schemas.openxmlformats.org/drawingml/2006/main">
            <a:pPr>
              <a:defRPr sz="1800" b="1">
                <a:solidFill>
                  <a:srgbClr val="56334C"/>
                </a:solidFill>
                <a:latin typeface="Arial"/>
                <a:ea typeface="Arial"/>
                <a:cs typeface="Arial"/>
              </a:defRPr>
            </a:pPr>
            <a:r>
              <a:rPr sz="1800" b="1">
                <a:solidFill>
                  <a:srgbClr val="56334C"/>
                </a:solidFill>
                <a:latin typeface="Arial"/>
                <a:ea typeface="Arial"/>
                <a:cs typeface="Arial"/>
              </a:rPr>
              <a:t>Clark et al. (2005)</a:t>
            </a:r>
          </a:p>
        </p:txBody>
      </p:sp>
      <p:sp>
        <p:nvSpPr>
          <p:cNvPr id="13" name="">
            <a:extLst xmlns:a="http://schemas.openxmlformats.org/drawingml/2006/main">
              <a:ext uri="{FF2B5EF4-FFF2-40B4-BE49-F238E27FC236}">
                <a16:creationId xmlns:a16="http://schemas.microsoft.com/office/drawing/2014/main" id="{724DDCE0-092D-4BB6-96CD-230F5E5CBD20}"/>
              </a:ext>
            </a:extLst>
          </p:cNvPr>
          <p:cNvSpPr>
            <a:spLocks xmlns:a="http://schemas.openxmlformats.org/drawingml/2006/main" noGrp="1"/>
          </p:cNvSpPr>
          <p:nvPr/>
        </p:nvSpPr>
        <p:spPr>
          <a:xfrm xmlns:a="http://schemas.openxmlformats.org/drawingml/2006/main">
            <a:off x="3933825" y="4581525"/>
            <a:ext cx="74961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241C27"/>
                </a:solidFill>
                <a:latin typeface="Arial"/>
                <a:ea typeface="Arial"/>
                <a:cs typeface="Arial"/>
              </a:defRPr>
            </a:defPPr>
          </a:lstStyle>
          <a:p xmlns:a="http://schemas.openxmlformats.org/drawingml/2006/main">
            <a:pPr>
              <a:defRPr sz="1725" b="0">
                <a:solidFill>
                  <a:srgbClr val="241C27"/>
                </a:solidFill>
                <a:latin typeface="Arial"/>
                <a:ea typeface="Arial"/>
                <a:cs typeface="Arial"/>
              </a:defRPr>
            </a:pPr>
            <a:r>
              <a:rPr sz="1725" b="0">
                <a:solidFill>
                  <a:srgbClr val="241C27"/>
                </a:solidFill>
                <a:latin typeface="Arial"/>
                <a:ea typeface="Arial"/>
                <a:cs typeface="Arial"/>
              </a:rPr>
              <a:t>Live Migration of Virtual Machines. USENIX NSDI, pp. 273–286.</a:t>
            </a:r>
          </a:p>
        </p:txBody>
      </p:sp>
      <p:sp>
        <p:nvSpPr>
          <p:cNvPr id="14" name="">
            <a:extLst xmlns:a="http://schemas.openxmlformats.org/drawingml/2006/main">
              <a:ext uri="{FF2B5EF4-FFF2-40B4-BE49-F238E27FC236}">
                <a16:creationId xmlns:a16="http://schemas.microsoft.com/office/drawing/2014/main" id="{57407400-42BE-4957-A295-11CEF3CC9204}"/>
              </a:ext>
            </a:extLst>
          </p:cNvPr>
          <p:cNvSpPr>
            <a:spLocks xmlns:a="http://schemas.openxmlformats.org/drawingml/2006/main" noGrp="1"/>
          </p:cNvSpPr>
          <p:nvPr/>
        </p:nvSpPr>
        <p:spPr>
          <a:xfrm xmlns:a="http://schemas.openxmlformats.org/drawingml/2006/main">
            <a:off x="609600" y="5353050"/>
            <a:ext cx="3095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56334C"/>
                </a:solidFill>
                <a:latin typeface="Arial"/>
                <a:ea typeface="Arial"/>
                <a:cs typeface="Arial"/>
              </a:defRPr>
            </a:defPPr>
          </a:lstStyle>
          <a:p xmlns:a="http://schemas.openxmlformats.org/drawingml/2006/main">
            <a:pPr>
              <a:defRPr sz="1800" b="1">
                <a:solidFill>
                  <a:srgbClr val="56334C"/>
                </a:solidFill>
                <a:latin typeface="Arial"/>
                <a:ea typeface="Arial"/>
                <a:cs typeface="Arial"/>
              </a:defRPr>
            </a:pPr>
            <a:r>
              <a:rPr sz="1800" b="1">
                <a:solidFill>
                  <a:srgbClr val="56334C"/>
                </a:solidFill>
                <a:latin typeface="Arial"/>
                <a:ea typeface="Arial"/>
                <a:cs typeface="Arial"/>
              </a:rPr>
              <a:t>Waterman and Asanović (2019)</a:t>
            </a:r>
          </a:p>
        </p:txBody>
      </p:sp>
      <p:sp>
        <p:nvSpPr>
          <p:cNvPr id="15" name="">
            <a:extLst xmlns:a="http://schemas.openxmlformats.org/drawingml/2006/main">
              <a:ext uri="{FF2B5EF4-FFF2-40B4-BE49-F238E27FC236}">
                <a16:creationId xmlns:a16="http://schemas.microsoft.com/office/drawing/2014/main" id="{BA8EA594-DF6B-4066-BCD5-E0203487F1CB}"/>
              </a:ext>
            </a:extLst>
          </p:cNvPr>
          <p:cNvSpPr>
            <a:spLocks xmlns:a="http://schemas.openxmlformats.org/drawingml/2006/main" noGrp="1"/>
          </p:cNvSpPr>
          <p:nvPr/>
        </p:nvSpPr>
        <p:spPr>
          <a:xfrm xmlns:a="http://schemas.openxmlformats.org/drawingml/2006/main">
            <a:off x="3933825" y="5353050"/>
            <a:ext cx="74961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241C27"/>
                </a:solidFill>
                <a:latin typeface="Arial"/>
                <a:ea typeface="Arial"/>
                <a:cs typeface="Arial"/>
              </a:defRPr>
            </a:defPPr>
          </a:lstStyle>
          <a:p xmlns:a="http://schemas.openxmlformats.org/drawingml/2006/main">
            <a:pPr>
              <a:defRPr sz="1725" b="0">
                <a:solidFill>
                  <a:srgbClr val="241C27"/>
                </a:solidFill>
                <a:latin typeface="Arial"/>
                <a:ea typeface="Arial"/>
                <a:cs typeface="Arial"/>
              </a:defRPr>
            </a:pPr>
            <a:r>
              <a:rPr sz="1725" b="0">
                <a:solidFill>
                  <a:srgbClr val="241C27"/>
                </a:solidFill>
                <a:latin typeface="Arial"/>
                <a:ea typeface="Arial"/>
                <a:cs typeface="Arial"/>
              </a:rPr>
              <a:t>The RISC-V Instruction Set Manual, Volume I: Unprivileged ISA. Version 20191213.</a:t>
            </a:r>
          </a:p>
        </p:txBody>
      </p:sp>
    </p:spTree>
    <p:extLst>
      <p:ext uri="{BB962C8B-B14F-4D97-AF65-F5344CB8AC3E}">
        <p14:creationId xmlns:p14="http://schemas.microsoft.com/office/powerpoint/2010/main" val="6057744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2026-10-14T05:26:24.0080000Z</dcterms:created>
  <dcterms:modified xsi:type="dcterms:W3CDTF">2026-10-14T05:26:24.0080000Z</dcterms:modified>
</coreProperties>
</file>